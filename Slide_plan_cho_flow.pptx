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đây là kế hoạch thực thi 6 tuần cho flow sinh RTL từ spec ngôn ngữ tự nhiên. Không phải slide xin duyệt — là roadmap để bắt tay vào làm.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Định nghĩa 'xong': ba IP chạy end-to-end. RISC-V làm trước vì khó nhất, lộ rủi ro sớm.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cách dùng thuật ngữ trước khi vào chi tiết flow, để cả team hiểu giống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phase, mỗi phase kết thúc bằng một gate người duyệt. Không bao giờ đi qua gate mà không có xác nhận của người.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là nơi có đòn bẩy lớn nhất. Ambiguity score &gt; 0.3 thì bắt người xem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RTL và SVA sinh cùng lúc. Mỗi assertion phải có mô tả tiếng Việt/tiếng Anh để người duyệt hiểu mà không đọc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SVA cho phản hồi nhanh khi sim. Mutation score là tiêu chí sign-off khách quan — LLM không giả được. Formal bỏ qua giai đoạn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Nơi chống hallucination hiệu quả nhất là ở đầu vào, không phải đầu ra. Gate 1 là đòn bẩy lớn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RTM không phải báo cáo cuối kỳ. Nó là tài liệu sống, lái flow từ ngày đầu. Lấy cảm hứng từ DO-254/DO-178.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Sáu điều kiện, thiếu một là chưa sign-off. Người ký, tool chạy — LLM không ký được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Toàn bộ open-source, không license nào chặn. Sky130 là PDK đích.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Sáu tuần, mỗi tuần một deliverable kiểm chứng được. Tuần 6 là lúc chạy hai IP AXI qua flow không sửa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thứ chủ động bỏ để giữ 6 tuần khả thi. Không phải bỏ hẳn — là để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Rủi ro số một: spec AXI viết bằng ngôn ngữ tự nhiên quá mơ hồ. Hai biện pháp: LLM hỏi lại khi ambiguity cao, và cho đính kèm trích đoạn AMBA gốc.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D"/>
        </a:solidFill>
      </p:bgPr>
    </p:bg>
    <p:spTree>
      <p:nvGrpSpPr>
        <p:cNvPr id="1" name=""/>
        <p:cNvGrpSpPr/>
        <p:nvPr/>
      </p:nvGrpSpPr>
      <p:grpSpPr>
        <a:xfrm>
          <a:off x="0" y="0"/>
          <a:ext cx="0" cy="0"/>
          <a:chOff x="0" y="0"/>
          <a:chExt cx="0" cy="0"/>
        </a:xfrm>
      </p:grpSpPr>
      <p:sp>
        <p:nvSpPr>
          <p:cNvPr id="2" name="Shape 0"/>
          <p:cNvSpPr/>
          <p:nvPr/>
        </p:nvSpPr>
        <p:spPr>
          <a:xfrm>
            <a:off x="12573000" y="-1524000"/>
            <a:ext cx="7239000" cy="7239000"/>
          </a:xfrm>
          <a:prstGeom prst="ellipse">
            <a:avLst/>
          </a:prstGeom>
          <a:gradFill rotWithShape="1">
            <a:gsLst>
              <a:gs pos="0">
                <a:srgbClr val="76B900">
                  <a:alpha val="18000"/>
                </a:srgbClr>
              </a:gs>
              <a:gs pos="68000">
                <a:srgbClr val="76B900">
                  <a:alpha val="0"/>
                </a:srgbClr>
              </a:gs>
            </a:gsLst>
            <a:path path="circle">
              <a:fillToRect l="50000" t="50000" r="50000" b="50000"/>
            </a:path>
          </a:gradFill>
          <a:ln/>
        </p:spPr>
      </p:sp>
      <p:sp>
        <p:nvSpPr>
          <p:cNvPr id="3" name="Text 1"/>
          <p:cNvSpPr/>
          <p:nvPr/>
        </p:nvSpPr>
        <p:spPr>
          <a:xfrm>
            <a:off x="952500" y="2329755"/>
            <a:ext cx="14668500" cy="438150"/>
          </a:xfrm>
          <a:prstGeom prst="rect">
            <a:avLst/>
          </a:prstGeom>
          <a:noFill/>
          <a:ln/>
        </p:spPr>
        <p:txBody>
          <a:bodyPr wrap="square" lIns="25400" tIns="25400" rIns="25400" bIns="25400" rtlCol="0" anchor="t">
            <a:normAutofit/>
          </a:bodyPr>
          <a:lstStyle/>
          <a:p>
            <a:pPr algn="l" indent="0" marL="0">
              <a:lnSpc>
                <a:spcPct val="131250"/>
              </a:lnSpc>
              <a:buNone/>
            </a:pPr>
            <a:r>
              <a:rPr lang="en-US" sz="2100" b="1" spc="378" kern="0" dirty="0">
                <a:solidFill>
                  <a:srgbClr val="76B900"/>
                </a:solidFill>
                <a:latin typeface="Arial" pitchFamily="34" charset="0"/>
                <a:ea typeface="Arial" pitchFamily="34" charset="-122"/>
                <a:cs typeface="Arial" pitchFamily="34" charset="-120"/>
              </a:rPr>
              <a:t>KẾ HOẠCH TRIỂN KHAI · 6 TUẦN</a:t>
            </a:r>
            <a:endParaRPr lang="en-US" sz="2100" dirty="0"/>
          </a:p>
        </p:txBody>
      </p:sp>
      <p:sp>
        <p:nvSpPr>
          <p:cNvPr id="4" name="Text 2"/>
          <p:cNvSpPr/>
          <p:nvPr/>
        </p:nvSpPr>
        <p:spPr>
          <a:xfrm>
            <a:off x="952500" y="3110805"/>
            <a:ext cx="13735050" cy="1814810"/>
          </a:xfrm>
          <a:prstGeom prst="rect">
            <a:avLst/>
          </a:prstGeom>
          <a:noFill/>
          <a:ln/>
        </p:spPr>
        <p:txBody>
          <a:bodyPr wrap="square" lIns="25400" tIns="25400" rIns="25400" bIns="25400" rtlCol="0" anchor="t">
            <a:normAutofit/>
          </a:bodyPr>
          <a:lstStyle/>
          <a:p>
            <a:pPr algn="l" indent="0" marL="0">
              <a:lnSpc>
                <a:spcPct val="91451"/>
              </a:lnSpc>
              <a:buNone/>
            </a:pPr>
            <a:r>
              <a:rPr lang="en-US" sz="6600" b="1" dirty="0">
                <a:solidFill>
                  <a:srgbClr val="FFFFFF"/>
                </a:solidFill>
                <a:latin typeface="Arial" pitchFamily="34" charset="0"/>
                <a:ea typeface="Arial" pitchFamily="34" charset="-122"/>
                <a:cs typeface="Arial" pitchFamily="34" charset="-120"/>
              </a:rPr>
              <a:t>Flow sinh RTL từ spec ngôn ngữ tự nhiên</a:t>
            </a:r>
            <a:endParaRPr lang="en-US" sz="6600" dirty="0"/>
          </a:p>
        </p:txBody>
      </p:sp>
      <p:sp>
        <p:nvSpPr>
          <p:cNvPr id="5" name="Text 3"/>
          <p:cNvSpPr/>
          <p:nvPr/>
        </p:nvSpPr>
        <p:spPr>
          <a:xfrm>
            <a:off x="952500" y="5268516"/>
            <a:ext cx="11576685" cy="1612404"/>
          </a:xfrm>
          <a:prstGeom prst="rect">
            <a:avLst/>
          </a:prstGeom>
          <a:noFill/>
          <a:ln/>
        </p:spPr>
        <p:txBody>
          <a:bodyPr wrap="square" lIns="25400" tIns="25400" rIns="25400" bIns="25400" rtlCol="0" anchor="t">
            <a:normAutofit/>
          </a:bodyPr>
          <a:lstStyle/>
          <a:p>
            <a:pPr algn="l" indent="0" marL="0">
              <a:lnSpc>
                <a:spcPct val="128140"/>
              </a:lnSpc>
              <a:buNone/>
            </a:pPr>
            <a:r>
              <a:rPr lang="en-US" sz="2850" dirty="0">
                <a:solidFill>
                  <a:srgbClr val="B6B8BD"/>
                </a:solidFill>
                <a:latin typeface="Arial" pitchFamily="34" charset="0"/>
                <a:ea typeface="Arial" pitchFamily="34" charset="-122"/>
                <a:cs typeface="Arial" pitchFamily="34" charset="-120"/>
              </a:rPr>
              <a:t>SystemVerilog synthesis-ready, SVA, testbench và Requirement Traceability Matrix — chạy hoàn toàn trên toolchain EDA open-source, PDK SkyWater Sky130.</a:t>
            </a:r>
            <a:endParaRPr lang="en-US" sz="2850" dirty="0"/>
          </a:p>
        </p:txBody>
      </p:sp>
      <p:sp>
        <p:nvSpPr>
          <p:cNvPr id="6" name="Shape 4"/>
          <p:cNvSpPr/>
          <p:nvPr/>
        </p:nvSpPr>
        <p:spPr>
          <a:xfrm>
            <a:off x="952500" y="7338120"/>
            <a:ext cx="3559522" cy="619125"/>
          </a:xfrm>
          <a:prstGeom prst="roundRect">
            <a:avLst>
              <a:gd name="adj" fmla="val 50000"/>
            </a:avLst>
          </a:prstGeom>
          <a:ln w="9525">
            <a:solidFill>
              <a:srgbClr val="3A3D42"/>
            </a:solidFill>
            <a:prstDash val="solid"/>
          </a:ln>
        </p:spPr>
      </p:sp>
      <p:sp>
        <p:nvSpPr>
          <p:cNvPr id="7" name="Text 5"/>
          <p:cNvSpPr/>
          <p:nvPr/>
        </p:nvSpPr>
        <p:spPr>
          <a:xfrm>
            <a:off x="1190625" y="7461945"/>
            <a:ext cx="3190058" cy="409575"/>
          </a:xfrm>
          <a:prstGeom prst="rect">
            <a:avLst/>
          </a:prstGeom>
          <a:noFill/>
          <a:ln/>
        </p:spPr>
        <p:txBody>
          <a:bodyPr wrap="square" lIns="25400" tIns="25400" rIns="25400" bIns="25400" rtlCol="0" anchor="t">
            <a:normAutofit/>
          </a:bodyPr>
          <a:lstStyle/>
          <a:p>
            <a:pPr algn="l" indent="0" marL="0">
              <a:lnSpc>
                <a:spcPct val="125806"/>
              </a:lnSpc>
              <a:buNone/>
            </a:pPr>
            <a:r>
              <a:rPr lang="en-US" sz="1950" dirty="0">
                <a:solidFill>
                  <a:srgbClr val="D7D9DD"/>
                </a:solidFill>
                <a:latin typeface="Arial" pitchFamily="34" charset="0"/>
                <a:ea typeface="Arial" pitchFamily="34" charset="-122"/>
                <a:cs typeface="Arial" pitchFamily="34" charset="-120"/>
              </a:rPr>
              <a:t>Orchestrator: Claude Code</a:t>
            </a:r>
            <a:endParaRPr lang="en-US" sz="1950" dirty="0"/>
          </a:p>
        </p:txBody>
      </p:sp>
      <p:sp>
        <p:nvSpPr>
          <p:cNvPr id="8" name="Shape 6"/>
          <p:cNvSpPr/>
          <p:nvPr/>
        </p:nvSpPr>
        <p:spPr>
          <a:xfrm>
            <a:off x="4664422" y="7338120"/>
            <a:ext cx="1574453" cy="619125"/>
          </a:xfrm>
          <a:prstGeom prst="roundRect">
            <a:avLst>
              <a:gd name="adj" fmla="val 50000"/>
            </a:avLst>
          </a:prstGeom>
          <a:ln w="9525">
            <a:solidFill>
              <a:srgbClr val="3A3D42"/>
            </a:solidFill>
            <a:prstDash val="solid"/>
          </a:ln>
        </p:spPr>
      </p:sp>
      <p:sp>
        <p:nvSpPr>
          <p:cNvPr id="9" name="Text 7"/>
          <p:cNvSpPr/>
          <p:nvPr/>
        </p:nvSpPr>
        <p:spPr>
          <a:xfrm>
            <a:off x="4902547" y="7461945"/>
            <a:ext cx="1174403" cy="409575"/>
          </a:xfrm>
          <a:prstGeom prst="rect">
            <a:avLst/>
          </a:prstGeom>
          <a:noFill/>
          <a:ln/>
        </p:spPr>
        <p:txBody>
          <a:bodyPr wrap="square" lIns="25400" tIns="25400" rIns="25400" bIns="25400" rtlCol="0" anchor="t">
            <a:normAutofit/>
          </a:bodyPr>
          <a:lstStyle/>
          <a:p>
            <a:pPr algn="l" indent="0" marL="0">
              <a:lnSpc>
                <a:spcPct val="125806"/>
              </a:lnSpc>
              <a:buNone/>
            </a:pPr>
            <a:r>
              <a:rPr lang="en-US" sz="1950" dirty="0">
                <a:solidFill>
                  <a:srgbClr val="D7D9DD"/>
                </a:solidFill>
                <a:latin typeface="Arial" pitchFamily="34" charset="0"/>
                <a:ea typeface="Arial" pitchFamily="34" charset="-122"/>
                <a:cs typeface="Arial" pitchFamily="34" charset="-120"/>
              </a:rPr>
              <a:t>2-3 người</a:t>
            </a:r>
            <a:endParaRPr lang="en-US" sz="1950" dirty="0"/>
          </a:p>
        </p:txBody>
      </p:sp>
      <p:sp>
        <p:nvSpPr>
          <p:cNvPr id="10" name="Shape 8"/>
          <p:cNvSpPr/>
          <p:nvPr/>
        </p:nvSpPr>
        <p:spPr>
          <a:xfrm>
            <a:off x="6391275" y="7338120"/>
            <a:ext cx="2385715" cy="619125"/>
          </a:xfrm>
          <a:prstGeom prst="roundRect">
            <a:avLst>
              <a:gd name="adj" fmla="val 50000"/>
            </a:avLst>
          </a:prstGeom>
          <a:ln w="9525">
            <a:solidFill>
              <a:srgbClr val="3A3D42"/>
            </a:solidFill>
            <a:prstDash val="solid"/>
          </a:ln>
        </p:spPr>
      </p:sp>
      <p:sp>
        <p:nvSpPr>
          <p:cNvPr id="11" name="Text 9"/>
          <p:cNvSpPr/>
          <p:nvPr/>
        </p:nvSpPr>
        <p:spPr>
          <a:xfrm>
            <a:off x="6629400" y="7461945"/>
            <a:ext cx="1985665" cy="409575"/>
          </a:xfrm>
          <a:prstGeom prst="rect">
            <a:avLst/>
          </a:prstGeom>
          <a:noFill/>
          <a:ln/>
        </p:spPr>
        <p:txBody>
          <a:bodyPr wrap="square" lIns="25400" tIns="25400" rIns="25400" bIns="25400" rtlCol="0" anchor="t">
            <a:normAutofit/>
          </a:bodyPr>
          <a:lstStyle/>
          <a:p>
            <a:pPr algn="l" indent="0" marL="0">
              <a:lnSpc>
                <a:spcPct val="125806"/>
              </a:lnSpc>
              <a:buNone/>
            </a:pPr>
            <a:r>
              <a:rPr lang="en-US" sz="1950" dirty="0">
                <a:solidFill>
                  <a:srgbClr val="D7D9DD"/>
                </a:solidFill>
                <a:latin typeface="Arial" pitchFamily="34" charset="0"/>
                <a:ea typeface="Arial" pitchFamily="34" charset="-122"/>
                <a:cs typeface="Arial" pitchFamily="34" charset="-120"/>
              </a:rPr>
              <a:t>Target: small IPs</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952500" y="952500"/>
            <a:ext cx="18021300" cy="409575"/>
          </a:xfrm>
          <a:prstGeom prst="rect">
            <a:avLst/>
          </a:prstGeom>
          <a:noFill/>
          <a:ln/>
        </p:spPr>
        <p:txBody>
          <a:bodyPr wrap="square" lIns="25400" tIns="25400" rIns="25400" bIns="25400" rtlCol="0" anchor="t">
            <a:normAutofit/>
          </a:bodyPr>
          <a:lstStyle/>
          <a:p>
            <a:pPr algn="l" indent="0" marL="0">
              <a:lnSpc>
                <a:spcPct val="125806"/>
              </a:lnSpc>
              <a:buNone/>
            </a:pPr>
            <a:r>
              <a:rPr lang="en-US" sz="1950" b="1" spc="312" kern="0" dirty="0">
                <a:solidFill>
                  <a:srgbClr val="76B900"/>
                </a:solidFill>
                <a:latin typeface="Arial" pitchFamily="34" charset="0"/>
                <a:ea typeface="Arial" pitchFamily="34" charset="-122"/>
                <a:cs typeface="Arial" pitchFamily="34" charset="-120"/>
              </a:rPr>
              <a:t>01 · MỤC TIÊU</a:t>
            </a:r>
            <a:endParaRPr lang="en-US" sz="1950" dirty="0"/>
          </a:p>
        </p:txBody>
      </p:sp>
      <p:sp>
        <p:nvSpPr>
          <p:cNvPr id="3" name="Text 1"/>
          <p:cNvSpPr/>
          <p:nvPr/>
        </p:nvSpPr>
        <p:spPr>
          <a:xfrm>
            <a:off x="952500" y="1476375"/>
            <a:ext cx="18021300" cy="708571"/>
          </a:xfrm>
          <a:prstGeom prst="rect">
            <a:avLst/>
          </a:prstGeom>
          <a:noFill/>
          <a:ln/>
        </p:spPr>
        <p:txBody>
          <a:bodyPr wrap="square" lIns="25400" tIns="25400" rIns="25400" bIns="25400" rtlCol="0" anchor="t">
            <a:normAutofit/>
          </a:bodyPr>
          <a:lstStyle/>
          <a:p>
            <a:pPr algn="l" indent="0" marL="0">
              <a:lnSpc>
                <a:spcPct val="95135"/>
              </a:lnSpc>
              <a:buNone/>
            </a:pPr>
            <a:r>
              <a:rPr lang="en-US" sz="4800" b="1" dirty="0">
                <a:solidFill>
                  <a:srgbClr val="FFFFFF"/>
                </a:solidFill>
                <a:latin typeface="Arial" pitchFamily="34" charset="0"/>
                <a:ea typeface="Arial" pitchFamily="34" charset="-122"/>
                <a:cs typeface="Arial" pitchFamily="34" charset="-120"/>
              </a:rPr>
              <a:t>Ba IP chạy end-to-end sau 6 tuần</a:t>
            </a:r>
            <a:endParaRPr lang="en-US" sz="4800" dirty="0"/>
          </a:p>
        </p:txBody>
      </p:sp>
      <p:sp>
        <p:nvSpPr>
          <p:cNvPr id="4" name="Shape 2"/>
          <p:cNvSpPr/>
          <p:nvPr/>
        </p:nvSpPr>
        <p:spPr>
          <a:xfrm>
            <a:off x="952500" y="2642146"/>
            <a:ext cx="5283101" cy="5973217"/>
          </a:xfrm>
          <a:prstGeom prst="roundRect">
            <a:avLst>
              <a:gd name="adj" fmla="val 2164"/>
            </a:avLst>
          </a:prstGeom>
          <a:solidFill>
            <a:srgbClr val="16171A"/>
          </a:solidFill>
          <a:ln w="9525">
            <a:solidFill>
              <a:srgbClr val="2E3033"/>
            </a:solidFill>
            <a:prstDash val="solid"/>
          </a:ln>
        </p:spPr>
      </p:sp>
      <p:sp>
        <p:nvSpPr>
          <p:cNvPr id="5" name="Text 3"/>
          <p:cNvSpPr/>
          <p:nvPr/>
        </p:nvSpPr>
        <p:spPr>
          <a:xfrm>
            <a:off x="1381125" y="3070771"/>
            <a:ext cx="4868436" cy="409575"/>
          </a:xfrm>
          <a:prstGeom prst="rect">
            <a:avLst/>
          </a:prstGeom>
          <a:noFill/>
          <a:ln/>
        </p:spPr>
        <p:txBody>
          <a:bodyPr wrap="square" lIns="25400" tIns="25400" rIns="25400" bIns="25400" rtlCol="0" anchor="t">
            <a:normAutofit/>
          </a:bodyPr>
          <a:lstStyle/>
          <a:p>
            <a:pPr algn="l" indent="0" marL="0">
              <a:lnSpc>
                <a:spcPct val="125806"/>
              </a:lnSpc>
              <a:buNone/>
            </a:pPr>
            <a:r>
              <a:rPr lang="en-US" sz="1950" b="1" dirty="0">
                <a:solidFill>
                  <a:srgbClr val="76B900"/>
                </a:solidFill>
                <a:latin typeface="Arial" pitchFamily="34" charset="0"/>
                <a:ea typeface="Arial" pitchFamily="34" charset="-122"/>
                <a:cs typeface="Arial" pitchFamily="34" charset="-120"/>
              </a:rPr>
              <a:t>Tuần 1-5 · Pilot</a:t>
            </a:r>
            <a:endParaRPr lang="en-US" sz="1950" dirty="0"/>
          </a:p>
        </p:txBody>
      </p:sp>
      <p:sp>
        <p:nvSpPr>
          <p:cNvPr id="6" name="Text 4"/>
          <p:cNvSpPr/>
          <p:nvPr/>
        </p:nvSpPr>
        <p:spPr>
          <a:xfrm>
            <a:off x="1381125" y="3632746"/>
            <a:ext cx="4868436" cy="520005"/>
          </a:xfrm>
          <a:prstGeom prst="rect">
            <a:avLst/>
          </a:prstGeom>
          <a:noFill/>
          <a:ln/>
        </p:spPr>
        <p:txBody>
          <a:bodyPr wrap="square" lIns="25400" tIns="25400" rIns="25400" bIns="25400" rtlCol="0" anchor="t">
            <a:normAutofit/>
          </a:bodyPr>
          <a:lstStyle/>
          <a:p>
            <a:pPr algn="l" indent="0" marL="0">
              <a:lnSpc>
                <a:spcPct val="101200"/>
              </a:lnSpc>
              <a:buNone/>
            </a:pPr>
            <a:r>
              <a:rPr lang="en-US" sz="3300" b="1" dirty="0">
                <a:solidFill>
                  <a:srgbClr val="FFFFFF"/>
                </a:solidFill>
                <a:latin typeface="Arial" pitchFamily="34" charset="0"/>
                <a:ea typeface="Arial" pitchFamily="34" charset="-122"/>
                <a:cs typeface="Arial" pitchFamily="34" charset="-120"/>
              </a:rPr>
              <a:t>RISC-V core</a:t>
            </a:r>
            <a:endParaRPr lang="en-US" sz="3300" dirty="0"/>
          </a:p>
        </p:txBody>
      </p:sp>
      <p:sp>
        <p:nvSpPr>
          <p:cNvPr id="7" name="Text 5"/>
          <p:cNvSpPr/>
          <p:nvPr/>
        </p:nvSpPr>
        <p:spPr>
          <a:xfrm>
            <a:off x="1381125" y="4305151"/>
            <a:ext cx="4558626" cy="1281113"/>
          </a:xfrm>
          <a:prstGeom prst="rect">
            <a:avLst/>
          </a:prstGeom>
          <a:noFill/>
          <a:ln/>
        </p:spPr>
        <p:txBody>
          <a:bodyPr wrap="square" lIns="25400" tIns="25400" rIns="25400" bIns="25400" rtlCol="0" anchor="t">
            <a:normAutofit/>
          </a:bodyPr>
          <a:lstStyle/>
          <a:p>
            <a:pPr algn="l" indent="0" marL="0">
              <a:lnSpc>
                <a:spcPct val="127941"/>
              </a:lnSpc>
              <a:buNone/>
            </a:pPr>
            <a:r>
              <a:rPr lang="en-US" sz="2250" dirty="0">
                <a:solidFill>
                  <a:srgbClr val="B6B8BD"/>
                </a:solidFill>
                <a:latin typeface="Arial" pitchFamily="34" charset="0"/>
                <a:ea typeface="Arial" pitchFamily="34" charset="-122"/>
                <a:cs typeface="Arial" pitchFamily="34" charset="-120"/>
              </a:rPr>
              <a:t>RV32IM, pipeline, CSR cơ bản. Làm trước để lộ rủi ro khó nhất sớm nhất.</a:t>
            </a:r>
            <a:endParaRPr lang="en-US" sz="2250" dirty="0"/>
          </a:p>
        </p:txBody>
      </p:sp>
      <p:sp>
        <p:nvSpPr>
          <p:cNvPr id="8" name="Shape 6"/>
          <p:cNvSpPr/>
          <p:nvPr/>
        </p:nvSpPr>
        <p:spPr>
          <a:xfrm>
            <a:off x="6502301" y="2642146"/>
            <a:ext cx="5283250" cy="5973217"/>
          </a:xfrm>
          <a:prstGeom prst="roundRect">
            <a:avLst>
              <a:gd name="adj" fmla="val 2163"/>
            </a:avLst>
          </a:prstGeom>
          <a:solidFill>
            <a:srgbClr val="16171A"/>
          </a:solidFill>
          <a:ln w="9525">
            <a:solidFill>
              <a:srgbClr val="2E3033"/>
            </a:solidFill>
            <a:prstDash val="solid"/>
          </a:ln>
        </p:spPr>
      </p:sp>
      <p:sp>
        <p:nvSpPr>
          <p:cNvPr id="9" name="Text 7"/>
          <p:cNvSpPr/>
          <p:nvPr/>
        </p:nvSpPr>
        <p:spPr>
          <a:xfrm>
            <a:off x="6930926" y="3070771"/>
            <a:ext cx="4868600" cy="409575"/>
          </a:xfrm>
          <a:prstGeom prst="rect">
            <a:avLst/>
          </a:prstGeom>
          <a:noFill/>
          <a:ln/>
        </p:spPr>
        <p:txBody>
          <a:bodyPr wrap="square" lIns="25400" tIns="25400" rIns="25400" bIns="25400" rtlCol="0" anchor="t">
            <a:normAutofit/>
          </a:bodyPr>
          <a:lstStyle/>
          <a:p>
            <a:pPr algn="l" indent="0" marL="0">
              <a:lnSpc>
                <a:spcPct val="125806"/>
              </a:lnSpc>
              <a:buNone/>
            </a:pPr>
            <a:r>
              <a:rPr lang="en-US" sz="1950" b="1" dirty="0">
                <a:solidFill>
                  <a:srgbClr val="8A8D93"/>
                </a:solidFill>
                <a:latin typeface="Arial" pitchFamily="34" charset="0"/>
                <a:ea typeface="Arial" pitchFamily="34" charset="-122"/>
                <a:cs typeface="Arial" pitchFamily="34" charset="-120"/>
              </a:rPr>
              <a:t>Tuần 6</a:t>
            </a:r>
            <a:endParaRPr lang="en-US" sz="1950" dirty="0"/>
          </a:p>
        </p:txBody>
      </p:sp>
      <p:sp>
        <p:nvSpPr>
          <p:cNvPr id="10" name="Text 8"/>
          <p:cNvSpPr/>
          <p:nvPr/>
        </p:nvSpPr>
        <p:spPr>
          <a:xfrm>
            <a:off x="6930926" y="3632746"/>
            <a:ext cx="4868600" cy="520005"/>
          </a:xfrm>
          <a:prstGeom prst="rect">
            <a:avLst/>
          </a:prstGeom>
          <a:noFill/>
          <a:ln/>
        </p:spPr>
        <p:txBody>
          <a:bodyPr wrap="square" lIns="25400" tIns="25400" rIns="25400" bIns="25400" rtlCol="0" anchor="t">
            <a:normAutofit/>
          </a:bodyPr>
          <a:lstStyle/>
          <a:p>
            <a:pPr algn="l" indent="0" marL="0">
              <a:lnSpc>
                <a:spcPct val="101200"/>
              </a:lnSpc>
              <a:buNone/>
            </a:pPr>
            <a:r>
              <a:rPr lang="en-US" sz="3300" b="1" dirty="0">
                <a:solidFill>
                  <a:srgbClr val="FFFFFF"/>
                </a:solidFill>
                <a:latin typeface="Arial" pitchFamily="34" charset="0"/>
                <a:ea typeface="Arial" pitchFamily="34" charset="-122"/>
                <a:cs typeface="Arial" pitchFamily="34" charset="-120"/>
              </a:rPr>
              <a:t>AXI upsizer</a:t>
            </a:r>
            <a:endParaRPr lang="en-US" sz="3300" dirty="0"/>
          </a:p>
        </p:txBody>
      </p:sp>
      <p:sp>
        <p:nvSpPr>
          <p:cNvPr id="11" name="Text 9"/>
          <p:cNvSpPr/>
          <p:nvPr/>
        </p:nvSpPr>
        <p:spPr>
          <a:xfrm>
            <a:off x="6930926" y="4305151"/>
            <a:ext cx="4558780" cy="1281113"/>
          </a:xfrm>
          <a:prstGeom prst="rect">
            <a:avLst/>
          </a:prstGeom>
          <a:noFill/>
          <a:ln/>
        </p:spPr>
        <p:txBody>
          <a:bodyPr wrap="square" lIns="25400" tIns="25400" rIns="25400" bIns="25400" rtlCol="0" anchor="t">
            <a:normAutofit/>
          </a:bodyPr>
          <a:lstStyle/>
          <a:p>
            <a:pPr algn="l" indent="0" marL="0">
              <a:lnSpc>
                <a:spcPct val="127941"/>
              </a:lnSpc>
              <a:buNone/>
            </a:pPr>
            <a:r>
              <a:rPr lang="en-US" sz="2250" dirty="0">
                <a:solidFill>
                  <a:srgbClr val="B6B8BD"/>
                </a:solidFill>
                <a:latin typeface="Arial" pitchFamily="34" charset="0"/>
                <a:ea typeface="Arial" pitchFamily="34" charset="-122"/>
                <a:cs typeface="Arial" pitchFamily="34" charset="-120"/>
              </a:rPr>
              <a:t>Chạy lại nguyên flow không sửa skill — kiểm chứng flow đã tổng quát.</a:t>
            </a:r>
            <a:endParaRPr lang="en-US" sz="2250" dirty="0"/>
          </a:p>
        </p:txBody>
      </p:sp>
      <p:sp>
        <p:nvSpPr>
          <p:cNvPr id="12" name="Shape 10"/>
          <p:cNvSpPr/>
          <p:nvPr/>
        </p:nvSpPr>
        <p:spPr>
          <a:xfrm>
            <a:off x="12052250" y="2642146"/>
            <a:ext cx="5283250" cy="5973217"/>
          </a:xfrm>
          <a:prstGeom prst="roundRect">
            <a:avLst>
              <a:gd name="adj" fmla="val 2163"/>
            </a:avLst>
          </a:prstGeom>
          <a:solidFill>
            <a:srgbClr val="16171A"/>
          </a:solidFill>
          <a:ln w="9525">
            <a:solidFill>
              <a:srgbClr val="2E3033"/>
            </a:solidFill>
            <a:prstDash val="solid"/>
          </a:ln>
        </p:spPr>
      </p:sp>
      <p:sp>
        <p:nvSpPr>
          <p:cNvPr id="13" name="Text 11"/>
          <p:cNvSpPr/>
          <p:nvPr/>
        </p:nvSpPr>
        <p:spPr>
          <a:xfrm>
            <a:off x="12480875" y="3070771"/>
            <a:ext cx="4868600" cy="409575"/>
          </a:xfrm>
          <a:prstGeom prst="rect">
            <a:avLst/>
          </a:prstGeom>
          <a:noFill/>
          <a:ln/>
        </p:spPr>
        <p:txBody>
          <a:bodyPr wrap="square" lIns="25400" tIns="25400" rIns="25400" bIns="25400" rtlCol="0" anchor="t">
            <a:normAutofit/>
          </a:bodyPr>
          <a:lstStyle/>
          <a:p>
            <a:pPr algn="l" indent="0" marL="0">
              <a:lnSpc>
                <a:spcPct val="125806"/>
              </a:lnSpc>
              <a:buNone/>
            </a:pPr>
            <a:r>
              <a:rPr lang="en-US" sz="1950" b="1" dirty="0">
                <a:solidFill>
                  <a:srgbClr val="8A8D93"/>
                </a:solidFill>
                <a:latin typeface="Arial" pitchFamily="34" charset="0"/>
                <a:ea typeface="Arial" pitchFamily="34" charset="-122"/>
                <a:cs typeface="Arial" pitchFamily="34" charset="-120"/>
              </a:rPr>
              <a:t>Tuần 6</a:t>
            </a:r>
            <a:endParaRPr lang="en-US" sz="1950" dirty="0"/>
          </a:p>
        </p:txBody>
      </p:sp>
      <p:sp>
        <p:nvSpPr>
          <p:cNvPr id="14" name="Text 12"/>
          <p:cNvSpPr/>
          <p:nvPr/>
        </p:nvSpPr>
        <p:spPr>
          <a:xfrm>
            <a:off x="12480875" y="3632746"/>
            <a:ext cx="4868600" cy="520005"/>
          </a:xfrm>
          <a:prstGeom prst="rect">
            <a:avLst/>
          </a:prstGeom>
          <a:noFill/>
          <a:ln/>
        </p:spPr>
        <p:txBody>
          <a:bodyPr wrap="square" lIns="25400" tIns="25400" rIns="25400" bIns="25400" rtlCol="0" anchor="t">
            <a:normAutofit/>
          </a:bodyPr>
          <a:lstStyle/>
          <a:p>
            <a:pPr algn="l" indent="0" marL="0">
              <a:lnSpc>
                <a:spcPct val="101200"/>
              </a:lnSpc>
              <a:buNone/>
            </a:pPr>
            <a:r>
              <a:rPr lang="en-US" sz="3300" b="1" dirty="0">
                <a:solidFill>
                  <a:srgbClr val="FFFFFF"/>
                </a:solidFill>
                <a:latin typeface="Arial" pitchFamily="34" charset="0"/>
                <a:ea typeface="Arial" pitchFamily="34" charset="-122"/>
                <a:cs typeface="Arial" pitchFamily="34" charset="-120"/>
              </a:rPr>
              <a:t>AXI downsizer</a:t>
            </a:r>
            <a:endParaRPr lang="en-US" sz="3300" dirty="0"/>
          </a:p>
        </p:txBody>
      </p:sp>
      <p:sp>
        <p:nvSpPr>
          <p:cNvPr id="15" name="Text 13"/>
          <p:cNvSpPr/>
          <p:nvPr/>
        </p:nvSpPr>
        <p:spPr>
          <a:xfrm>
            <a:off x="12480875" y="4305151"/>
            <a:ext cx="4558780" cy="1281113"/>
          </a:xfrm>
          <a:prstGeom prst="rect">
            <a:avLst/>
          </a:prstGeom>
          <a:noFill/>
          <a:ln/>
        </p:spPr>
        <p:txBody>
          <a:bodyPr wrap="square" lIns="25400" tIns="25400" rIns="25400" bIns="25400" rtlCol="0" anchor="t">
            <a:normAutofit/>
          </a:bodyPr>
          <a:lstStyle/>
          <a:p>
            <a:pPr algn="l" indent="0" marL="0">
              <a:lnSpc>
                <a:spcPct val="127941"/>
              </a:lnSpc>
              <a:buNone/>
            </a:pPr>
            <a:r>
              <a:rPr lang="en-US" sz="2250" dirty="0">
                <a:solidFill>
                  <a:srgbClr val="B6B8BD"/>
                </a:solidFill>
                <a:latin typeface="Arial" pitchFamily="34" charset="0"/>
                <a:ea typeface="Arial" pitchFamily="34" charset="-122"/>
                <a:cs typeface="Arial" pitchFamily="34" charset="-120"/>
              </a:rPr>
              <a:t>Cùng bộ spec AMBA, khác cấu hình width — test khả năng tái sử dụng.</a:t>
            </a:r>
            <a:endParaRPr lang="en-US" sz="2250" dirty="0"/>
          </a:p>
        </p:txBody>
      </p:sp>
      <p:sp>
        <p:nvSpPr>
          <p:cNvPr id="16" name="Shape 14"/>
          <p:cNvSpPr/>
          <p:nvPr/>
        </p:nvSpPr>
        <p:spPr>
          <a:xfrm>
            <a:off x="952500" y="9110663"/>
            <a:ext cx="28575" cy="414338"/>
          </a:xfrm>
          <a:prstGeom prst="rect">
            <a:avLst/>
          </a:prstGeom>
          <a:solidFill>
            <a:srgbClr val="76B900"/>
          </a:solidFill>
          <a:ln/>
        </p:spPr>
      </p:sp>
      <p:sp>
        <p:nvSpPr>
          <p:cNvPr id="17" name="Text 15"/>
          <p:cNvSpPr/>
          <p:nvPr/>
        </p:nvSpPr>
        <p:spPr>
          <a:xfrm>
            <a:off x="1247775" y="9110663"/>
            <a:ext cx="17726025" cy="452438"/>
          </a:xfrm>
          <a:prstGeom prst="rect">
            <a:avLst/>
          </a:prstGeom>
          <a:noFill/>
          <a:ln/>
        </p:spPr>
        <p:txBody>
          <a:bodyPr wrap="square" lIns="25400" tIns="25400" rIns="25400" bIns="25400" rtlCol="0" anchor="t">
            <a:normAutofit/>
          </a:bodyPr>
          <a:lstStyle/>
          <a:p>
            <a:pPr algn="l" indent="0" marL="0">
              <a:lnSpc>
                <a:spcPct val="127941"/>
              </a:lnSpc>
              <a:buNone/>
            </a:pPr>
            <a:r>
              <a:rPr lang="en-US" sz="2250" dirty="0">
                <a:solidFill>
                  <a:srgbClr val="D7D9DD"/>
                </a:solidFill>
                <a:latin typeface="Arial" pitchFamily="34" charset="0"/>
                <a:ea typeface="Arial" pitchFamily="34" charset="-122"/>
                <a:cs typeface="Arial" pitchFamily="34" charset="-120"/>
              </a:rPr>
              <a:t>Mỗi IP: từ spec text → RTL + SVA + TB → sim pass → mutation score ≥ 85% → sign-off trong RTM.</a:t>
            </a:r>
            <a:endParaRPr lang="en-US" sz="2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952500" y="952500"/>
            <a:ext cx="18021300" cy="409575"/>
          </a:xfrm>
          <a:prstGeom prst="rect">
            <a:avLst/>
          </a:prstGeom>
          <a:noFill/>
          <a:ln/>
        </p:spPr>
        <p:txBody>
          <a:bodyPr wrap="square" lIns="25400" tIns="25400" rIns="25400" bIns="25400" rtlCol="0" anchor="t">
            <a:normAutofit/>
          </a:bodyPr>
          <a:lstStyle/>
          <a:p>
            <a:pPr algn="l" indent="0" marL="0">
              <a:lnSpc>
                <a:spcPct val="125806"/>
              </a:lnSpc>
              <a:buNone/>
            </a:pPr>
            <a:r>
              <a:rPr lang="en-US" sz="1950" b="1" spc="312" kern="0" dirty="0">
                <a:solidFill>
                  <a:srgbClr val="76B900"/>
                </a:solidFill>
                <a:latin typeface="Arial" pitchFamily="34" charset="0"/>
                <a:ea typeface="Arial" pitchFamily="34" charset="-122"/>
                <a:cs typeface="Arial" pitchFamily="34" charset="-120"/>
              </a:rPr>
              <a:t>02 · THUẬT NGỮ</a:t>
            </a:r>
            <a:endParaRPr lang="en-US" sz="1950" dirty="0"/>
          </a:p>
        </p:txBody>
      </p:sp>
      <p:sp>
        <p:nvSpPr>
          <p:cNvPr id="3" name="Text 1"/>
          <p:cNvSpPr/>
          <p:nvPr/>
        </p:nvSpPr>
        <p:spPr>
          <a:xfrm>
            <a:off x="952500" y="1476375"/>
            <a:ext cx="18021300" cy="708571"/>
          </a:xfrm>
          <a:prstGeom prst="rect">
            <a:avLst/>
          </a:prstGeom>
          <a:noFill/>
          <a:ln/>
        </p:spPr>
        <p:txBody>
          <a:bodyPr wrap="square" lIns="25400" tIns="25400" rIns="25400" bIns="25400" rtlCol="0" anchor="t">
            <a:normAutofit/>
          </a:bodyPr>
          <a:lstStyle/>
          <a:p>
            <a:pPr algn="l" indent="0" marL="0">
              <a:lnSpc>
                <a:spcPct val="95135"/>
              </a:lnSpc>
              <a:buNone/>
            </a:pPr>
            <a:r>
              <a:rPr lang="en-US" sz="4800" b="1" dirty="0">
                <a:solidFill>
                  <a:srgbClr val="FFFFFF"/>
                </a:solidFill>
                <a:latin typeface="Arial" pitchFamily="34" charset="0"/>
                <a:ea typeface="Arial" pitchFamily="34" charset="-122"/>
                <a:cs typeface="Arial" pitchFamily="34" charset="-120"/>
              </a:rPr>
              <a:t>Sáu thuật ngữ dùng xuyên suốt flow</a:t>
            </a:r>
            <a:endParaRPr lang="en-US" sz="4800" dirty="0"/>
          </a:p>
        </p:txBody>
      </p:sp>
      <p:sp>
        <p:nvSpPr>
          <p:cNvPr id="4" name="Shape 2"/>
          <p:cNvSpPr/>
          <p:nvPr/>
        </p:nvSpPr>
        <p:spPr>
          <a:xfrm>
            <a:off x="952500" y="2604046"/>
            <a:ext cx="5283101" cy="3327053"/>
          </a:xfrm>
          <a:prstGeom prst="roundRect">
            <a:avLst>
              <a:gd name="adj" fmla="val 3435"/>
            </a:avLst>
          </a:prstGeom>
          <a:solidFill>
            <a:srgbClr val="16171A"/>
          </a:solidFill>
          <a:ln w="9525">
            <a:solidFill>
              <a:srgbClr val="2E3033"/>
            </a:solidFill>
            <a:prstDash val="solid"/>
          </a:ln>
        </p:spPr>
      </p:sp>
      <p:sp>
        <p:nvSpPr>
          <p:cNvPr id="5" name="Text 3"/>
          <p:cNvSpPr/>
          <p:nvPr/>
        </p:nvSpPr>
        <p:spPr>
          <a:xfrm>
            <a:off x="1343025" y="2994571"/>
            <a:ext cx="4952256" cy="523875"/>
          </a:xfrm>
          <a:prstGeom prst="rect">
            <a:avLst/>
          </a:prstGeom>
          <a:noFill/>
          <a:ln/>
        </p:spPr>
        <p:txBody>
          <a:bodyPr wrap="square" lIns="25400" tIns="25400" rIns="25400" bIns="25400" rtlCol="0" anchor="t">
            <a:normAutofit/>
          </a:bodyPr>
          <a:lstStyle/>
          <a:p>
            <a:pPr algn="l" indent="0" marL="0">
              <a:lnSpc>
                <a:spcPct val="134211"/>
              </a:lnSpc>
              <a:buNone/>
            </a:pPr>
            <a:r>
              <a:rPr lang="en-US" sz="2550" b="1" dirty="0">
                <a:solidFill>
                  <a:srgbClr val="76B900"/>
                </a:solidFill>
                <a:latin typeface="Courier New" pitchFamily="34" charset="0"/>
                <a:ea typeface="Courier New" pitchFamily="34" charset="-122"/>
                <a:cs typeface="Courier New" pitchFamily="34" charset="-120"/>
              </a:rPr>
              <a:t>REQ-ID</a:t>
            </a:r>
            <a:endParaRPr lang="en-US" sz="2550" dirty="0"/>
          </a:p>
        </p:txBody>
      </p:sp>
      <p:sp>
        <p:nvSpPr>
          <p:cNvPr id="6" name="Text 4"/>
          <p:cNvSpPr/>
          <p:nvPr/>
        </p:nvSpPr>
        <p:spPr>
          <a:xfrm>
            <a:off x="1343025" y="3651796"/>
            <a:ext cx="4637112" cy="1584722"/>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B6B8BD"/>
                </a:solidFill>
                <a:latin typeface="Arial" pitchFamily="34" charset="0"/>
                <a:ea typeface="Arial" pitchFamily="34" charset="-122"/>
                <a:cs typeface="Arial" pitchFamily="34" charset="-120"/>
              </a:rPr>
              <a:t>Mã định danh của một requirement tách ra từ spec, dạng REQ-001. Mọi artifact sinh ra đều phải mang ít nhất một REQ-ID.</a:t>
            </a:r>
            <a:endParaRPr lang="en-US" sz="2100" dirty="0"/>
          </a:p>
        </p:txBody>
      </p:sp>
      <p:sp>
        <p:nvSpPr>
          <p:cNvPr id="7" name="Shape 5"/>
          <p:cNvSpPr/>
          <p:nvPr/>
        </p:nvSpPr>
        <p:spPr>
          <a:xfrm>
            <a:off x="6502301" y="2604046"/>
            <a:ext cx="5283250" cy="3327053"/>
          </a:xfrm>
          <a:prstGeom prst="roundRect">
            <a:avLst>
              <a:gd name="adj" fmla="val 3435"/>
            </a:avLst>
          </a:prstGeom>
          <a:solidFill>
            <a:srgbClr val="16171A"/>
          </a:solidFill>
          <a:ln w="9525">
            <a:solidFill>
              <a:srgbClr val="2E3033"/>
            </a:solidFill>
            <a:prstDash val="solid"/>
          </a:ln>
        </p:spPr>
      </p:sp>
      <p:sp>
        <p:nvSpPr>
          <p:cNvPr id="8" name="Text 6"/>
          <p:cNvSpPr/>
          <p:nvPr/>
        </p:nvSpPr>
        <p:spPr>
          <a:xfrm>
            <a:off x="6892826" y="2994571"/>
            <a:ext cx="4952420" cy="523875"/>
          </a:xfrm>
          <a:prstGeom prst="rect">
            <a:avLst/>
          </a:prstGeom>
          <a:noFill/>
          <a:ln/>
        </p:spPr>
        <p:txBody>
          <a:bodyPr wrap="square" lIns="25400" tIns="25400" rIns="25400" bIns="25400" rtlCol="0" anchor="t">
            <a:normAutofit/>
          </a:bodyPr>
          <a:lstStyle/>
          <a:p>
            <a:pPr algn="l" indent="0" marL="0">
              <a:lnSpc>
                <a:spcPct val="134211"/>
              </a:lnSpc>
              <a:buNone/>
            </a:pPr>
            <a:r>
              <a:rPr lang="en-US" sz="2550" b="1" dirty="0">
                <a:solidFill>
                  <a:srgbClr val="76B900"/>
                </a:solidFill>
                <a:latin typeface="Courier New" pitchFamily="34" charset="0"/>
                <a:ea typeface="Courier New" pitchFamily="34" charset="-122"/>
                <a:cs typeface="Courier New" pitchFamily="34" charset="-120"/>
              </a:rPr>
              <a:t>TC-ID</a:t>
            </a:r>
            <a:endParaRPr lang="en-US" sz="2550" dirty="0"/>
          </a:p>
        </p:txBody>
      </p:sp>
      <p:sp>
        <p:nvSpPr>
          <p:cNvPr id="9" name="Text 7"/>
          <p:cNvSpPr/>
          <p:nvPr/>
        </p:nvSpPr>
        <p:spPr>
          <a:xfrm>
            <a:off x="6892826" y="3651796"/>
            <a:ext cx="4637266" cy="1584722"/>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B6B8BD"/>
                </a:solidFill>
                <a:latin typeface="Arial" pitchFamily="34" charset="0"/>
                <a:ea typeface="Arial" pitchFamily="34" charset="-122"/>
                <a:cs typeface="Arial" pitchFamily="34" charset="-120"/>
              </a:rPr>
              <a:t>Mã định danh của một test case, dạng TC-001. Mỗi TC-ID ánh xạ về một hoặc nhiều REQ-ID mà nó kiểm tra.</a:t>
            </a:r>
            <a:endParaRPr lang="en-US" sz="2100" dirty="0"/>
          </a:p>
        </p:txBody>
      </p:sp>
      <p:sp>
        <p:nvSpPr>
          <p:cNvPr id="10" name="Shape 8"/>
          <p:cNvSpPr/>
          <p:nvPr/>
        </p:nvSpPr>
        <p:spPr>
          <a:xfrm>
            <a:off x="12052250" y="2604046"/>
            <a:ext cx="5283250" cy="3327053"/>
          </a:xfrm>
          <a:prstGeom prst="roundRect">
            <a:avLst>
              <a:gd name="adj" fmla="val 3435"/>
            </a:avLst>
          </a:prstGeom>
          <a:solidFill>
            <a:srgbClr val="16171A"/>
          </a:solidFill>
          <a:ln w="9525">
            <a:solidFill>
              <a:srgbClr val="2E3033"/>
            </a:solidFill>
            <a:prstDash val="solid"/>
          </a:ln>
        </p:spPr>
      </p:sp>
      <p:sp>
        <p:nvSpPr>
          <p:cNvPr id="11" name="Text 9"/>
          <p:cNvSpPr/>
          <p:nvPr/>
        </p:nvSpPr>
        <p:spPr>
          <a:xfrm>
            <a:off x="12442775" y="2994571"/>
            <a:ext cx="4952420" cy="523875"/>
          </a:xfrm>
          <a:prstGeom prst="rect">
            <a:avLst/>
          </a:prstGeom>
          <a:noFill/>
          <a:ln/>
        </p:spPr>
        <p:txBody>
          <a:bodyPr wrap="square" lIns="25400" tIns="25400" rIns="25400" bIns="25400" rtlCol="0" anchor="t">
            <a:normAutofit/>
          </a:bodyPr>
          <a:lstStyle/>
          <a:p>
            <a:pPr algn="l" indent="0" marL="0">
              <a:lnSpc>
                <a:spcPct val="134211"/>
              </a:lnSpc>
              <a:buNone/>
            </a:pPr>
            <a:r>
              <a:rPr lang="en-US" sz="2550" b="1" dirty="0">
                <a:solidFill>
                  <a:srgbClr val="76B900"/>
                </a:solidFill>
                <a:latin typeface="Courier New" pitchFamily="34" charset="0"/>
                <a:ea typeface="Courier New" pitchFamily="34" charset="-122"/>
                <a:cs typeface="Courier New" pitchFamily="34" charset="-120"/>
              </a:rPr>
              <a:t>Ambiguity score</a:t>
            </a:r>
            <a:endParaRPr lang="en-US" sz="2550" dirty="0"/>
          </a:p>
        </p:txBody>
      </p:sp>
      <p:sp>
        <p:nvSpPr>
          <p:cNvPr id="12" name="Text 10"/>
          <p:cNvSpPr/>
          <p:nvPr/>
        </p:nvSpPr>
        <p:spPr>
          <a:xfrm>
            <a:off x="12442775" y="3651796"/>
            <a:ext cx="4637266" cy="1584722"/>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B6B8BD"/>
                </a:solidFill>
                <a:latin typeface="Arial" pitchFamily="34" charset="0"/>
                <a:ea typeface="Arial" pitchFamily="34" charset="-122"/>
                <a:cs typeface="Arial" pitchFamily="34" charset="-120"/>
              </a:rPr>
              <a:t>Điểm 0.0 đến 1.0 do LLM chấm cho độ mơ hồ của một requirement. Vượt 0.3 thì requirement đó bị đánh dấu bắt người xem lại.</a:t>
            </a:r>
            <a:endParaRPr lang="en-US" sz="2100" dirty="0"/>
          </a:p>
        </p:txBody>
      </p:sp>
      <p:sp>
        <p:nvSpPr>
          <p:cNvPr id="13" name="Shape 11"/>
          <p:cNvSpPr/>
          <p:nvPr/>
        </p:nvSpPr>
        <p:spPr>
          <a:xfrm>
            <a:off x="952500" y="6197798"/>
            <a:ext cx="5283101" cy="3327202"/>
          </a:xfrm>
          <a:prstGeom prst="roundRect">
            <a:avLst>
              <a:gd name="adj" fmla="val 3435"/>
            </a:avLst>
          </a:prstGeom>
          <a:solidFill>
            <a:srgbClr val="16171A"/>
          </a:solidFill>
          <a:ln w="9525">
            <a:solidFill>
              <a:srgbClr val="2E3033"/>
            </a:solidFill>
            <a:prstDash val="solid"/>
          </a:ln>
        </p:spPr>
      </p:sp>
      <p:sp>
        <p:nvSpPr>
          <p:cNvPr id="14" name="Text 12"/>
          <p:cNvSpPr/>
          <p:nvPr/>
        </p:nvSpPr>
        <p:spPr>
          <a:xfrm>
            <a:off x="1343025" y="6588323"/>
            <a:ext cx="4952256" cy="523875"/>
          </a:xfrm>
          <a:prstGeom prst="rect">
            <a:avLst/>
          </a:prstGeom>
          <a:noFill/>
          <a:ln/>
        </p:spPr>
        <p:txBody>
          <a:bodyPr wrap="square" lIns="25400" tIns="25400" rIns="25400" bIns="25400" rtlCol="0" anchor="t">
            <a:normAutofit/>
          </a:bodyPr>
          <a:lstStyle/>
          <a:p>
            <a:pPr algn="l" indent="0" marL="0">
              <a:lnSpc>
                <a:spcPct val="134211"/>
              </a:lnSpc>
              <a:buNone/>
            </a:pPr>
            <a:r>
              <a:rPr lang="en-US" sz="2550" b="1" dirty="0">
                <a:solidFill>
                  <a:srgbClr val="76B900"/>
                </a:solidFill>
                <a:latin typeface="Courier New" pitchFamily="34" charset="0"/>
                <a:ea typeface="Courier New" pitchFamily="34" charset="-122"/>
                <a:cs typeface="Courier New" pitchFamily="34" charset="-120"/>
              </a:rPr>
              <a:t>Mutation</a:t>
            </a:r>
            <a:endParaRPr lang="en-US" sz="2550" dirty="0"/>
          </a:p>
        </p:txBody>
      </p:sp>
      <p:sp>
        <p:nvSpPr>
          <p:cNvPr id="15" name="Text 13"/>
          <p:cNvSpPr/>
          <p:nvPr/>
        </p:nvSpPr>
        <p:spPr>
          <a:xfrm>
            <a:off x="1343025" y="7245548"/>
            <a:ext cx="4637112" cy="1584722"/>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B6B8BD"/>
                </a:solidFill>
                <a:latin typeface="Arial" pitchFamily="34" charset="0"/>
                <a:ea typeface="Arial" pitchFamily="34" charset="-122"/>
                <a:cs typeface="Arial" pitchFamily="34" charset="-120"/>
              </a:rPr>
              <a:t>Một lỗi nhân tạo được chèn vào RTL, ví dụ đảo một toán tử hay treo một tín hiệu. Mutation bị giết khi testbench phát hiện ra nó.</a:t>
            </a:r>
            <a:endParaRPr lang="en-US" sz="2100" dirty="0"/>
          </a:p>
        </p:txBody>
      </p:sp>
      <p:sp>
        <p:nvSpPr>
          <p:cNvPr id="16" name="Shape 14"/>
          <p:cNvSpPr/>
          <p:nvPr/>
        </p:nvSpPr>
        <p:spPr>
          <a:xfrm>
            <a:off x="6502301" y="6197798"/>
            <a:ext cx="5283250" cy="3327202"/>
          </a:xfrm>
          <a:prstGeom prst="roundRect">
            <a:avLst>
              <a:gd name="adj" fmla="val 3435"/>
            </a:avLst>
          </a:prstGeom>
          <a:solidFill>
            <a:srgbClr val="16171A"/>
          </a:solidFill>
          <a:ln w="9525">
            <a:solidFill>
              <a:srgbClr val="2E3033"/>
            </a:solidFill>
            <a:prstDash val="solid"/>
          </a:ln>
        </p:spPr>
      </p:sp>
      <p:sp>
        <p:nvSpPr>
          <p:cNvPr id="17" name="Text 15"/>
          <p:cNvSpPr/>
          <p:nvPr/>
        </p:nvSpPr>
        <p:spPr>
          <a:xfrm>
            <a:off x="6892826" y="6588323"/>
            <a:ext cx="4952420" cy="523875"/>
          </a:xfrm>
          <a:prstGeom prst="rect">
            <a:avLst/>
          </a:prstGeom>
          <a:noFill/>
          <a:ln/>
        </p:spPr>
        <p:txBody>
          <a:bodyPr wrap="square" lIns="25400" tIns="25400" rIns="25400" bIns="25400" rtlCol="0" anchor="t">
            <a:normAutofit/>
          </a:bodyPr>
          <a:lstStyle/>
          <a:p>
            <a:pPr algn="l" indent="0" marL="0">
              <a:lnSpc>
                <a:spcPct val="134211"/>
              </a:lnSpc>
              <a:buNone/>
            </a:pPr>
            <a:r>
              <a:rPr lang="en-US" sz="2550" b="1" dirty="0">
                <a:solidFill>
                  <a:srgbClr val="76B900"/>
                </a:solidFill>
                <a:latin typeface="Courier New" pitchFamily="34" charset="0"/>
                <a:ea typeface="Courier New" pitchFamily="34" charset="-122"/>
                <a:cs typeface="Courier New" pitchFamily="34" charset="-120"/>
              </a:rPr>
              <a:t>SVA</a:t>
            </a:r>
            <a:endParaRPr lang="en-US" sz="2550" dirty="0"/>
          </a:p>
        </p:txBody>
      </p:sp>
      <p:sp>
        <p:nvSpPr>
          <p:cNvPr id="18" name="Text 16"/>
          <p:cNvSpPr/>
          <p:nvPr/>
        </p:nvSpPr>
        <p:spPr>
          <a:xfrm>
            <a:off x="6892826" y="7245548"/>
            <a:ext cx="4637266" cy="1198066"/>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B6B8BD"/>
                </a:solidFill>
                <a:latin typeface="Arial" pitchFamily="34" charset="0"/>
                <a:ea typeface="Arial" pitchFamily="34" charset="-122"/>
                <a:cs typeface="Arial" pitchFamily="34" charset="-120"/>
              </a:rPr>
              <a:t>SystemVerilog Assertion. Mệnh đề kiểm tra hành vi RTL ngay trong lúc sim, gắn với một REQ-ID cụ thể.</a:t>
            </a:r>
            <a:endParaRPr lang="en-US" sz="2100" dirty="0"/>
          </a:p>
        </p:txBody>
      </p:sp>
      <p:sp>
        <p:nvSpPr>
          <p:cNvPr id="19" name="Shape 17"/>
          <p:cNvSpPr/>
          <p:nvPr/>
        </p:nvSpPr>
        <p:spPr>
          <a:xfrm>
            <a:off x="12052250" y="6197798"/>
            <a:ext cx="5283250" cy="3327202"/>
          </a:xfrm>
          <a:prstGeom prst="roundRect">
            <a:avLst>
              <a:gd name="adj" fmla="val 3435"/>
            </a:avLst>
          </a:prstGeom>
          <a:solidFill>
            <a:srgbClr val="16171A"/>
          </a:solidFill>
          <a:ln w="9525">
            <a:solidFill>
              <a:srgbClr val="2E3033"/>
            </a:solidFill>
            <a:prstDash val="solid"/>
          </a:ln>
        </p:spPr>
      </p:sp>
      <p:sp>
        <p:nvSpPr>
          <p:cNvPr id="20" name="Text 18"/>
          <p:cNvSpPr/>
          <p:nvPr/>
        </p:nvSpPr>
        <p:spPr>
          <a:xfrm>
            <a:off x="12442775" y="6588323"/>
            <a:ext cx="4952420" cy="523875"/>
          </a:xfrm>
          <a:prstGeom prst="rect">
            <a:avLst/>
          </a:prstGeom>
          <a:noFill/>
          <a:ln/>
        </p:spPr>
        <p:txBody>
          <a:bodyPr wrap="square" lIns="25400" tIns="25400" rIns="25400" bIns="25400" rtlCol="0" anchor="t">
            <a:normAutofit/>
          </a:bodyPr>
          <a:lstStyle/>
          <a:p>
            <a:pPr algn="l" indent="0" marL="0">
              <a:lnSpc>
                <a:spcPct val="134211"/>
              </a:lnSpc>
              <a:buNone/>
            </a:pPr>
            <a:r>
              <a:rPr lang="en-US" sz="2550" b="1" dirty="0">
                <a:solidFill>
                  <a:srgbClr val="76B900"/>
                </a:solidFill>
                <a:latin typeface="Courier New" pitchFamily="34" charset="0"/>
                <a:ea typeface="Courier New" pitchFamily="34" charset="-122"/>
                <a:cs typeface="Courier New" pitchFamily="34" charset="-120"/>
              </a:rPr>
              <a:t>RTM</a:t>
            </a:r>
            <a:endParaRPr lang="en-US" sz="2550" dirty="0"/>
          </a:p>
        </p:txBody>
      </p:sp>
      <p:sp>
        <p:nvSpPr>
          <p:cNvPr id="21" name="Text 19"/>
          <p:cNvSpPr/>
          <p:nvPr/>
        </p:nvSpPr>
        <p:spPr>
          <a:xfrm>
            <a:off x="12442775" y="7245548"/>
            <a:ext cx="4637266" cy="1584722"/>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B6B8BD"/>
                </a:solidFill>
                <a:latin typeface="Arial" pitchFamily="34" charset="0"/>
                <a:ea typeface="Arial" pitchFamily="34" charset="-122"/>
                <a:cs typeface="Arial" pitchFamily="34" charset="-120"/>
              </a:rPr>
              <a:t>Requirement Traceability Matrix. Bảng nối mọi REQ-ID với RTL, SVA, TC-ID và trạng thái sign-off tương ứng.</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214"/>
        </a:solidFill>
      </p:bgPr>
    </p:bg>
    <p:spTree>
      <p:nvGrpSpPr>
        <p:cNvPr id="1" name=""/>
        <p:cNvGrpSpPr/>
        <p:nvPr/>
      </p:nvGrpSpPr>
      <p:grpSpPr>
        <a:xfrm>
          <a:off x="0" y="0"/>
          <a:ext cx="0" cy="0"/>
          <a:chOff x="0" y="0"/>
          <a:chExt cx="0" cy="0"/>
        </a:xfrm>
      </p:grpSpPr>
      <p:sp>
        <p:nvSpPr>
          <p:cNvPr id="2" name="Text 0"/>
          <p:cNvSpPr/>
          <p:nvPr/>
        </p:nvSpPr>
        <p:spPr>
          <a:xfrm>
            <a:off x="952500" y="952500"/>
            <a:ext cx="18021300" cy="409575"/>
          </a:xfrm>
          <a:prstGeom prst="rect">
            <a:avLst/>
          </a:prstGeom>
          <a:noFill/>
          <a:ln/>
        </p:spPr>
        <p:txBody>
          <a:bodyPr wrap="square" lIns="25400" tIns="25400" rIns="25400" bIns="25400" rtlCol="0" anchor="t">
            <a:normAutofit/>
          </a:bodyPr>
          <a:lstStyle/>
          <a:p>
            <a:pPr algn="l" indent="0" marL="0">
              <a:lnSpc>
                <a:spcPct val="125806"/>
              </a:lnSpc>
              <a:buNone/>
            </a:pPr>
            <a:r>
              <a:rPr lang="en-US" sz="1950" b="1" spc="312" kern="0" dirty="0">
                <a:solidFill>
                  <a:srgbClr val="76B900"/>
                </a:solidFill>
                <a:latin typeface="Arial" pitchFamily="34" charset="0"/>
                <a:ea typeface="Arial" pitchFamily="34" charset="-122"/>
                <a:cs typeface="Arial" pitchFamily="34" charset="-120"/>
              </a:rPr>
              <a:t>03 · KIẾN TRÚC</a:t>
            </a:r>
            <a:endParaRPr lang="en-US" sz="1950" dirty="0"/>
          </a:p>
        </p:txBody>
      </p:sp>
      <p:sp>
        <p:nvSpPr>
          <p:cNvPr id="3" name="Text 1"/>
          <p:cNvSpPr/>
          <p:nvPr/>
        </p:nvSpPr>
        <p:spPr>
          <a:xfrm>
            <a:off x="952500" y="1476375"/>
            <a:ext cx="18021300" cy="708571"/>
          </a:xfrm>
          <a:prstGeom prst="rect">
            <a:avLst/>
          </a:prstGeom>
          <a:noFill/>
          <a:ln/>
        </p:spPr>
        <p:txBody>
          <a:bodyPr wrap="square" lIns="25400" tIns="25400" rIns="25400" bIns="25400" rtlCol="0" anchor="t">
            <a:normAutofit/>
          </a:bodyPr>
          <a:lstStyle/>
          <a:p>
            <a:pPr algn="l" indent="0" marL="0">
              <a:lnSpc>
                <a:spcPct val="95135"/>
              </a:lnSpc>
              <a:buNone/>
            </a:pPr>
            <a:r>
              <a:rPr lang="en-US" sz="4800" b="1" dirty="0">
                <a:solidFill>
                  <a:srgbClr val="FFFFFF"/>
                </a:solidFill>
                <a:latin typeface="Arial" pitchFamily="34" charset="0"/>
                <a:ea typeface="Arial" pitchFamily="34" charset="-122"/>
                <a:cs typeface="Arial" pitchFamily="34" charset="-120"/>
              </a:rPr>
              <a:t>Năm phase, mỗi phase đóng bằng một gate</a:t>
            </a:r>
            <a:endParaRPr lang="en-US" sz="4800" dirty="0"/>
          </a:p>
        </p:txBody>
      </p:sp>
      <p:sp>
        <p:nvSpPr>
          <p:cNvPr id="4" name="Shape 2"/>
          <p:cNvSpPr/>
          <p:nvPr/>
        </p:nvSpPr>
        <p:spPr>
          <a:xfrm>
            <a:off x="952500" y="2642146"/>
            <a:ext cx="3124200" cy="5049292"/>
          </a:xfrm>
          <a:prstGeom prst="roundRect">
            <a:avLst>
              <a:gd name="adj" fmla="val 3049"/>
            </a:avLst>
          </a:prstGeom>
          <a:solidFill>
            <a:srgbClr val="1C1E21"/>
          </a:solidFill>
          <a:ln/>
        </p:spPr>
      </p:sp>
      <p:sp>
        <p:nvSpPr>
          <p:cNvPr id="5" name="Shape 3"/>
          <p:cNvSpPr/>
          <p:nvPr/>
        </p:nvSpPr>
        <p:spPr>
          <a:xfrm>
            <a:off x="952500" y="7681912"/>
            <a:ext cx="3124200" cy="9525"/>
          </a:xfrm>
          <a:prstGeom prst="rect">
            <a:avLst/>
          </a:prstGeom>
          <a:solidFill>
            <a:srgbClr val="2E3033"/>
          </a:solidFill>
          <a:ln/>
        </p:spPr>
      </p:sp>
      <p:sp>
        <p:nvSpPr>
          <p:cNvPr id="6" name="Shape 4"/>
          <p:cNvSpPr/>
          <p:nvPr/>
        </p:nvSpPr>
        <p:spPr>
          <a:xfrm>
            <a:off x="952500" y="2642146"/>
            <a:ext cx="3124200" cy="38100"/>
          </a:xfrm>
          <a:prstGeom prst="rect">
            <a:avLst/>
          </a:prstGeom>
          <a:solidFill>
            <a:srgbClr val="76B900"/>
          </a:solidFill>
          <a:ln/>
        </p:spPr>
      </p:sp>
      <p:sp>
        <p:nvSpPr>
          <p:cNvPr id="7" name="Shape 5"/>
          <p:cNvSpPr/>
          <p:nvPr/>
        </p:nvSpPr>
        <p:spPr>
          <a:xfrm>
            <a:off x="952500" y="2642146"/>
            <a:ext cx="9525" cy="5049292"/>
          </a:xfrm>
          <a:prstGeom prst="rect">
            <a:avLst/>
          </a:prstGeom>
          <a:solidFill>
            <a:srgbClr val="2E3033"/>
          </a:solidFill>
          <a:ln/>
        </p:spPr>
      </p:sp>
      <p:sp>
        <p:nvSpPr>
          <p:cNvPr id="8" name="Shape 6"/>
          <p:cNvSpPr/>
          <p:nvPr/>
        </p:nvSpPr>
        <p:spPr>
          <a:xfrm>
            <a:off x="4067175" y="2642146"/>
            <a:ext cx="9525" cy="5049292"/>
          </a:xfrm>
          <a:prstGeom prst="rect">
            <a:avLst/>
          </a:prstGeom>
          <a:solidFill>
            <a:srgbClr val="2E3033"/>
          </a:solidFill>
          <a:ln/>
        </p:spPr>
      </p:sp>
      <p:sp>
        <p:nvSpPr>
          <p:cNvPr id="9" name="Text 7"/>
          <p:cNvSpPr/>
          <p:nvPr/>
        </p:nvSpPr>
        <p:spPr>
          <a:xfrm>
            <a:off x="1266825" y="2985046"/>
            <a:ext cx="2745105" cy="409575"/>
          </a:xfrm>
          <a:prstGeom prst="rect">
            <a:avLst/>
          </a:prstGeom>
          <a:noFill/>
          <a:ln/>
        </p:spPr>
        <p:txBody>
          <a:bodyPr wrap="square" lIns="25400" tIns="25400" rIns="25400" bIns="25400" rtlCol="0" anchor="t">
            <a:normAutofit/>
          </a:bodyPr>
          <a:lstStyle/>
          <a:p>
            <a:pPr algn="l" indent="0" marL="0">
              <a:lnSpc>
                <a:spcPct val="125806"/>
              </a:lnSpc>
              <a:buNone/>
            </a:pPr>
            <a:r>
              <a:rPr lang="en-US" sz="1950" b="1" dirty="0">
                <a:solidFill>
                  <a:srgbClr val="8A8D93"/>
                </a:solidFill>
                <a:latin typeface="Arial" pitchFamily="34" charset="0"/>
                <a:ea typeface="Arial" pitchFamily="34" charset="-122"/>
                <a:cs typeface="Arial" pitchFamily="34" charset="-120"/>
              </a:rPr>
              <a:t>Phase 1</a:t>
            </a:r>
            <a:endParaRPr lang="en-US" sz="1950" dirty="0"/>
          </a:p>
        </p:txBody>
      </p:sp>
      <p:sp>
        <p:nvSpPr>
          <p:cNvPr id="10" name="Text 8"/>
          <p:cNvSpPr/>
          <p:nvPr/>
        </p:nvSpPr>
        <p:spPr>
          <a:xfrm>
            <a:off x="1266825" y="3489871"/>
            <a:ext cx="2745105" cy="426690"/>
          </a:xfrm>
          <a:prstGeom prst="rect">
            <a:avLst/>
          </a:prstGeom>
          <a:noFill/>
          <a:ln/>
        </p:spPr>
        <p:txBody>
          <a:bodyPr wrap="square" lIns="25400" tIns="25400" rIns="25400" bIns="25400" rtlCol="0" anchor="t">
            <a:normAutofit/>
          </a:bodyPr>
          <a:lstStyle/>
          <a:p>
            <a:pPr algn="l" indent="0" marL="0">
              <a:lnSpc>
                <a:spcPct val="104615"/>
              </a:lnSpc>
              <a:buNone/>
            </a:pPr>
            <a:r>
              <a:rPr lang="en-US" sz="2550" b="1" dirty="0">
                <a:solidFill>
                  <a:srgbClr val="FFFFFF"/>
                </a:solidFill>
                <a:latin typeface="Arial" pitchFamily="34" charset="0"/>
                <a:ea typeface="Arial" pitchFamily="34" charset="-122"/>
                <a:cs typeface="Arial" pitchFamily="34" charset="-120"/>
              </a:rPr>
              <a:t>Spec ingestion</a:t>
            </a:r>
            <a:endParaRPr lang="en-US" sz="2550" dirty="0"/>
          </a:p>
        </p:txBody>
      </p:sp>
      <p:sp>
        <p:nvSpPr>
          <p:cNvPr id="11" name="Text 9"/>
          <p:cNvSpPr/>
          <p:nvPr/>
        </p:nvSpPr>
        <p:spPr>
          <a:xfrm>
            <a:off x="1266825" y="4011811"/>
            <a:ext cx="2571750" cy="731341"/>
          </a:xfrm>
          <a:prstGeom prst="rect">
            <a:avLst/>
          </a:prstGeom>
          <a:noFill/>
          <a:ln/>
        </p:spPr>
        <p:txBody>
          <a:bodyPr wrap="square" lIns="25400" tIns="25400" rIns="25400" bIns="25400" rtlCol="0" anchor="t">
            <a:normAutofit/>
          </a:bodyPr>
          <a:lstStyle/>
          <a:p>
            <a:pPr algn="l" indent="0" marL="0">
              <a:lnSpc>
                <a:spcPct val="117419"/>
              </a:lnSpc>
              <a:buNone/>
            </a:pPr>
            <a:r>
              <a:rPr lang="en-US" sz="1950" dirty="0">
                <a:solidFill>
                  <a:srgbClr val="B6B8BD"/>
                </a:solidFill>
                <a:latin typeface="Arial" pitchFamily="34" charset="0"/>
                <a:ea typeface="Arial" pitchFamily="34" charset="-122"/>
                <a:cs typeface="Arial" pitchFamily="34" charset="-120"/>
              </a:rPr>
              <a:t>REQ-ID, phân loại, ambiguity score</a:t>
            </a:r>
            <a:endParaRPr lang="en-US" sz="1950" dirty="0"/>
          </a:p>
        </p:txBody>
      </p:sp>
      <p:sp>
        <p:nvSpPr>
          <p:cNvPr id="12" name="Shape 10"/>
          <p:cNvSpPr/>
          <p:nvPr/>
        </p:nvSpPr>
        <p:spPr>
          <a:xfrm>
            <a:off x="952500" y="7843838"/>
            <a:ext cx="3124200" cy="771525"/>
          </a:xfrm>
          <a:prstGeom prst="roundRect">
            <a:avLst>
              <a:gd name="adj" fmla="val 9877"/>
            </a:avLst>
          </a:prstGeom>
          <a:solidFill>
            <a:srgbClr val="76B900">
              <a:alpha val="12000"/>
            </a:srgbClr>
          </a:solidFill>
          <a:ln w="9525">
            <a:solidFill>
              <a:srgbClr val="76B900">
                <a:alpha val="45000"/>
              </a:srgbClr>
            </a:solidFill>
            <a:prstDash val="solid"/>
          </a:ln>
        </p:spPr>
      </p:sp>
      <p:sp>
        <p:nvSpPr>
          <p:cNvPr id="13" name="Text 11"/>
          <p:cNvSpPr/>
          <p:nvPr/>
        </p:nvSpPr>
        <p:spPr>
          <a:xfrm>
            <a:off x="1105662" y="8043863"/>
            <a:ext cx="2817876" cy="409575"/>
          </a:xfrm>
          <a:prstGeom prst="rect">
            <a:avLst/>
          </a:prstGeom>
          <a:noFill/>
          <a:ln/>
        </p:spPr>
        <p:txBody>
          <a:bodyPr wrap="square" lIns="25400" tIns="25400" rIns="25400" bIns="25400" rtlCol="0" anchor="t">
            <a:normAutofit/>
          </a:bodyPr>
          <a:lstStyle/>
          <a:p>
            <a:pPr algn="ctr" indent="0" marL="0">
              <a:lnSpc>
                <a:spcPct val="125806"/>
              </a:lnSpc>
              <a:buNone/>
            </a:pPr>
            <a:r>
              <a:rPr lang="en-US" sz="1950" b="1" dirty="0">
                <a:solidFill>
                  <a:srgbClr val="A3E635"/>
                </a:solidFill>
                <a:latin typeface="Arial" pitchFamily="34" charset="0"/>
                <a:ea typeface="Arial" pitchFamily="34" charset="-122"/>
                <a:cs typeface="Arial" pitchFamily="34" charset="-120"/>
              </a:rPr>
              <a:t>Gate 1 · Spec Review</a:t>
            </a:r>
            <a:endParaRPr lang="en-US" sz="1950" dirty="0"/>
          </a:p>
        </p:txBody>
      </p:sp>
      <p:sp>
        <p:nvSpPr>
          <p:cNvPr id="14" name="Shape 12"/>
          <p:cNvSpPr/>
          <p:nvPr/>
        </p:nvSpPr>
        <p:spPr>
          <a:xfrm>
            <a:off x="4267200" y="2642146"/>
            <a:ext cx="3124200" cy="5049292"/>
          </a:xfrm>
          <a:prstGeom prst="roundRect">
            <a:avLst>
              <a:gd name="adj" fmla="val 3049"/>
            </a:avLst>
          </a:prstGeom>
          <a:solidFill>
            <a:srgbClr val="1C1E21"/>
          </a:solidFill>
          <a:ln/>
        </p:spPr>
      </p:sp>
      <p:sp>
        <p:nvSpPr>
          <p:cNvPr id="15" name="Shape 13"/>
          <p:cNvSpPr/>
          <p:nvPr/>
        </p:nvSpPr>
        <p:spPr>
          <a:xfrm>
            <a:off x="4267200" y="7681912"/>
            <a:ext cx="3124200" cy="9525"/>
          </a:xfrm>
          <a:prstGeom prst="rect">
            <a:avLst/>
          </a:prstGeom>
          <a:solidFill>
            <a:srgbClr val="2E3033"/>
          </a:solidFill>
          <a:ln/>
        </p:spPr>
      </p:sp>
      <p:sp>
        <p:nvSpPr>
          <p:cNvPr id="16" name="Shape 14"/>
          <p:cNvSpPr/>
          <p:nvPr/>
        </p:nvSpPr>
        <p:spPr>
          <a:xfrm>
            <a:off x="4267200" y="2642146"/>
            <a:ext cx="3124200" cy="38100"/>
          </a:xfrm>
          <a:prstGeom prst="rect">
            <a:avLst/>
          </a:prstGeom>
          <a:solidFill>
            <a:srgbClr val="76B900"/>
          </a:solidFill>
          <a:ln/>
        </p:spPr>
      </p:sp>
      <p:sp>
        <p:nvSpPr>
          <p:cNvPr id="17" name="Shape 15"/>
          <p:cNvSpPr/>
          <p:nvPr/>
        </p:nvSpPr>
        <p:spPr>
          <a:xfrm>
            <a:off x="4267200" y="2642146"/>
            <a:ext cx="9525" cy="5049292"/>
          </a:xfrm>
          <a:prstGeom prst="rect">
            <a:avLst/>
          </a:prstGeom>
          <a:solidFill>
            <a:srgbClr val="2E3033"/>
          </a:solidFill>
          <a:ln/>
        </p:spPr>
      </p:sp>
      <p:sp>
        <p:nvSpPr>
          <p:cNvPr id="18" name="Shape 16"/>
          <p:cNvSpPr/>
          <p:nvPr/>
        </p:nvSpPr>
        <p:spPr>
          <a:xfrm>
            <a:off x="7381875" y="2642146"/>
            <a:ext cx="9525" cy="5049292"/>
          </a:xfrm>
          <a:prstGeom prst="rect">
            <a:avLst/>
          </a:prstGeom>
          <a:solidFill>
            <a:srgbClr val="2E3033"/>
          </a:solidFill>
          <a:ln/>
        </p:spPr>
      </p:sp>
      <p:sp>
        <p:nvSpPr>
          <p:cNvPr id="19" name="Text 17"/>
          <p:cNvSpPr/>
          <p:nvPr/>
        </p:nvSpPr>
        <p:spPr>
          <a:xfrm>
            <a:off x="4581525" y="2985046"/>
            <a:ext cx="2745105" cy="409575"/>
          </a:xfrm>
          <a:prstGeom prst="rect">
            <a:avLst/>
          </a:prstGeom>
          <a:noFill/>
          <a:ln/>
        </p:spPr>
        <p:txBody>
          <a:bodyPr wrap="square" lIns="25400" tIns="25400" rIns="25400" bIns="25400" rtlCol="0" anchor="t">
            <a:normAutofit/>
          </a:bodyPr>
          <a:lstStyle/>
          <a:p>
            <a:pPr algn="l" indent="0" marL="0">
              <a:lnSpc>
                <a:spcPct val="125806"/>
              </a:lnSpc>
              <a:buNone/>
            </a:pPr>
            <a:r>
              <a:rPr lang="en-US" sz="1950" b="1" dirty="0">
                <a:solidFill>
                  <a:srgbClr val="8A8D93"/>
                </a:solidFill>
                <a:latin typeface="Arial" pitchFamily="34" charset="0"/>
                <a:ea typeface="Arial" pitchFamily="34" charset="-122"/>
                <a:cs typeface="Arial" pitchFamily="34" charset="-120"/>
              </a:rPr>
              <a:t>Phase 2</a:t>
            </a:r>
            <a:endParaRPr lang="en-US" sz="1950" dirty="0"/>
          </a:p>
        </p:txBody>
      </p:sp>
      <p:sp>
        <p:nvSpPr>
          <p:cNvPr id="20" name="Text 18"/>
          <p:cNvSpPr/>
          <p:nvPr/>
        </p:nvSpPr>
        <p:spPr>
          <a:xfrm>
            <a:off x="4581525" y="3489871"/>
            <a:ext cx="2745105" cy="426690"/>
          </a:xfrm>
          <a:prstGeom prst="rect">
            <a:avLst/>
          </a:prstGeom>
          <a:noFill/>
          <a:ln/>
        </p:spPr>
        <p:txBody>
          <a:bodyPr wrap="square" lIns="25400" tIns="25400" rIns="25400" bIns="25400" rtlCol="0" anchor="t">
            <a:normAutofit/>
          </a:bodyPr>
          <a:lstStyle/>
          <a:p>
            <a:pPr algn="l" indent="0" marL="0">
              <a:lnSpc>
                <a:spcPct val="104615"/>
              </a:lnSpc>
              <a:buNone/>
            </a:pPr>
            <a:r>
              <a:rPr lang="en-US" sz="2550" b="1" dirty="0">
                <a:solidFill>
                  <a:srgbClr val="FFFFFF"/>
                </a:solidFill>
                <a:latin typeface="Arial" pitchFamily="34" charset="0"/>
                <a:ea typeface="Arial" pitchFamily="34" charset="-122"/>
                <a:cs typeface="Arial" pitchFamily="34" charset="-120"/>
              </a:rPr>
              <a:t>Configuration</a:t>
            </a:r>
            <a:endParaRPr lang="en-US" sz="2550" dirty="0"/>
          </a:p>
        </p:txBody>
      </p:sp>
      <p:sp>
        <p:nvSpPr>
          <p:cNvPr id="21" name="Text 19"/>
          <p:cNvSpPr/>
          <p:nvPr/>
        </p:nvSpPr>
        <p:spPr>
          <a:xfrm>
            <a:off x="4581525" y="4011811"/>
            <a:ext cx="2571750" cy="731341"/>
          </a:xfrm>
          <a:prstGeom prst="rect">
            <a:avLst/>
          </a:prstGeom>
          <a:noFill/>
          <a:ln/>
        </p:spPr>
        <p:txBody>
          <a:bodyPr wrap="square" lIns="25400" tIns="25400" rIns="25400" bIns="25400" rtlCol="0" anchor="t">
            <a:normAutofit/>
          </a:bodyPr>
          <a:lstStyle/>
          <a:p>
            <a:pPr algn="l" indent="0" marL="0">
              <a:lnSpc>
                <a:spcPct val="117419"/>
              </a:lnSpc>
              <a:buNone/>
            </a:pPr>
            <a:r>
              <a:rPr lang="en-US" sz="1950" dirty="0">
                <a:solidFill>
                  <a:srgbClr val="B6B8BD"/>
                </a:solidFill>
                <a:latin typeface="Arial" pitchFamily="34" charset="0"/>
                <a:ea typeface="Arial" pitchFamily="34" charset="-122"/>
                <a:cs typeface="Arial" pitchFamily="34" charset="-120"/>
              </a:rPr>
              <a:t>Parameter, style constraints</a:t>
            </a:r>
            <a:endParaRPr lang="en-US" sz="1950" dirty="0"/>
          </a:p>
        </p:txBody>
      </p:sp>
      <p:sp>
        <p:nvSpPr>
          <p:cNvPr id="22" name="Shape 20"/>
          <p:cNvSpPr/>
          <p:nvPr/>
        </p:nvSpPr>
        <p:spPr>
          <a:xfrm>
            <a:off x="4267200" y="7843838"/>
            <a:ext cx="3124200" cy="771525"/>
          </a:xfrm>
          <a:prstGeom prst="roundRect">
            <a:avLst>
              <a:gd name="adj" fmla="val 9877"/>
            </a:avLst>
          </a:prstGeom>
          <a:solidFill>
            <a:srgbClr val="76B900">
              <a:alpha val="12000"/>
            </a:srgbClr>
          </a:solidFill>
          <a:ln w="9525">
            <a:solidFill>
              <a:srgbClr val="76B900">
                <a:alpha val="45000"/>
              </a:srgbClr>
            </a:solidFill>
            <a:prstDash val="solid"/>
          </a:ln>
        </p:spPr>
      </p:sp>
      <p:sp>
        <p:nvSpPr>
          <p:cNvPr id="23" name="Text 21"/>
          <p:cNvSpPr/>
          <p:nvPr/>
        </p:nvSpPr>
        <p:spPr>
          <a:xfrm>
            <a:off x="4420362" y="8043863"/>
            <a:ext cx="2817876" cy="409575"/>
          </a:xfrm>
          <a:prstGeom prst="rect">
            <a:avLst/>
          </a:prstGeom>
          <a:noFill/>
          <a:ln/>
        </p:spPr>
        <p:txBody>
          <a:bodyPr wrap="square" lIns="25400" tIns="25400" rIns="25400" bIns="25400" rtlCol="0" anchor="t">
            <a:normAutofit/>
          </a:bodyPr>
          <a:lstStyle/>
          <a:p>
            <a:pPr algn="ctr" indent="0" marL="0">
              <a:lnSpc>
                <a:spcPct val="125806"/>
              </a:lnSpc>
              <a:buNone/>
            </a:pPr>
            <a:r>
              <a:rPr lang="en-US" sz="1950" b="1" dirty="0">
                <a:solidFill>
                  <a:srgbClr val="A3E635"/>
                </a:solidFill>
                <a:latin typeface="Arial" pitchFamily="34" charset="0"/>
                <a:ea typeface="Arial" pitchFamily="34" charset="-122"/>
                <a:cs typeface="Arial" pitchFamily="34" charset="-120"/>
              </a:rPr>
              <a:t>Gate 2 · Config</a:t>
            </a:r>
            <a:endParaRPr lang="en-US" sz="1950" dirty="0"/>
          </a:p>
        </p:txBody>
      </p:sp>
      <p:sp>
        <p:nvSpPr>
          <p:cNvPr id="24" name="Shape 22"/>
          <p:cNvSpPr/>
          <p:nvPr/>
        </p:nvSpPr>
        <p:spPr>
          <a:xfrm>
            <a:off x="7581900" y="2642146"/>
            <a:ext cx="3124200" cy="4677817"/>
          </a:xfrm>
          <a:prstGeom prst="roundRect">
            <a:avLst>
              <a:gd name="adj" fmla="val 3049"/>
            </a:avLst>
          </a:prstGeom>
          <a:solidFill>
            <a:srgbClr val="1C1E21"/>
          </a:solidFill>
          <a:ln/>
        </p:spPr>
      </p:sp>
      <p:sp>
        <p:nvSpPr>
          <p:cNvPr id="25" name="Shape 23"/>
          <p:cNvSpPr/>
          <p:nvPr/>
        </p:nvSpPr>
        <p:spPr>
          <a:xfrm>
            <a:off x="7581900" y="7310438"/>
            <a:ext cx="3124200" cy="9525"/>
          </a:xfrm>
          <a:prstGeom prst="rect">
            <a:avLst/>
          </a:prstGeom>
          <a:solidFill>
            <a:srgbClr val="2E3033"/>
          </a:solidFill>
          <a:ln/>
        </p:spPr>
      </p:sp>
      <p:sp>
        <p:nvSpPr>
          <p:cNvPr id="26" name="Shape 24"/>
          <p:cNvSpPr/>
          <p:nvPr/>
        </p:nvSpPr>
        <p:spPr>
          <a:xfrm>
            <a:off x="7581900" y="2642146"/>
            <a:ext cx="3124200" cy="38100"/>
          </a:xfrm>
          <a:prstGeom prst="rect">
            <a:avLst/>
          </a:prstGeom>
          <a:solidFill>
            <a:srgbClr val="76B900"/>
          </a:solidFill>
          <a:ln/>
        </p:spPr>
      </p:sp>
      <p:sp>
        <p:nvSpPr>
          <p:cNvPr id="27" name="Shape 25"/>
          <p:cNvSpPr/>
          <p:nvPr/>
        </p:nvSpPr>
        <p:spPr>
          <a:xfrm>
            <a:off x="7581900" y="2642146"/>
            <a:ext cx="9525" cy="4677817"/>
          </a:xfrm>
          <a:prstGeom prst="rect">
            <a:avLst/>
          </a:prstGeom>
          <a:solidFill>
            <a:srgbClr val="2E3033"/>
          </a:solidFill>
          <a:ln/>
        </p:spPr>
      </p:sp>
      <p:sp>
        <p:nvSpPr>
          <p:cNvPr id="28" name="Shape 26"/>
          <p:cNvSpPr/>
          <p:nvPr/>
        </p:nvSpPr>
        <p:spPr>
          <a:xfrm>
            <a:off x="10696575" y="2642146"/>
            <a:ext cx="9525" cy="4677817"/>
          </a:xfrm>
          <a:prstGeom prst="rect">
            <a:avLst/>
          </a:prstGeom>
          <a:solidFill>
            <a:srgbClr val="2E3033"/>
          </a:solidFill>
          <a:ln/>
        </p:spPr>
      </p:sp>
      <p:sp>
        <p:nvSpPr>
          <p:cNvPr id="29" name="Text 27"/>
          <p:cNvSpPr/>
          <p:nvPr/>
        </p:nvSpPr>
        <p:spPr>
          <a:xfrm>
            <a:off x="7896225" y="2985046"/>
            <a:ext cx="2745105" cy="409575"/>
          </a:xfrm>
          <a:prstGeom prst="rect">
            <a:avLst/>
          </a:prstGeom>
          <a:noFill/>
          <a:ln/>
        </p:spPr>
        <p:txBody>
          <a:bodyPr wrap="square" lIns="25400" tIns="25400" rIns="25400" bIns="25400" rtlCol="0" anchor="t">
            <a:normAutofit/>
          </a:bodyPr>
          <a:lstStyle/>
          <a:p>
            <a:pPr algn="l" indent="0" marL="0">
              <a:lnSpc>
                <a:spcPct val="125806"/>
              </a:lnSpc>
              <a:buNone/>
            </a:pPr>
            <a:r>
              <a:rPr lang="en-US" sz="1950" b="1" dirty="0">
                <a:solidFill>
                  <a:srgbClr val="8A8D93"/>
                </a:solidFill>
                <a:latin typeface="Arial" pitchFamily="34" charset="0"/>
                <a:ea typeface="Arial" pitchFamily="34" charset="-122"/>
                <a:cs typeface="Arial" pitchFamily="34" charset="-120"/>
              </a:rPr>
              <a:t>Phase 3</a:t>
            </a:r>
            <a:endParaRPr lang="en-US" sz="1950" dirty="0"/>
          </a:p>
        </p:txBody>
      </p:sp>
      <p:sp>
        <p:nvSpPr>
          <p:cNvPr id="30" name="Text 28"/>
          <p:cNvSpPr/>
          <p:nvPr/>
        </p:nvSpPr>
        <p:spPr>
          <a:xfrm>
            <a:off x="7896225" y="3489871"/>
            <a:ext cx="2745105" cy="426690"/>
          </a:xfrm>
          <a:prstGeom prst="rect">
            <a:avLst/>
          </a:prstGeom>
          <a:noFill/>
          <a:ln/>
        </p:spPr>
        <p:txBody>
          <a:bodyPr wrap="square" lIns="25400" tIns="25400" rIns="25400" bIns="25400" rtlCol="0" anchor="t">
            <a:normAutofit/>
          </a:bodyPr>
          <a:lstStyle/>
          <a:p>
            <a:pPr algn="l" indent="0" marL="0">
              <a:lnSpc>
                <a:spcPct val="104615"/>
              </a:lnSpc>
              <a:buNone/>
            </a:pPr>
            <a:r>
              <a:rPr lang="en-US" sz="2550" b="1" dirty="0">
                <a:solidFill>
                  <a:srgbClr val="FFFFFF"/>
                </a:solidFill>
                <a:latin typeface="Arial" pitchFamily="34" charset="0"/>
                <a:ea typeface="Arial" pitchFamily="34" charset="-122"/>
                <a:cs typeface="Arial" pitchFamily="34" charset="-120"/>
              </a:rPr>
              <a:t>RTL + SVA</a:t>
            </a:r>
            <a:endParaRPr lang="en-US" sz="2550" dirty="0"/>
          </a:p>
        </p:txBody>
      </p:sp>
      <p:sp>
        <p:nvSpPr>
          <p:cNvPr id="31" name="Text 29"/>
          <p:cNvSpPr/>
          <p:nvPr/>
        </p:nvSpPr>
        <p:spPr>
          <a:xfrm>
            <a:off x="7896225" y="4011811"/>
            <a:ext cx="2571750" cy="731341"/>
          </a:xfrm>
          <a:prstGeom prst="rect">
            <a:avLst/>
          </a:prstGeom>
          <a:noFill/>
          <a:ln/>
        </p:spPr>
        <p:txBody>
          <a:bodyPr wrap="square" lIns="25400" tIns="25400" rIns="25400" bIns="25400" rtlCol="0" anchor="t">
            <a:normAutofit/>
          </a:bodyPr>
          <a:lstStyle/>
          <a:p>
            <a:pPr algn="l" indent="0" marL="0">
              <a:lnSpc>
                <a:spcPct val="117419"/>
              </a:lnSpc>
              <a:buNone/>
            </a:pPr>
            <a:r>
              <a:rPr lang="en-US" sz="1950" dirty="0">
                <a:solidFill>
                  <a:srgbClr val="B6B8BD"/>
                </a:solidFill>
                <a:latin typeface="Arial" pitchFamily="34" charset="0"/>
                <a:ea typeface="Arial" pitchFamily="34" charset="-122"/>
                <a:cs typeface="Arial" pitchFamily="34" charset="-120"/>
              </a:rPr>
              <a:t>Sinh RTL tagged, assertion per REQ</a:t>
            </a:r>
            <a:endParaRPr lang="en-US" sz="1950" dirty="0"/>
          </a:p>
        </p:txBody>
      </p:sp>
      <p:sp>
        <p:nvSpPr>
          <p:cNvPr id="32" name="Shape 30"/>
          <p:cNvSpPr/>
          <p:nvPr/>
        </p:nvSpPr>
        <p:spPr>
          <a:xfrm>
            <a:off x="7581900" y="7472363"/>
            <a:ext cx="3124200" cy="1143000"/>
          </a:xfrm>
          <a:prstGeom prst="roundRect">
            <a:avLst>
              <a:gd name="adj" fmla="val 6667"/>
            </a:avLst>
          </a:prstGeom>
          <a:solidFill>
            <a:srgbClr val="76B900">
              <a:alpha val="12000"/>
            </a:srgbClr>
          </a:solidFill>
          <a:ln w="9525">
            <a:solidFill>
              <a:srgbClr val="76B900">
                <a:alpha val="45000"/>
              </a:srgbClr>
            </a:solidFill>
            <a:prstDash val="solid"/>
          </a:ln>
        </p:spPr>
      </p:sp>
      <p:sp>
        <p:nvSpPr>
          <p:cNvPr id="33" name="Text 31"/>
          <p:cNvSpPr/>
          <p:nvPr/>
        </p:nvSpPr>
        <p:spPr>
          <a:xfrm>
            <a:off x="7735062" y="7672388"/>
            <a:ext cx="2817876" cy="781050"/>
          </a:xfrm>
          <a:prstGeom prst="rect">
            <a:avLst/>
          </a:prstGeom>
          <a:noFill/>
          <a:ln/>
        </p:spPr>
        <p:txBody>
          <a:bodyPr wrap="square" lIns="25400" tIns="25400" rIns="25400" bIns="25400" rtlCol="0" anchor="t">
            <a:normAutofit/>
          </a:bodyPr>
          <a:lstStyle/>
          <a:p>
            <a:pPr algn="ctr" indent="0" marL="0">
              <a:lnSpc>
                <a:spcPct val="125806"/>
              </a:lnSpc>
              <a:buNone/>
            </a:pPr>
            <a:r>
              <a:rPr lang="en-US" sz="1950" b="1" dirty="0">
                <a:solidFill>
                  <a:srgbClr val="A3E635"/>
                </a:solidFill>
                <a:latin typeface="Arial" pitchFamily="34" charset="0"/>
                <a:ea typeface="Arial" pitchFamily="34" charset="-122"/>
                <a:cs typeface="Arial" pitchFamily="34" charset="-120"/>
              </a:rPr>
              <a:t>Gate 3 · Property Review</a:t>
            </a:r>
            <a:endParaRPr lang="en-US" sz="1950" dirty="0"/>
          </a:p>
        </p:txBody>
      </p:sp>
      <p:sp>
        <p:nvSpPr>
          <p:cNvPr id="34" name="Shape 32"/>
          <p:cNvSpPr/>
          <p:nvPr/>
        </p:nvSpPr>
        <p:spPr>
          <a:xfrm>
            <a:off x="10896600" y="2642146"/>
            <a:ext cx="3124200" cy="5049292"/>
          </a:xfrm>
          <a:prstGeom prst="roundRect">
            <a:avLst>
              <a:gd name="adj" fmla="val 3049"/>
            </a:avLst>
          </a:prstGeom>
          <a:solidFill>
            <a:srgbClr val="1C1E21"/>
          </a:solidFill>
          <a:ln/>
        </p:spPr>
      </p:sp>
      <p:sp>
        <p:nvSpPr>
          <p:cNvPr id="35" name="Shape 33"/>
          <p:cNvSpPr/>
          <p:nvPr/>
        </p:nvSpPr>
        <p:spPr>
          <a:xfrm>
            <a:off x="10896600" y="7681912"/>
            <a:ext cx="3124200" cy="9525"/>
          </a:xfrm>
          <a:prstGeom prst="rect">
            <a:avLst/>
          </a:prstGeom>
          <a:solidFill>
            <a:srgbClr val="2E3033"/>
          </a:solidFill>
          <a:ln/>
        </p:spPr>
      </p:sp>
      <p:sp>
        <p:nvSpPr>
          <p:cNvPr id="36" name="Shape 34"/>
          <p:cNvSpPr/>
          <p:nvPr/>
        </p:nvSpPr>
        <p:spPr>
          <a:xfrm>
            <a:off x="10896600" y="2642146"/>
            <a:ext cx="3124200" cy="38100"/>
          </a:xfrm>
          <a:prstGeom prst="rect">
            <a:avLst/>
          </a:prstGeom>
          <a:solidFill>
            <a:srgbClr val="76B900"/>
          </a:solidFill>
          <a:ln/>
        </p:spPr>
      </p:sp>
      <p:sp>
        <p:nvSpPr>
          <p:cNvPr id="37" name="Shape 35"/>
          <p:cNvSpPr/>
          <p:nvPr/>
        </p:nvSpPr>
        <p:spPr>
          <a:xfrm>
            <a:off x="10896600" y="2642146"/>
            <a:ext cx="9525" cy="5049292"/>
          </a:xfrm>
          <a:prstGeom prst="rect">
            <a:avLst/>
          </a:prstGeom>
          <a:solidFill>
            <a:srgbClr val="2E3033"/>
          </a:solidFill>
          <a:ln/>
        </p:spPr>
      </p:sp>
      <p:sp>
        <p:nvSpPr>
          <p:cNvPr id="38" name="Shape 36"/>
          <p:cNvSpPr/>
          <p:nvPr/>
        </p:nvSpPr>
        <p:spPr>
          <a:xfrm>
            <a:off x="14011275" y="2642146"/>
            <a:ext cx="9525" cy="5049292"/>
          </a:xfrm>
          <a:prstGeom prst="rect">
            <a:avLst/>
          </a:prstGeom>
          <a:solidFill>
            <a:srgbClr val="2E3033"/>
          </a:solidFill>
          <a:ln/>
        </p:spPr>
      </p:sp>
      <p:sp>
        <p:nvSpPr>
          <p:cNvPr id="39" name="Text 37"/>
          <p:cNvSpPr/>
          <p:nvPr/>
        </p:nvSpPr>
        <p:spPr>
          <a:xfrm>
            <a:off x="11210925" y="2985046"/>
            <a:ext cx="2745105" cy="409575"/>
          </a:xfrm>
          <a:prstGeom prst="rect">
            <a:avLst/>
          </a:prstGeom>
          <a:noFill/>
          <a:ln/>
        </p:spPr>
        <p:txBody>
          <a:bodyPr wrap="square" lIns="25400" tIns="25400" rIns="25400" bIns="25400" rtlCol="0" anchor="t">
            <a:normAutofit/>
          </a:bodyPr>
          <a:lstStyle/>
          <a:p>
            <a:pPr algn="l" indent="0" marL="0">
              <a:lnSpc>
                <a:spcPct val="125806"/>
              </a:lnSpc>
              <a:buNone/>
            </a:pPr>
            <a:r>
              <a:rPr lang="en-US" sz="1950" b="1" dirty="0">
                <a:solidFill>
                  <a:srgbClr val="8A8D93"/>
                </a:solidFill>
                <a:latin typeface="Arial" pitchFamily="34" charset="0"/>
                <a:ea typeface="Arial" pitchFamily="34" charset="-122"/>
                <a:cs typeface="Arial" pitchFamily="34" charset="-120"/>
              </a:rPr>
              <a:t>Phase 4</a:t>
            </a:r>
            <a:endParaRPr lang="en-US" sz="1950" dirty="0"/>
          </a:p>
        </p:txBody>
      </p:sp>
      <p:sp>
        <p:nvSpPr>
          <p:cNvPr id="40" name="Text 38"/>
          <p:cNvSpPr/>
          <p:nvPr/>
        </p:nvSpPr>
        <p:spPr>
          <a:xfrm>
            <a:off x="11210925" y="3489871"/>
            <a:ext cx="2745105" cy="426690"/>
          </a:xfrm>
          <a:prstGeom prst="rect">
            <a:avLst/>
          </a:prstGeom>
          <a:noFill/>
          <a:ln/>
        </p:spPr>
        <p:txBody>
          <a:bodyPr wrap="square" lIns="25400" tIns="25400" rIns="25400" bIns="25400" rtlCol="0" anchor="t">
            <a:normAutofit/>
          </a:bodyPr>
          <a:lstStyle/>
          <a:p>
            <a:pPr algn="l" indent="0" marL="0">
              <a:lnSpc>
                <a:spcPct val="104615"/>
              </a:lnSpc>
              <a:buNone/>
            </a:pPr>
            <a:r>
              <a:rPr lang="en-US" sz="2550" b="1" dirty="0">
                <a:solidFill>
                  <a:srgbClr val="FFFFFF"/>
                </a:solidFill>
                <a:latin typeface="Arial" pitchFamily="34" charset="0"/>
                <a:ea typeface="Arial" pitchFamily="34" charset="-122"/>
                <a:cs typeface="Arial" pitchFamily="34" charset="-120"/>
              </a:rPr>
              <a:t>Testbench</a:t>
            </a:r>
            <a:endParaRPr lang="en-US" sz="2550" dirty="0"/>
          </a:p>
        </p:txBody>
      </p:sp>
      <p:sp>
        <p:nvSpPr>
          <p:cNvPr id="41" name="Text 39"/>
          <p:cNvSpPr/>
          <p:nvPr/>
        </p:nvSpPr>
        <p:spPr>
          <a:xfrm>
            <a:off x="11210925" y="4011811"/>
            <a:ext cx="2571750" cy="731341"/>
          </a:xfrm>
          <a:prstGeom prst="rect">
            <a:avLst/>
          </a:prstGeom>
          <a:noFill/>
          <a:ln/>
        </p:spPr>
        <p:txBody>
          <a:bodyPr wrap="square" lIns="25400" tIns="25400" rIns="25400" bIns="25400" rtlCol="0" anchor="t">
            <a:normAutofit/>
          </a:bodyPr>
          <a:lstStyle/>
          <a:p>
            <a:pPr algn="l" indent="0" marL="0">
              <a:lnSpc>
                <a:spcPct val="117419"/>
              </a:lnSpc>
              <a:buNone/>
            </a:pPr>
            <a:r>
              <a:rPr lang="en-US" sz="1950" dirty="0">
                <a:solidFill>
                  <a:srgbClr val="B6B8BD"/>
                </a:solidFill>
                <a:latin typeface="Arial" pitchFamily="34" charset="0"/>
                <a:ea typeface="Arial" pitchFamily="34" charset="-122"/>
                <a:cs typeface="Arial" pitchFamily="34" charset="-120"/>
              </a:rPr>
              <a:t>Plain SV, TC-ID map REQ-ID</a:t>
            </a:r>
            <a:endParaRPr lang="en-US" sz="1950" dirty="0"/>
          </a:p>
        </p:txBody>
      </p:sp>
      <p:sp>
        <p:nvSpPr>
          <p:cNvPr id="42" name="Shape 40"/>
          <p:cNvSpPr/>
          <p:nvPr/>
        </p:nvSpPr>
        <p:spPr>
          <a:xfrm>
            <a:off x="10896600" y="7843838"/>
            <a:ext cx="3124200" cy="771525"/>
          </a:xfrm>
          <a:prstGeom prst="roundRect">
            <a:avLst>
              <a:gd name="adj" fmla="val 9877"/>
            </a:avLst>
          </a:prstGeom>
          <a:solidFill>
            <a:srgbClr val="76B900">
              <a:alpha val="12000"/>
            </a:srgbClr>
          </a:solidFill>
          <a:ln w="9525">
            <a:solidFill>
              <a:srgbClr val="76B900">
                <a:alpha val="45000"/>
              </a:srgbClr>
            </a:solidFill>
            <a:prstDash val="solid"/>
          </a:ln>
        </p:spPr>
      </p:sp>
      <p:sp>
        <p:nvSpPr>
          <p:cNvPr id="43" name="Text 41"/>
          <p:cNvSpPr/>
          <p:nvPr/>
        </p:nvSpPr>
        <p:spPr>
          <a:xfrm>
            <a:off x="11049762" y="8043863"/>
            <a:ext cx="2817876" cy="409575"/>
          </a:xfrm>
          <a:prstGeom prst="rect">
            <a:avLst/>
          </a:prstGeom>
          <a:noFill/>
          <a:ln/>
        </p:spPr>
        <p:txBody>
          <a:bodyPr wrap="square" lIns="25400" tIns="25400" rIns="25400" bIns="25400" rtlCol="0" anchor="t">
            <a:normAutofit/>
          </a:bodyPr>
          <a:lstStyle/>
          <a:p>
            <a:pPr algn="ctr" indent="0" marL="0">
              <a:lnSpc>
                <a:spcPct val="125806"/>
              </a:lnSpc>
              <a:buNone/>
            </a:pPr>
            <a:r>
              <a:rPr lang="en-US" sz="1950" b="1" dirty="0">
                <a:solidFill>
                  <a:srgbClr val="A3E635"/>
                </a:solidFill>
                <a:latin typeface="Arial" pitchFamily="34" charset="0"/>
                <a:ea typeface="Arial" pitchFamily="34" charset="-122"/>
                <a:cs typeface="Arial" pitchFamily="34" charset="-120"/>
              </a:rPr>
              <a:t>Gate 4 · Test Plan</a:t>
            </a:r>
            <a:endParaRPr lang="en-US" sz="1950" dirty="0"/>
          </a:p>
        </p:txBody>
      </p:sp>
      <p:sp>
        <p:nvSpPr>
          <p:cNvPr id="44" name="Shape 42"/>
          <p:cNvSpPr/>
          <p:nvPr/>
        </p:nvSpPr>
        <p:spPr>
          <a:xfrm>
            <a:off x="14211300" y="2642146"/>
            <a:ext cx="3124200" cy="5049292"/>
          </a:xfrm>
          <a:prstGeom prst="roundRect">
            <a:avLst>
              <a:gd name="adj" fmla="val 3049"/>
            </a:avLst>
          </a:prstGeom>
          <a:solidFill>
            <a:srgbClr val="1C1E21"/>
          </a:solidFill>
          <a:ln/>
        </p:spPr>
      </p:sp>
      <p:sp>
        <p:nvSpPr>
          <p:cNvPr id="45" name="Shape 43"/>
          <p:cNvSpPr/>
          <p:nvPr/>
        </p:nvSpPr>
        <p:spPr>
          <a:xfrm>
            <a:off x="14211300" y="7681912"/>
            <a:ext cx="3124200" cy="9525"/>
          </a:xfrm>
          <a:prstGeom prst="rect">
            <a:avLst/>
          </a:prstGeom>
          <a:solidFill>
            <a:srgbClr val="2E3033"/>
          </a:solidFill>
          <a:ln/>
        </p:spPr>
      </p:sp>
      <p:sp>
        <p:nvSpPr>
          <p:cNvPr id="46" name="Shape 44"/>
          <p:cNvSpPr/>
          <p:nvPr/>
        </p:nvSpPr>
        <p:spPr>
          <a:xfrm>
            <a:off x="14211300" y="2642146"/>
            <a:ext cx="3124200" cy="38100"/>
          </a:xfrm>
          <a:prstGeom prst="rect">
            <a:avLst/>
          </a:prstGeom>
          <a:solidFill>
            <a:srgbClr val="76B900"/>
          </a:solidFill>
          <a:ln/>
        </p:spPr>
      </p:sp>
      <p:sp>
        <p:nvSpPr>
          <p:cNvPr id="47" name="Shape 45"/>
          <p:cNvSpPr/>
          <p:nvPr/>
        </p:nvSpPr>
        <p:spPr>
          <a:xfrm>
            <a:off x="14211300" y="2642146"/>
            <a:ext cx="9525" cy="5049292"/>
          </a:xfrm>
          <a:prstGeom prst="rect">
            <a:avLst/>
          </a:prstGeom>
          <a:solidFill>
            <a:srgbClr val="2E3033"/>
          </a:solidFill>
          <a:ln/>
        </p:spPr>
      </p:sp>
      <p:sp>
        <p:nvSpPr>
          <p:cNvPr id="48" name="Shape 46"/>
          <p:cNvSpPr/>
          <p:nvPr/>
        </p:nvSpPr>
        <p:spPr>
          <a:xfrm>
            <a:off x="17325975" y="2642146"/>
            <a:ext cx="9525" cy="5049292"/>
          </a:xfrm>
          <a:prstGeom prst="rect">
            <a:avLst/>
          </a:prstGeom>
          <a:solidFill>
            <a:srgbClr val="2E3033"/>
          </a:solidFill>
          <a:ln/>
        </p:spPr>
      </p:sp>
      <p:sp>
        <p:nvSpPr>
          <p:cNvPr id="49" name="Text 47"/>
          <p:cNvSpPr/>
          <p:nvPr/>
        </p:nvSpPr>
        <p:spPr>
          <a:xfrm>
            <a:off x="14525625" y="2985046"/>
            <a:ext cx="2745105" cy="409575"/>
          </a:xfrm>
          <a:prstGeom prst="rect">
            <a:avLst/>
          </a:prstGeom>
          <a:noFill/>
          <a:ln/>
        </p:spPr>
        <p:txBody>
          <a:bodyPr wrap="square" lIns="25400" tIns="25400" rIns="25400" bIns="25400" rtlCol="0" anchor="t">
            <a:normAutofit/>
          </a:bodyPr>
          <a:lstStyle/>
          <a:p>
            <a:pPr algn="l" indent="0" marL="0">
              <a:lnSpc>
                <a:spcPct val="125806"/>
              </a:lnSpc>
              <a:buNone/>
            </a:pPr>
            <a:r>
              <a:rPr lang="en-US" sz="1950" b="1" dirty="0">
                <a:solidFill>
                  <a:srgbClr val="8A8D93"/>
                </a:solidFill>
                <a:latin typeface="Arial" pitchFamily="34" charset="0"/>
                <a:ea typeface="Arial" pitchFamily="34" charset="-122"/>
                <a:cs typeface="Arial" pitchFamily="34" charset="-120"/>
              </a:rPr>
              <a:t>Phase 5</a:t>
            </a:r>
            <a:endParaRPr lang="en-US" sz="1950" dirty="0"/>
          </a:p>
        </p:txBody>
      </p:sp>
      <p:sp>
        <p:nvSpPr>
          <p:cNvPr id="50" name="Text 48"/>
          <p:cNvSpPr/>
          <p:nvPr/>
        </p:nvSpPr>
        <p:spPr>
          <a:xfrm>
            <a:off x="14525625" y="3489871"/>
            <a:ext cx="2745105" cy="426690"/>
          </a:xfrm>
          <a:prstGeom prst="rect">
            <a:avLst/>
          </a:prstGeom>
          <a:noFill/>
          <a:ln/>
        </p:spPr>
        <p:txBody>
          <a:bodyPr wrap="square" lIns="25400" tIns="25400" rIns="25400" bIns="25400" rtlCol="0" anchor="t">
            <a:normAutofit/>
          </a:bodyPr>
          <a:lstStyle/>
          <a:p>
            <a:pPr algn="l" indent="0" marL="0">
              <a:lnSpc>
                <a:spcPct val="104615"/>
              </a:lnSpc>
              <a:buNone/>
            </a:pPr>
            <a:r>
              <a:rPr lang="en-US" sz="2550" b="1" dirty="0">
                <a:solidFill>
                  <a:srgbClr val="FFFFFF"/>
                </a:solidFill>
                <a:latin typeface="Arial" pitchFamily="34" charset="0"/>
                <a:ea typeface="Arial" pitchFamily="34" charset="-122"/>
                <a:cs typeface="Arial" pitchFamily="34" charset="-120"/>
              </a:rPr>
              <a:t>Verification</a:t>
            </a:r>
            <a:endParaRPr lang="en-US" sz="2550" dirty="0"/>
          </a:p>
        </p:txBody>
      </p:sp>
      <p:sp>
        <p:nvSpPr>
          <p:cNvPr id="51" name="Text 49"/>
          <p:cNvSpPr/>
          <p:nvPr/>
        </p:nvSpPr>
        <p:spPr>
          <a:xfrm>
            <a:off x="14525625" y="4011811"/>
            <a:ext cx="2745105" cy="384721"/>
          </a:xfrm>
          <a:prstGeom prst="rect">
            <a:avLst/>
          </a:prstGeom>
          <a:noFill/>
          <a:ln/>
        </p:spPr>
        <p:txBody>
          <a:bodyPr wrap="square" lIns="25400" tIns="25400" rIns="25400" bIns="25400" rtlCol="0" anchor="t">
            <a:normAutofit/>
          </a:bodyPr>
          <a:lstStyle/>
          <a:p>
            <a:pPr algn="l" indent="0" marL="0">
              <a:lnSpc>
                <a:spcPct val="117419"/>
              </a:lnSpc>
              <a:buNone/>
            </a:pPr>
            <a:r>
              <a:rPr lang="en-US" sz="1950" dirty="0">
                <a:solidFill>
                  <a:srgbClr val="B6B8BD"/>
                </a:solidFill>
                <a:latin typeface="Arial" pitchFamily="34" charset="0"/>
                <a:ea typeface="Arial" pitchFamily="34" charset="-122"/>
                <a:cs typeface="Arial" pitchFamily="34" charset="-120"/>
              </a:rPr>
              <a:t>Sim, synth, mutation</a:t>
            </a:r>
            <a:endParaRPr lang="en-US" sz="1950" dirty="0"/>
          </a:p>
        </p:txBody>
      </p:sp>
      <p:sp>
        <p:nvSpPr>
          <p:cNvPr id="52" name="Shape 50"/>
          <p:cNvSpPr/>
          <p:nvPr/>
        </p:nvSpPr>
        <p:spPr>
          <a:xfrm>
            <a:off x="14211300" y="7843838"/>
            <a:ext cx="3124200" cy="771525"/>
          </a:xfrm>
          <a:prstGeom prst="roundRect">
            <a:avLst>
              <a:gd name="adj" fmla="val 9877"/>
            </a:avLst>
          </a:prstGeom>
          <a:solidFill>
            <a:srgbClr val="76B900">
              <a:alpha val="12000"/>
            </a:srgbClr>
          </a:solidFill>
          <a:ln w="9525">
            <a:solidFill>
              <a:srgbClr val="76B900">
                <a:alpha val="45000"/>
              </a:srgbClr>
            </a:solidFill>
            <a:prstDash val="solid"/>
          </a:ln>
        </p:spPr>
      </p:sp>
      <p:sp>
        <p:nvSpPr>
          <p:cNvPr id="53" name="Text 51"/>
          <p:cNvSpPr/>
          <p:nvPr/>
        </p:nvSpPr>
        <p:spPr>
          <a:xfrm>
            <a:off x="14364462" y="8043863"/>
            <a:ext cx="2817876" cy="409575"/>
          </a:xfrm>
          <a:prstGeom prst="rect">
            <a:avLst/>
          </a:prstGeom>
          <a:noFill/>
          <a:ln/>
        </p:spPr>
        <p:txBody>
          <a:bodyPr wrap="square" lIns="25400" tIns="25400" rIns="25400" bIns="25400" rtlCol="0" anchor="t">
            <a:normAutofit/>
          </a:bodyPr>
          <a:lstStyle/>
          <a:p>
            <a:pPr algn="ctr" indent="0" marL="0">
              <a:lnSpc>
                <a:spcPct val="125806"/>
              </a:lnSpc>
              <a:buNone/>
            </a:pPr>
            <a:r>
              <a:rPr lang="en-US" sz="1950" b="1" dirty="0">
                <a:solidFill>
                  <a:srgbClr val="A3E635"/>
                </a:solidFill>
                <a:latin typeface="Arial" pitchFamily="34" charset="0"/>
                <a:ea typeface="Arial" pitchFamily="34" charset="-122"/>
                <a:cs typeface="Arial" pitchFamily="34" charset="-120"/>
              </a:rPr>
              <a:t>Gate 5 · RTM Dashboard</a:t>
            </a:r>
            <a:endParaRPr lang="en-US" sz="1950" dirty="0"/>
          </a:p>
        </p:txBody>
      </p:sp>
      <p:sp>
        <p:nvSpPr>
          <p:cNvPr id="54" name="Text 52"/>
          <p:cNvSpPr/>
          <p:nvPr/>
        </p:nvSpPr>
        <p:spPr>
          <a:xfrm>
            <a:off x="952500" y="9110663"/>
            <a:ext cx="18021300" cy="452438"/>
          </a:xfrm>
          <a:prstGeom prst="rect">
            <a:avLst/>
          </a:prstGeom>
          <a:noFill/>
          <a:ln/>
        </p:spPr>
        <p:txBody>
          <a:bodyPr wrap="square" lIns="25400" tIns="25400" rIns="25400" bIns="25400" rtlCol="0" anchor="t">
            <a:normAutofit/>
          </a:bodyPr>
          <a:lstStyle/>
          <a:p>
            <a:pPr algn="l" indent="0" marL="0">
              <a:lnSpc>
                <a:spcPct val="127941"/>
              </a:lnSpc>
              <a:buNone/>
            </a:pPr>
            <a:r>
              <a:rPr lang="en-US" sz="2250" dirty="0">
                <a:solidFill>
                  <a:srgbClr val="D7D9DD"/>
                </a:solidFill>
                <a:latin typeface="Arial" pitchFamily="34" charset="0"/>
                <a:ea typeface="Arial" pitchFamily="34" charset="-122"/>
                <a:cs typeface="Arial" pitchFamily="34" charset="-120"/>
              </a:rPr>
              <a:t>Quy tắc số 1 của orchestrator: không đi qua gate nào nếu người dùng chưa xác nhận.</a:t>
            </a:r>
            <a:endParaRPr lang="en-US" sz="2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952500" y="952500"/>
            <a:ext cx="18021300" cy="409575"/>
          </a:xfrm>
          <a:prstGeom prst="rect">
            <a:avLst/>
          </a:prstGeom>
          <a:noFill/>
          <a:ln/>
        </p:spPr>
        <p:txBody>
          <a:bodyPr wrap="square" lIns="25400" tIns="25400" rIns="25400" bIns="25400" rtlCol="0" anchor="t">
            <a:normAutofit/>
          </a:bodyPr>
          <a:lstStyle/>
          <a:p>
            <a:pPr algn="l" indent="0" marL="0">
              <a:lnSpc>
                <a:spcPct val="125806"/>
              </a:lnSpc>
              <a:buNone/>
            </a:pPr>
            <a:r>
              <a:rPr lang="en-US" sz="1950" b="1" spc="312" kern="0" dirty="0">
                <a:solidFill>
                  <a:srgbClr val="76B900"/>
                </a:solidFill>
                <a:latin typeface="Arial" pitchFamily="34" charset="0"/>
                <a:ea typeface="Arial" pitchFamily="34" charset="-122"/>
                <a:cs typeface="Arial" pitchFamily="34" charset="-120"/>
              </a:rPr>
              <a:t>04 · PHASE 1-2</a:t>
            </a:r>
            <a:endParaRPr lang="en-US" sz="1950" dirty="0"/>
          </a:p>
        </p:txBody>
      </p:sp>
      <p:sp>
        <p:nvSpPr>
          <p:cNvPr id="3" name="Text 1"/>
          <p:cNvSpPr/>
          <p:nvPr/>
        </p:nvSpPr>
        <p:spPr>
          <a:xfrm>
            <a:off x="952500" y="1476375"/>
            <a:ext cx="18021300" cy="708571"/>
          </a:xfrm>
          <a:prstGeom prst="rect">
            <a:avLst/>
          </a:prstGeom>
          <a:noFill/>
          <a:ln/>
        </p:spPr>
        <p:txBody>
          <a:bodyPr wrap="square" lIns="25400" tIns="25400" rIns="25400" bIns="25400" rtlCol="0" anchor="t">
            <a:normAutofit/>
          </a:bodyPr>
          <a:lstStyle/>
          <a:p>
            <a:pPr algn="l" indent="0" marL="0">
              <a:lnSpc>
                <a:spcPct val="95135"/>
              </a:lnSpc>
              <a:buNone/>
            </a:pPr>
            <a:r>
              <a:rPr lang="en-US" sz="4800" b="1" dirty="0">
                <a:solidFill>
                  <a:srgbClr val="FFFFFF"/>
                </a:solidFill>
                <a:latin typeface="Arial" pitchFamily="34" charset="0"/>
                <a:ea typeface="Arial" pitchFamily="34" charset="-122"/>
                <a:cs typeface="Arial" pitchFamily="34" charset="-120"/>
              </a:rPr>
              <a:t>Từ văn bản tự do đến cấu hình đã chốt</a:t>
            </a:r>
            <a:endParaRPr lang="en-US" sz="4800" dirty="0"/>
          </a:p>
        </p:txBody>
      </p:sp>
      <p:sp>
        <p:nvSpPr>
          <p:cNvPr id="4" name="Shape 2"/>
          <p:cNvSpPr/>
          <p:nvPr/>
        </p:nvSpPr>
        <p:spPr>
          <a:xfrm>
            <a:off x="952500" y="2604046"/>
            <a:ext cx="8039100" cy="6920954"/>
          </a:xfrm>
          <a:prstGeom prst="roundRect">
            <a:avLst>
              <a:gd name="adj" fmla="val 1652"/>
            </a:avLst>
          </a:prstGeom>
          <a:solidFill>
            <a:srgbClr val="16171A"/>
          </a:solidFill>
          <a:ln w="9525">
            <a:solidFill>
              <a:srgbClr val="2E3033"/>
            </a:solidFill>
            <a:prstDash val="solid"/>
          </a:ln>
        </p:spPr>
      </p:sp>
      <p:sp>
        <p:nvSpPr>
          <p:cNvPr id="5" name="Text 3"/>
          <p:cNvSpPr/>
          <p:nvPr/>
        </p:nvSpPr>
        <p:spPr>
          <a:xfrm>
            <a:off x="1419225" y="3070771"/>
            <a:ext cx="7816215" cy="523875"/>
          </a:xfrm>
          <a:prstGeom prst="rect">
            <a:avLst/>
          </a:prstGeom>
          <a:noFill/>
          <a:ln/>
        </p:spPr>
        <p:txBody>
          <a:bodyPr wrap="square" lIns="25400" tIns="25400" rIns="25400" bIns="25400" rtlCol="0" anchor="t">
            <a:normAutofit/>
          </a:bodyPr>
          <a:lstStyle/>
          <a:p>
            <a:pPr algn="l" indent="0" marL="0">
              <a:lnSpc>
                <a:spcPct val="130769"/>
              </a:lnSpc>
              <a:buNone/>
            </a:pPr>
            <a:r>
              <a:rPr lang="en-US" sz="2550" b="1" dirty="0">
                <a:solidFill>
                  <a:srgbClr val="76B900"/>
                </a:solidFill>
                <a:latin typeface="Arial" pitchFamily="34" charset="0"/>
                <a:ea typeface="Arial" pitchFamily="34" charset="-122"/>
                <a:cs typeface="Arial" pitchFamily="34" charset="-120"/>
              </a:rPr>
              <a:t>Phase 1 · Spec ingestion</a:t>
            </a:r>
            <a:endParaRPr lang="en-US" sz="2550" dirty="0"/>
          </a:p>
        </p:txBody>
      </p:sp>
      <p:sp>
        <p:nvSpPr>
          <p:cNvPr id="6" name="Text 4"/>
          <p:cNvSpPr/>
          <p:nvPr/>
        </p:nvSpPr>
        <p:spPr>
          <a:xfrm>
            <a:off x="1419225" y="3804196"/>
            <a:ext cx="7816215" cy="438150"/>
          </a:xfrm>
          <a:prstGeom prst="rect">
            <a:avLst/>
          </a:prstGeom>
          <a:noFill/>
          <a:ln/>
        </p:spPr>
        <p:txBody>
          <a:bodyPr wrap="square" lIns="25400" tIns="25400" rIns="25400" bIns="25400" rtlCol="0" anchor="t">
            <a:normAutofit/>
          </a:bodyPr>
          <a:lstStyle/>
          <a:p>
            <a:pPr algn="l" indent="0" marL="0">
              <a:lnSpc>
                <a:spcPct val="135484"/>
              </a:lnSpc>
              <a:buNone/>
            </a:pPr>
            <a:r>
              <a:rPr lang="en-US" sz="2100" dirty="0">
                <a:solidFill>
                  <a:srgbClr val="8A8D93"/>
                </a:solidFill>
                <a:latin typeface="Courier New" pitchFamily="34" charset="0"/>
                <a:ea typeface="Courier New" pitchFamily="34" charset="-122"/>
                <a:cs typeface="Courier New" pitchFamily="34" charset="-120"/>
              </a:rPr>
              <a:t>skills/spec_parser.md</a:t>
            </a:r>
            <a:endParaRPr lang="en-US" sz="2100" dirty="0"/>
          </a:p>
        </p:txBody>
      </p:sp>
      <p:sp>
        <p:nvSpPr>
          <p:cNvPr id="7" name="Text 5"/>
          <p:cNvSpPr/>
          <p:nvPr/>
        </p:nvSpPr>
        <p:spPr>
          <a:xfrm>
            <a:off x="1504950" y="4451896"/>
            <a:ext cx="7096125" cy="2552700"/>
          </a:xfrm>
          <a:prstGeom prst="rect">
            <a:avLst/>
          </a:prstGeom>
          <a:noFill/>
          <a:ln/>
        </p:spPr>
        <p:txBody>
          <a:bodyPr wrap="square" lIns="25400" tIns="25400" rIns="25400" bIns="25400" rtlCol="0" anchor="t">
            <a:normAutofit/>
          </a:bodyPr>
          <a:lstStyle/>
          <a:p>
            <a:pPr algn="l" indent="0" marL="0">
              <a:lnSpc>
                <a:spcPct val="123529"/>
              </a:lnSpc>
              <a:buNone/>
            </a:pPr>
            <a:r>
              <a:rPr lang="en-US" sz="2250" dirty="0">
                <a:solidFill>
                  <a:srgbClr val="E4E5E7"/>
                </a:solidFill>
                <a:latin typeface="Arial" pitchFamily="34" charset="0"/>
                <a:ea typeface="Arial" pitchFamily="34" charset="-122"/>
                <a:cs typeface="Arial" pitchFamily="34" charset="-120"/>
              </a:rPr>
              <a:t>Tách yêu cầu, gán REQ-001, REQ-002, …</a:t>
            </a:r>
            <a:endParaRPr lang="en-US" sz="2250" dirty="0"/>
          </a:p>
          <a:p>
            <a:pPr algn="l" indent="0" marL="0">
              <a:lnSpc>
                <a:spcPct val="123529"/>
              </a:lnSpc>
              <a:buNone/>
            </a:pPr>
            <a:r>
              <a:rPr lang="en-US" sz="2250" dirty="0">
                <a:solidFill>
                  <a:srgbClr val="E4E5E7"/>
                </a:solidFill>
                <a:latin typeface="Arial" pitchFamily="34" charset="0"/>
                <a:ea typeface="Arial" pitchFamily="34" charset="-122"/>
                <a:cs typeface="Arial" pitchFamily="34" charset="-120"/>
              </a:rPr>
              <a:t>Phân loại functional / timing / interface / constraint</a:t>
            </a:r>
            <a:endParaRPr lang="en-US" sz="2250" dirty="0"/>
          </a:p>
          <a:p>
            <a:pPr algn="l" indent="0" marL="0">
              <a:lnSpc>
                <a:spcPct val="123529"/>
              </a:lnSpc>
              <a:buNone/>
            </a:pPr>
            <a:r>
              <a:rPr lang="en-US" sz="2250" dirty="0">
                <a:solidFill>
                  <a:srgbClr val="E4E5E7"/>
                </a:solidFill>
                <a:latin typeface="Arial" pitchFamily="34" charset="0"/>
                <a:ea typeface="Arial" pitchFamily="34" charset="-122"/>
                <a:cs typeface="Arial" pitchFamily="34" charset="-120"/>
              </a:rPr>
              <a:t>Trích Parameter và dải giá trị hợp lệ</a:t>
            </a:r>
            <a:endParaRPr lang="en-US" sz="2250" dirty="0"/>
          </a:p>
          <a:p>
            <a:pPr algn="l" indent="0" marL="0">
              <a:lnSpc>
                <a:spcPct val="123529"/>
              </a:lnSpc>
              <a:buNone/>
            </a:pPr>
            <a:r>
              <a:rPr lang="en-US" sz="2250" dirty="0">
                <a:solidFill>
                  <a:srgbClr val="E4E5E7"/>
                </a:solidFill>
                <a:latin typeface="Arial" pitchFamily="34" charset="0"/>
                <a:ea typeface="Arial" pitchFamily="34" charset="-122"/>
                <a:cs typeface="Arial" pitchFamily="34" charset="-120"/>
              </a:rPr>
              <a:t>Chấm ambiguity 0.0-1.0; &gt; 0.3 thì bắt người xem lại</a:t>
            </a:r>
            <a:endParaRPr lang="en-US" sz="2250" dirty="0"/>
          </a:p>
        </p:txBody>
      </p:sp>
      <p:sp>
        <p:nvSpPr>
          <p:cNvPr id="8" name="Text 6"/>
          <p:cNvSpPr/>
          <p:nvPr/>
        </p:nvSpPr>
        <p:spPr>
          <a:xfrm>
            <a:off x="1419225" y="8658225"/>
            <a:ext cx="7816215" cy="438150"/>
          </a:xfrm>
          <a:prstGeom prst="rect">
            <a:avLst/>
          </a:prstGeom>
          <a:noFill/>
          <a:ln/>
        </p:spPr>
        <p:txBody>
          <a:bodyPr wrap="square" lIns="25400" tIns="25400" rIns="25400" bIns="25400" rtlCol="0" anchor="t">
            <a:normAutofit/>
          </a:bodyPr>
          <a:lstStyle/>
          <a:p>
            <a:pPr algn="l" indent="0" marL="0">
              <a:lnSpc>
                <a:spcPct val="135484"/>
              </a:lnSpc>
              <a:buNone/>
            </a:pPr>
            <a:r>
              <a:rPr lang="en-US" sz="2100" dirty="0">
                <a:solidFill>
                  <a:srgbClr val="B6B8BD"/>
                </a:solidFill>
                <a:latin typeface="Courier New" pitchFamily="34" charset="0"/>
                <a:ea typeface="Courier New" pitchFamily="34" charset="-122"/>
                <a:cs typeface="Courier New" pitchFamily="34" charset="-120"/>
              </a:rPr>
              <a:t>→ schemas/structured_spec.json</a:t>
            </a:r>
            <a:endParaRPr lang="en-US" sz="2100" dirty="0"/>
          </a:p>
        </p:txBody>
      </p:sp>
      <p:sp>
        <p:nvSpPr>
          <p:cNvPr id="9" name="Shape 7"/>
          <p:cNvSpPr/>
          <p:nvPr/>
        </p:nvSpPr>
        <p:spPr>
          <a:xfrm>
            <a:off x="9296400" y="2604046"/>
            <a:ext cx="8039100" cy="6920954"/>
          </a:xfrm>
          <a:prstGeom prst="roundRect">
            <a:avLst>
              <a:gd name="adj" fmla="val 1652"/>
            </a:avLst>
          </a:prstGeom>
          <a:solidFill>
            <a:srgbClr val="16171A"/>
          </a:solidFill>
          <a:ln w="9525">
            <a:solidFill>
              <a:srgbClr val="2E3033"/>
            </a:solidFill>
            <a:prstDash val="solid"/>
          </a:ln>
        </p:spPr>
      </p:sp>
      <p:sp>
        <p:nvSpPr>
          <p:cNvPr id="10" name="Text 8"/>
          <p:cNvSpPr/>
          <p:nvPr/>
        </p:nvSpPr>
        <p:spPr>
          <a:xfrm>
            <a:off x="9763125" y="3070771"/>
            <a:ext cx="7816215" cy="523875"/>
          </a:xfrm>
          <a:prstGeom prst="rect">
            <a:avLst/>
          </a:prstGeom>
          <a:noFill/>
          <a:ln/>
        </p:spPr>
        <p:txBody>
          <a:bodyPr wrap="square" lIns="25400" tIns="25400" rIns="25400" bIns="25400" rtlCol="0" anchor="t">
            <a:normAutofit/>
          </a:bodyPr>
          <a:lstStyle/>
          <a:p>
            <a:pPr algn="l" indent="0" marL="0">
              <a:lnSpc>
                <a:spcPct val="130769"/>
              </a:lnSpc>
              <a:buNone/>
            </a:pPr>
            <a:r>
              <a:rPr lang="en-US" sz="2550" b="1" dirty="0">
                <a:solidFill>
                  <a:srgbClr val="76B900"/>
                </a:solidFill>
                <a:latin typeface="Arial" pitchFamily="34" charset="0"/>
                <a:ea typeface="Arial" pitchFamily="34" charset="-122"/>
                <a:cs typeface="Arial" pitchFamily="34" charset="-120"/>
              </a:rPr>
              <a:t>Phase 2 · Configuration</a:t>
            </a:r>
            <a:endParaRPr lang="en-US" sz="2550" dirty="0"/>
          </a:p>
        </p:txBody>
      </p:sp>
      <p:sp>
        <p:nvSpPr>
          <p:cNvPr id="11" name="Text 9"/>
          <p:cNvSpPr/>
          <p:nvPr/>
        </p:nvSpPr>
        <p:spPr>
          <a:xfrm>
            <a:off x="9763125" y="3804196"/>
            <a:ext cx="7816215" cy="438150"/>
          </a:xfrm>
          <a:prstGeom prst="rect">
            <a:avLst/>
          </a:prstGeom>
          <a:noFill/>
          <a:ln/>
        </p:spPr>
        <p:txBody>
          <a:bodyPr wrap="square" lIns="25400" tIns="25400" rIns="25400" bIns="25400" rtlCol="0" anchor="t">
            <a:normAutofit/>
          </a:bodyPr>
          <a:lstStyle/>
          <a:p>
            <a:pPr algn="l" indent="0" marL="0">
              <a:lnSpc>
                <a:spcPct val="135484"/>
              </a:lnSpc>
              <a:buNone/>
            </a:pPr>
            <a:r>
              <a:rPr lang="en-US" sz="2100" dirty="0">
                <a:solidFill>
                  <a:srgbClr val="8A8D93"/>
                </a:solidFill>
                <a:latin typeface="Courier New" pitchFamily="34" charset="0"/>
                <a:ea typeface="Courier New" pitchFamily="34" charset="-122"/>
                <a:cs typeface="Courier New" pitchFamily="34" charset="-120"/>
              </a:rPr>
              <a:t>skills/config_ui.md</a:t>
            </a:r>
            <a:endParaRPr lang="en-US" sz="2100" dirty="0"/>
          </a:p>
        </p:txBody>
      </p:sp>
      <p:sp>
        <p:nvSpPr>
          <p:cNvPr id="12" name="Text 10"/>
          <p:cNvSpPr/>
          <p:nvPr/>
        </p:nvSpPr>
        <p:spPr>
          <a:xfrm>
            <a:off x="9848850" y="4451896"/>
            <a:ext cx="7096125" cy="2381250"/>
          </a:xfrm>
          <a:prstGeom prst="rect">
            <a:avLst/>
          </a:prstGeom>
          <a:noFill/>
          <a:ln/>
        </p:spPr>
        <p:txBody>
          <a:bodyPr wrap="square" lIns="25400" tIns="25400" rIns="25400" bIns="25400" rtlCol="0" anchor="t">
            <a:normAutofit/>
          </a:bodyPr>
          <a:lstStyle/>
          <a:p>
            <a:pPr algn="l" indent="0" marL="0">
              <a:lnSpc>
                <a:spcPct val="123529"/>
              </a:lnSpc>
              <a:buNone/>
            </a:pPr>
            <a:r>
              <a:rPr lang="en-US" sz="2250" dirty="0">
                <a:solidFill>
                  <a:srgbClr val="E4E5E7"/>
                </a:solidFill>
                <a:latin typeface="Arial" pitchFamily="34" charset="0"/>
                <a:ea typeface="Arial" pitchFamily="34" charset="-122"/>
                <a:cs typeface="Arial" pitchFamily="34" charset="-120"/>
              </a:rPr>
              <a:t>Sinh config UI động từ Parameter trong spec</a:t>
            </a:r>
            <a:endParaRPr lang="en-US" sz="2250" dirty="0"/>
          </a:p>
          <a:p>
            <a:pPr algn="l" indent="0" marL="0">
              <a:lnSpc>
                <a:spcPct val="123529"/>
              </a:lnSpc>
              <a:buNone/>
            </a:pPr>
            <a:r>
              <a:rPr lang="en-US" sz="2250" dirty="0">
                <a:solidFill>
                  <a:srgbClr val="E4E5E7"/>
                </a:solidFill>
                <a:latin typeface="Arial" pitchFamily="34" charset="0"/>
                <a:ea typeface="Arial" pitchFamily="34" charset="-122"/>
                <a:cs typeface="Arial" pitchFamily="34" charset="-120"/>
              </a:rPr>
              <a:t>Style constraints viết bằng ngôn ngữ tự nhiên → luật lint cứng</a:t>
            </a:r>
            <a:endParaRPr lang="en-US" sz="2250" dirty="0"/>
          </a:p>
          <a:p>
            <a:pPr algn="l" indent="0" marL="0">
              <a:lnSpc>
                <a:spcPct val="123529"/>
              </a:lnSpc>
              <a:buNone/>
            </a:pPr>
            <a:r>
              <a:rPr lang="en-US" sz="2250" dirty="0">
                <a:solidFill>
                  <a:srgbClr val="E4E5E7"/>
                </a:solidFill>
                <a:latin typeface="Arial" pitchFamily="34" charset="0"/>
                <a:ea typeface="Arial" pitchFamily="34" charset="-122"/>
                <a:cs typeface="Arial" pitchFamily="34" charset="-120"/>
              </a:rPr>
              <a:t>Hiển thị ảnh hưởng của từng Parameter lên từng REQ-ID</a:t>
            </a:r>
            <a:endParaRPr lang="en-US" sz="2250" dirty="0"/>
          </a:p>
        </p:txBody>
      </p:sp>
      <p:sp>
        <p:nvSpPr>
          <p:cNvPr id="13" name="Text 11"/>
          <p:cNvSpPr/>
          <p:nvPr/>
        </p:nvSpPr>
        <p:spPr>
          <a:xfrm>
            <a:off x="9763125" y="8658225"/>
            <a:ext cx="7816215" cy="438150"/>
          </a:xfrm>
          <a:prstGeom prst="rect">
            <a:avLst/>
          </a:prstGeom>
          <a:noFill/>
          <a:ln/>
        </p:spPr>
        <p:txBody>
          <a:bodyPr wrap="square" lIns="25400" tIns="25400" rIns="25400" bIns="25400" rtlCol="0" anchor="t">
            <a:normAutofit/>
          </a:bodyPr>
          <a:lstStyle/>
          <a:p>
            <a:pPr algn="l" indent="0" marL="0">
              <a:lnSpc>
                <a:spcPct val="135484"/>
              </a:lnSpc>
              <a:buNone/>
            </a:pPr>
            <a:r>
              <a:rPr lang="en-US" sz="2100" dirty="0">
                <a:solidFill>
                  <a:srgbClr val="B6B8BD"/>
                </a:solidFill>
                <a:latin typeface="Courier New" pitchFamily="34" charset="0"/>
                <a:ea typeface="Courier New" pitchFamily="34" charset="-122"/>
                <a:cs typeface="Courier New" pitchFamily="34" charset="-120"/>
              </a:rPr>
              <a:t>→ schemas/final_config.json</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952500" y="952500"/>
            <a:ext cx="18021300" cy="409575"/>
          </a:xfrm>
          <a:prstGeom prst="rect">
            <a:avLst/>
          </a:prstGeom>
          <a:noFill/>
          <a:ln/>
        </p:spPr>
        <p:txBody>
          <a:bodyPr wrap="square" lIns="25400" tIns="25400" rIns="25400" bIns="25400" rtlCol="0" anchor="t">
            <a:normAutofit/>
          </a:bodyPr>
          <a:lstStyle/>
          <a:p>
            <a:pPr algn="l" indent="0" marL="0">
              <a:lnSpc>
                <a:spcPct val="125806"/>
              </a:lnSpc>
              <a:buNone/>
            </a:pPr>
            <a:r>
              <a:rPr lang="en-US" sz="1950" b="1" spc="312" kern="0" dirty="0">
                <a:solidFill>
                  <a:srgbClr val="76B900"/>
                </a:solidFill>
                <a:latin typeface="Arial" pitchFamily="34" charset="0"/>
                <a:ea typeface="Arial" pitchFamily="34" charset="-122"/>
                <a:cs typeface="Arial" pitchFamily="34" charset="-120"/>
              </a:rPr>
              <a:t>05 · PHASE 3-4</a:t>
            </a:r>
            <a:endParaRPr lang="en-US" sz="1950" dirty="0"/>
          </a:p>
        </p:txBody>
      </p:sp>
      <p:sp>
        <p:nvSpPr>
          <p:cNvPr id="3" name="Text 1"/>
          <p:cNvSpPr/>
          <p:nvPr/>
        </p:nvSpPr>
        <p:spPr>
          <a:xfrm>
            <a:off x="952500" y="1476375"/>
            <a:ext cx="18021300" cy="708571"/>
          </a:xfrm>
          <a:prstGeom prst="rect">
            <a:avLst/>
          </a:prstGeom>
          <a:noFill/>
          <a:ln/>
        </p:spPr>
        <p:txBody>
          <a:bodyPr wrap="square" lIns="25400" tIns="25400" rIns="25400" bIns="25400" rtlCol="0" anchor="t">
            <a:normAutofit/>
          </a:bodyPr>
          <a:lstStyle/>
          <a:p>
            <a:pPr algn="l" indent="0" marL="0">
              <a:lnSpc>
                <a:spcPct val="95135"/>
              </a:lnSpc>
              <a:buNone/>
            </a:pPr>
            <a:r>
              <a:rPr lang="en-US" sz="4800" b="1" dirty="0">
                <a:solidFill>
                  <a:srgbClr val="FFFFFF"/>
                </a:solidFill>
                <a:latin typeface="Arial" pitchFamily="34" charset="0"/>
                <a:ea typeface="Arial" pitchFamily="34" charset="-122"/>
                <a:cs typeface="Arial" pitchFamily="34" charset="-120"/>
              </a:rPr>
              <a:t>Sinh RTL, assertion và testbench</a:t>
            </a:r>
            <a:endParaRPr lang="en-US" sz="4800" dirty="0"/>
          </a:p>
        </p:txBody>
      </p:sp>
      <p:sp>
        <p:nvSpPr>
          <p:cNvPr id="4" name="Shape 2"/>
          <p:cNvSpPr/>
          <p:nvPr/>
        </p:nvSpPr>
        <p:spPr>
          <a:xfrm>
            <a:off x="952500" y="2604046"/>
            <a:ext cx="8039100" cy="6920954"/>
          </a:xfrm>
          <a:prstGeom prst="roundRect">
            <a:avLst>
              <a:gd name="adj" fmla="val 1652"/>
            </a:avLst>
          </a:prstGeom>
          <a:solidFill>
            <a:srgbClr val="16171A"/>
          </a:solidFill>
          <a:ln w="9525">
            <a:solidFill>
              <a:srgbClr val="2E3033"/>
            </a:solidFill>
            <a:prstDash val="solid"/>
          </a:ln>
        </p:spPr>
      </p:sp>
      <p:sp>
        <p:nvSpPr>
          <p:cNvPr id="5" name="Text 3"/>
          <p:cNvSpPr/>
          <p:nvPr/>
        </p:nvSpPr>
        <p:spPr>
          <a:xfrm>
            <a:off x="1419225" y="3070771"/>
            <a:ext cx="7816215" cy="523875"/>
          </a:xfrm>
          <a:prstGeom prst="rect">
            <a:avLst/>
          </a:prstGeom>
          <a:noFill/>
          <a:ln/>
        </p:spPr>
        <p:txBody>
          <a:bodyPr wrap="square" lIns="25400" tIns="25400" rIns="25400" bIns="25400" rtlCol="0" anchor="t">
            <a:normAutofit/>
          </a:bodyPr>
          <a:lstStyle/>
          <a:p>
            <a:pPr algn="l" indent="0" marL="0">
              <a:lnSpc>
                <a:spcPct val="130769"/>
              </a:lnSpc>
              <a:buNone/>
            </a:pPr>
            <a:r>
              <a:rPr lang="en-US" sz="2550" b="1" dirty="0">
                <a:solidFill>
                  <a:srgbClr val="76B900"/>
                </a:solidFill>
                <a:latin typeface="Arial" pitchFamily="34" charset="0"/>
                <a:ea typeface="Arial" pitchFamily="34" charset="-122"/>
                <a:cs typeface="Arial" pitchFamily="34" charset="-120"/>
              </a:rPr>
              <a:t>Phase 3 · RTL + SVA</a:t>
            </a:r>
            <a:endParaRPr lang="en-US" sz="2550" dirty="0"/>
          </a:p>
        </p:txBody>
      </p:sp>
      <p:sp>
        <p:nvSpPr>
          <p:cNvPr id="6" name="Text 4"/>
          <p:cNvSpPr/>
          <p:nvPr/>
        </p:nvSpPr>
        <p:spPr>
          <a:xfrm>
            <a:off x="1419225" y="3804196"/>
            <a:ext cx="7816215" cy="438150"/>
          </a:xfrm>
          <a:prstGeom prst="rect">
            <a:avLst/>
          </a:prstGeom>
          <a:noFill/>
          <a:ln/>
        </p:spPr>
        <p:txBody>
          <a:bodyPr wrap="square" lIns="25400" tIns="25400" rIns="25400" bIns="25400" rtlCol="0" anchor="t">
            <a:normAutofit/>
          </a:bodyPr>
          <a:lstStyle/>
          <a:p>
            <a:pPr algn="l" indent="0" marL="0">
              <a:lnSpc>
                <a:spcPct val="135484"/>
              </a:lnSpc>
              <a:buNone/>
            </a:pPr>
            <a:r>
              <a:rPr lang="en-US" sz="2100" dirty="0">
                <a:solidFill>
                  <a:srgbClr val="8A8D93"/>
                </a:solidFill>
                <a:latin typeface="Courier New" pitchFamily="34" charset="0"/>
                <a:ea typeface="Courier New" pitchFamily="34" charset="-122"/>
                <a:cs typeface="Courier New" pitchFamily="34" charset="-120"/>
              </a:rPr>
              <a:t>rtl_generator.md + sva_generator.md</a:t>
            </a:r>
            <a:endParaRPr lang="en-US" sz="2100" dirty="0"/>
          </a:p>
        </p:txBody>
      </p:sp>
      <p:sp>
        <p:nvSpPr>
          <p:cNvPr id="7" name="Text 5"/>
          <p:cNvSpPr/>
          <p:nvPr/>
        </p:nvSpPr>
        <p:spPr>
          <a:xfrm>
            <a:off x="1704975" y="4451896"/>
            <a:ext cx="7024497" cy="838200"/>
          </a:xfrm>
          <a:prstGeom prst="rect">
            <a:avLst/>
          </a:prstGeom>
          <a:noFill/>
          <a:ln/>
        </p:spPr>
        <p:txBody>
          <a:bodyPr wrap="square" lIns="25400" tIns="25400" rIns="25400" bIns="25400" rtlCol="0" anchor="t">
            <a:normAutofit/>
          </a:bodyPr>
          <a:lstStyle/>
          <a:p>
            <a:pPr algn="l" indent="0" marL="0">
              <a:lnSpc>
                <a:spcPct val="123529"/>
              </a:lnSpc>
              <a:buNone/>
            </a:pPr>
            <a:r>
              <a:rPr lang="en-US" sz="2250" dirty="0">
                <a:solidFill>
                  <a:srgbClr val="E4E5E7"/>
                </a:solidFill>
                <a:latin typeface="Arial" pitchFamily="34" charset="0"/>
                <a:ea typeface="Arial" pitchFamily="34" charset="-122"/>
                <a:cs typeface="Arial" pitchFamily="34" charset="-120"/>
              </a:rPr>
              <a:t>SystemVerilog synthesis-ready, tương thích Sky130</a:t>
            </a:r>
            <a:endParaRPr lang="en-US" sz="2250" dirty="0"/>
          </a:p>
        </p:txBody>
      </p:sp>
      <p:sp>
        <p:nvSpPr>
          <p:cNvPr id="8" name="Text 6"/>
          <p:cNvSpPr/>
          <p:nvPr/>
        </p:nvSpPr>
        <p:spPr>
          <a:xfrm>
            <a:off x="1704975" y="5423446"/>
            <a:ext cx="7501890" cy="438150"/>
          </a:xfrm>
          <a:prstGeom prst="rect">
            <a:avLst/>
          </a:prstGeom>
          <a:noFill/>
          <a:ln/>
        </p:spPr>
        <p:txBody>
          <a:bodyPr wrap="square" lIns="25400" tIns="25400" rIns="25400" bIns="25400" rtlCol="0" anchor="t">
            <a:normAutofit/>
          </a:bodyPr>
          <a:lstStyle/>
          <a:p>
            <a:pPr algn="l" indent="0" marL="0">
              <a:lnSpc>
                <a:spcPct val="123529"/>
              </a:lnSpc>
              <a:buNone/>
            </a:pPr>
            <a:r>
              <a:rPr lang="en-US" sz="2250" dirty="0">
                <a:solidFill>
                  <a:srgbClr val="E4E5E7"/>
                </a:solidFill>
                <a:latin typeface="Arial" pitchFamily="34" charset="0"/>
                <a:ea typeface="Arial" pitchFamily="34" charset="-122"/>
                <a:cs typeface="Arial" pitchFamily="34" charset="-120"/>
              </a:rPr>
              <a:t>Mọi module, signal, logic block tag </a:t>
            </a:r>
            <a:pPr algn="l" indent="0" marL="0">
              <a:lnSpc>
                <a:spcPct val="123529"/>
              </a:lnSpc>
              <a:buNone/>
            </a:pPr>
            <a:r>
              <a:rPr lang="en-US" sz="2250" dirty="0">
                <a:solidFill>
                  <a:srgbClr val="A3E635"/>
                </a:solidFill>
                <a:latin typeface="Courier New" pitchFamily="34" charset="0"/>
                <a:ea typeface="Courier New" pitchFamily="34" charset="-122"/>
                <a:cs typeface="Courier New" pitchFamily="34" charset="-120"/>
              </a:rPr>
              <a:t>// REQ-ID</a:t>
            </a:r>
            <a:endParaRPr lang="en-US" sz="2250" dirty="0"/>
          </a:p>
        </p:txBody>
      </p:sp>
      <p:sp>
        <p:nvSpPr>
          <p:cNvPr id="9" name="Text 7"/>
          <p:cNvSpPr/>
          <p:nvPr/>
        </p:nvSpPr>
        <p:spPr>
          <a:xfrm>
            <a:off x="1704975" y="5994946"/>
            <a:ext cx="7501890" cy="438150"/>
          </a:xfrm>
          <a:prstGeom prst="rect">
            <a:avLst/>
          </a:prstGeom>
          <a:noFill/>
          <a:ln/>
        </p:spPr>
        <p:txBody>
          <a:bodyPr wrap="square" lIns="25400" tIns="25400" rIns="25400" bIns="25400" rtlCol="0" anchor="t">
            <a:normAutofit/>
          </a:bodyPr>
          <a:lstStyle/>
          <a:p>
            <a:pPr algn="l" indent="0" marL="0">
              <a:lnSpc>
                <a:spcPct val="123529"/>
              </a:lnSpc>
              <a:buNone/>
            </a:pPr>
            <a:r>
              <a:rPr lang="en-US" sz="2250" dirty="0">
                <a:solidFill>
                  <a:srgbClr val="E4E5E7"/>
                </a:solidFill>
                <a:latin typeface="Arial" pitchFamily="34" charset="0"/>
                <a:ea typeface="Arial" pitchFamily="34" charset="-122"/>
                <a:cs typeface="Arial" pitchFamily="34" charset="-120"/>
              </a:rPr>
              <a:t>Tối thiểu một SVA cho mỗi requirement</a:t>
            </a:r>
            <a:endParaRPr lang="en-US" sz="2250" dirty="0"/>
          </a:p>
        </p:txBody>
      </p:sp>
      <p:sp>
        <p:nvSpPr>
          <p:cNvPr id="10" name="Text 8"/>
          <p:cNvSpPr/>
          <p:nvPr/>
        </p:nvSpPr>
        <p:spPr>
          <a:xfrm>
            <a:off x="1704975" y="6566446"/>
            <a:ext cx="7024497" cy="838200"/>
          </a:xfrm>
          <a:prstGeom prst="rect">
            <a:avLst/>
          </a:prstGeom>
          <a:noFill/>
          <a:ln/>
        </p:spPr>
        <p:txBody>
          <a:bodyPr wrap="square" lIns="25400" tIns="25400" rIns="25400" bIns="25400" rtlCol="0" anchor="t">
            <a:normAutofit/>
          </a:bodyPr>
          <a:lstStyle/>
          <a:p>
            <a:pPr algn="l" indent="0" marL="0">
              <a:lnSpc>
                <a:spcPct val="123529"/>
              </a:lnSpc>
              <a:buNone/>
            </a:pPr>
            <a:r>
              <a:rPr lang="en-US" sz="2250" dirty="0">
                <a:solidFill>
                  <a:srgbClr val="E4E5E7"/>
                </a:solidFill>
                <a:latin typeface="Arial" pitchFamily="34" charset="0"/>
                <a:ea typeface="Arial" pitchFamily="34" charset="-122"/>
                <a:cs typeface="Arial" pitchFamily="34" charset="-120"/>
              </a:rPr>
              <a:t>Mỗi assertion kèm mô tả ngôn ngữ tự nhiên để người duyệt</a:t>
            </a:r>
            <a:endParaRPr lang="en-US" sz="2250" dirty="0"/>
          </a:p>
        </p:txBody>
      </p:sp>
      <p:sp>
        <p:nvSpPr>
          <p:cNvPr id="11" name="Text 9"/>
          <p:cNvSpPr/>
          <p:nvPr/>
        </p:nvSpPr>
        <p:spPr>
          <a:xfrm>
            <a:off x="1419225" y="8658225"/>
            <a:ext cx="7816215" cy="438150"/>
          </a:xfrm>
          <a:prstGeom prst="rect">
            <a:avLst/>
          </a:prstGeom>
          <a:noFill/>
          <a:ln/>
        </p:spPr>
        <p:txBody>
          <a:bodyPr wrap="square" lIns="25400" tIns="25400" rIns="25400" bIns="25400" rtlCol="0" anchor="t">
            <a:normAutofit/>
          </a:bodyPr>
          <a:lstStyle/>
          <a:p>
            <a:pPr algn="l" indent="0" marL="0">
              <a:lnSpc>
                <a:spcPct val="135484"/>
              </a:lnSpc>
              <a:buNone/>
            </a:pPr>
            <a:r>
              <a:rPr lang="en-US" sz="2100" dirty="0">
                <a:solidFill>
                  <a:srgbClr val="B6B8BD"/>
                </a:solidFill>
                <a:latin typeface="Courier New" pitchFamily="34" charset="0"/>
                <a:ea typeface="Courier New" pitchFamily="34" charset="-122"/>
                <a:cs typeface="Courier New" pitchFamily="34" charset="-120"/>
              </a:rPr>
              <a:t>→ src/rtl/ + src/sva/</a:t>
            </a:r>
            <a:endParaRPr lang="en-US" sz="2100" dirty="0"/>
          </a:p>
        </p:txBody>
      </p:sp>
      <p:sp>
        <p:nvSpPr>
          <p:cNvPr id="12" name="Shape 10"/>
          <p:cNvSpPr/>
          <p:nvPr/>
        </p:nvSpPr>
        <p:spPr>
          <a:xfrm>
            <a:off x="9296400" y="2604046"/>
            <a:ext cx="8039100" cy="6920954"/>
          </a:xfrm>
          <a:prstGeom prst="roundRect">
            <a:avLst>
              <a:gd name="adj" fmla="val 1652"/>
            </a:avLst>
          </a:prstGeom>
          <a:solidFill>
            <a:srgbClr val="16171A"/>
          </a:solidFill>
          <a:ln w="9525">
            <a:solidFill>
              <a:srgbClr val="2E3033"/>
            </a:solidFill>
            <a:prstDash val="solid"/>
          </a:ln>
        </p:spPr>
      </p:sp>
      <p:sp>
        <p:nvSpPr>
          <p:cNvPr id="13" name="Text 11"/>
          <p:cNvSpPr/>
          <p:nvPr/>
        </p:nvSpPr>
        <p:spPr>
          <a:xfrm>
            <a:off x="9763125" y="3070771"/>
            <a:ext cx="7816215" cy="523875"/>
          </a:xfrm>
          <a:prstGeom prst="rect">
            <a:avLst/>
          </a:prstGeom>
          <a:noFill/>
          <a:ln/>
        </p:spPr>
        <p:txBody>
          <a:bodyPr wrap="square" lIns="25400" tIns="25400" rIns="25400" bIns="25400" rtlCol="0" anchor="t">
            <a:normAutofit/>
          </a:bodyPr>
          <a:lstStyle/>
          <a:p>
            <a:pPr algn="l" indent="0" marL="0">
              <a:lnSpc>
                <a:spcPct val="130769"/>
              </a:lnSpc>
              <a:buNone/>
            </a:pPr>
            <a:r>
              <a:rPr lang="en-US" sz="2550" b="1" dirty="0">
                <a:solidFill>
                  <a:srgbClr val="76B900"/>
                </a:solidFill>
                <a:latin typeface="Arial" pitchFamily="34" charset="0"/>
                <a:ea typeface="Arial" pitchFamily="34" charset="-122"/>
                <a:cs typeface="Arial" pitchFamily="34" charset="-120"/>
              </a:rPr>
              <a:t>Phase 4 · Testbench</a:t>
            </a:r>
            <a:endParaRPr lang="en-US" sz="2550" dirty="0"/>
          </a:p>
        </p:txBody>
      </p:sp>
      <p:sp>
        <p:nvSpPr>
          <p:cNvPr id="14" name="Text 12"/>
          <p:cNvSpPr/>
          <p:nvPr/>
        </p:nvSpPr>
        <p:spPr>
          <a:xfrm>
            <a:off x="9763125" y="3804196"/>
            <a:ext cx="7816215" cy="438150"/>
          </a:xfrm>
          <a:prstGeom prst="rect">
            <a:avLst/>
          </a:prstGeom>
          <a:noFill/>
          <a:ln/>
        </p:spPr>
        <p:txBody>
          <a:bodyPr wrap="square" lIns="25400" tIns="25400" rIns="25400" bIns="25400" rtlCol="0" anchor="t">
            <a:normAutofit/>
          </a:bodyPr>
          <a:lstStyle/>
          <a:p>
            <a:pPr algn="l" indent="0" marL="0">
              <a:lnSpc>
                <a:spcPct val="135484"/>
              </a:lnSpc>
              <a:buNone/>
            </a:pPr>
            <a:r>
              <a:rPr lang="en-US" sz="2100" dirty="0">
                <a:solidFill>
                  <a:srgbClr val="8A8D93"/>
                </a:solidFill>
                <a:latin typeface="Courier New" pitchFamily="34" charset="0"/>
                <a:ea typeface="Courier New" pitchFamily="34" charset="-122"/>
                <a:cs typeface="Courier New" pitchFamily="34" charset="-120"/>
              </a:rPr>
              <a:t>skills/tb_generator.md</a:t>
            </a:r>
            <a:endParaRPr lang="en-US" sz="2100" dirty="0"/>
          </a:p>
        </p:txBody>
      </p:sp>
      <p:sp>
        <p:nvSpPr>
          <p:cNvPr id="15" name="Text 13"/>
          <p:cNvSpPr/>
          <p:nvPr/>
        </p:nvSpPr>
        <p:spPr>
          <a:xfrm>
            <a:off x="10048875" y="4451896"/>
            <a:ext cx="7501890" cy="438150"/>
          </a:xfrm>
          <a:prstGeom prst="rect">
            <a:avLst/>
          </a:prstGeom>
          <a:noFill/>
          <a:ln/>
        </p:spPr>
        <p:txBody>
          <a:bodyPr wrap="square" lIns="25400" tIns="25400" rIns="25400" bIns="25400" rtlCol="0" anchor="t">
            <a:normAutofit/>
          </a:bodyPr>
          <a:lstStyle/>
          <a:p>
            <a:pPr algn="l" indent="0" marL="0">
              <a:lnSpc>
                <a:spcPct val="123529"/>
              </a:lnSpc>
              <a:buNone/>
            </a:pPr>
            <a:r>
              <a:rPr lang="en-US" sz="2250" dirty="0">
                <a:solidFill>
                  <a:srgbClr val="E4E5E7"/>
                </a:solidFill>
                <a:latin typeface="Arial" pitchFamily="34" charset="0"/>
                <a:ea typeface="Arial" pitchFamily="34" charset="-122"/>
                <a:cs typeface="Arial" pitchFamily="34" charset="-120"/>
              </a:rPr>
              <a:t>Test Plan UI: checklist TC-ID ánh xạ sang REQ-ID</a:t>
            </a:r>
            <a:endParaRPr lang="en-US" sz="2250" dirty="0"/>
          </a:p>
        </p:txBody>
      </p:sp>
      <p:sp>
        <p:nvSpPr>
          <p:cNvPr id="16" name="Text 14"/>
          <p:cNvSpPr/>
          <p:nvPr/>
        </p:nvSpPr>
        <p:spPr>
          <a:xfrm>
            <a:off x="10048875" y="5023396"/>
            <a:ext cx="7024497" cy="838200"/>
          </a:xfrm>
          <a:prstGeom prst="rect">
            <a:avLst/>
          </a:prstGeom>
          <a:noFill/>
          <a:ln/>
        </p:spPr>
        <p:txBody>
          <a:bodyPr wrap="square" lIns="25400" tIns="25400" rIns="25400" bIns="25400" rtlCol="0" anchor="t">
            <a:normAutofit/>
          </a:bodyPr>
          <a:lstStyle/>
          <a:p>
            <a:pPr algn="l" indent="0" marL="0">
              <a:lnSpc>
                <a:spcPct val="123529"/>
              </a:lnSpc>
              <a:buNone/>
            </a:pPr>
            <a:r>
              <a:rPr lang="en-US" sz="2250" dirty="0">
                <a:solidFill>
                  <a:srgbClr val="E4E5E7"/>
                </a:solidFill>
                <a:latin typeface="Arial" pitchFamily="34" charset="0"/>
                <a:ea typeface="Arial" pitchFamily="34" charset="-122"/>
                <a:cs typeface="Arial" pitchFamily="34" charset="-120"/>
              </a:rPr>
              <a:t>Người dùng chọn TC nào đưa vào; REQ-ID không có TC bị cảnh báo</a:t>
            </a:r>
            <a:endParaRPr lang="en-US" sz="2250" dirty="0"/>
          </a:p>
        </p:txBody>
      </p:sp>
      <p:sp>
        <p:nvSpPr>
          <p:cNvPr id="17" name="Text 15"/>
          <p:cNvSpPr/>
          <p:nvPr/>
        </p:nvSpPr>
        <p:spPr>
          <a:xfrm>
            <a:off x="10048875" y="5994946"/>
            <a:ext cx="7501890" cy="438150"/>
          </a:xfrm>
          <a:prstGeom prst="rect">
            <a:avLst/>
          </a:prstGeom>
          <a:noFill/>
          <a:ln/>
        </p:spPr>
        <p:txBody>
          <a:bodyPr wrap="square" lIns="25400" tIns="25400" rIns="25400" bIns="25400" rtlCol="0" anchor="t">
            <a:normAutofit/>
          </a:bodyPr>
          <a:lstStyle/>
          <a:p>
            <a:pPr algn="l" indent="0" marL="0">
              <a:lnSpc>
                <a:spcPct val="123529"/>
              </a:lnSpc>
              <a:buNone/>
            </a:pPr>
            <a:r>
              <a:rPr lang="en-US" sz="2250" dirty="0">
                <a:solidFill>
                  <a:srgbClr val="E4E5E7"/>
                </a:solidFill>
                <a:latin typeface="Arial" pitchFamily="34" charset="0"/>
                <a:ea typeface="Arial" pitchFamily="34" charset="-122"/>
                <a:cs typeface="Arial" pitchFamily="34" charset="-120"/>
              </a:rPr>
              <a:t>Testbench plain SystemVerilog, không UVM</a:t>
            </a:r>
            <a:endParaRPr lang="en-US" sz="2250" dirty="0"/>
          </a:p>
        </p:txBody>
      </p:sp>
      <p:sp>
        <p:nvSpPr>
          <p:cNvPr id="18" name="Text 16"/>
          <p:cNvSpPr/>
          <p:nvPr/>
        </p:nvSpPr>
        <p:spPr>
          <a:xfrm>
            <a:off x="10048875" y="6566446"/>
            <a:ext cx="7501890" cy="438150"/>
          </a:xfrm>
          <a:prstGeom prst="rect">
            <a:avLst/>
          </a:prstGeom>
          <a:noFill/>
          <a:ln/>
        </p:spPr>
        <p:txBody>
          <a:bodyPr wrap="square" lIns="25400" tIns="25400" rIns="25400" bIns="25400" rtlCol="0" anchor="t">
            <a:normAutofit/>
          </a:bodyPr>
          <a:lstStyle/>
          <a:p>
            <a:pPr algn="l" indent="0" marL="0">
              <a:lnSpc>
                <a:spcPct val="123529"/>
              </a:lnSpc>
              <a:buNone/>
            </a:pPr>
            <a:r>
              <a:rPr lang="en-US" sz="2250" dirty="0">
                <a:solidFill>
                  <a:srgbClr val="E4E5E7"/>
                </a:solidFill>
                <a:latin typeface="Arial" pitchFamily="34" charset="0"/>
                <a:ea typeface="Arial" pitchFamily="34" charset="-122"/>
                <a:cs typeface="Arial" pitchFamily="34" charset="-120"/>
              </a:rPr>
              <a:t>Mỗi test block tag </a:t>
            </a:r>
            <a:pPr algn="l" indent="0" marL="0">
              <a:lnSpc>
                <a:spcPct val="123529"/>
              </a:lnSpc>
              <a:buNone/>
            </a:pPr>
            <a:r>
              <a:rPr lang="en-US" sz="2250" dirty="0">
                <a:solidFill>
                  <a:srgbClr val="A3E635"/>
                </a:solidFill>
                <a:latin typeface="Courier New" pitchFamily="34" charset="0"/>
                <a:ea typeface="Courier New" pitchFamily="34" charset="-122"/>
                <a:cs typeface="Courier New" pitchFamily="34" charset="-120"/>
              </a:rPr>
              <a:t>// TC-ID | REQ-ID</a:t>
            </a:r>
            <a:endParaRPr lang="en-US" sz="2250" dirty="0"/>
          </a:p>
        </p:txBody>
      </p:sp>
      <p:sp>
        <p:nvSpPr>
          <p:cNvPr id="19" name="Text 17"/>
          <p:cNvSpPr/>
          <p:nvPr/>
        </p:nvSpPr>
        <p:spPr>
          <a:xfrm>
            <a:off x="9763125" y="8658225"/>
            <a:ext cx="7816215" cy="438150"/>
          </a:xfrm>
          <a:prstGeom prst="rect">
            <a:avLst/>
          </a:prstGeom>
          <a:noFill/>
          <a:ln/>
        </p:spPr>
        <p:txBody>
          <a:bodyPr wrap="square" lIns="25400" tIns="25400" rIns="25400" bIns="25400" rtlCol="0" anchor="t">
            <a:normAutofit/>
          </a:bodyPr>
          <a:lstStyle/>
          <a:p>
            <a:pPr algn="l" indent="0" marL="0">
              <a:lnSpc>
                <a:spcPct val="135484"/>
              </a:lnSpc>
              <a:buNone/>
            </a:pPr>
            <a:r>
              <a:rPr lang="en-US" sz="2100" dirty="0">
                <a:solidFill>
                  <a:srgbClr val="B6B8BD"/>
                </a:solidFill>
                <a:latin typeface="Courier New" pitchFamily="34" charset="0"/>
                <a:ea typeface="Courier New" pitchFamily="34" charset="-122"/>
                <a:cs typeface="Courier New" pitchFamily="34" charset="-120"/>
              </a:rPr>
              <a:t>→ src/tb/ + schemas/selected_testplan.json</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214"/>
        </a:solidFill>
      </p:bgPr>
    </p:bg>
    <p:spTree>
      <p:nvGrpSpPr>
        <p:cNvPr id="1" name=""/>
        <p:cNvGrpSpPr/>
        <p:nvPr/>
      </p:nvGrpSpPr>
      <p:grpSpPr>
        <a:xfrm>
          <a:off x="0" y="0"/>
          <a:ext cx="0" cy="0"/>
          <a:chOff x="0" y="0"/>
          <a:chExt cx="0" cy="0"/>
        </a:xfrm>
      </p:grpSpPr>
      <p:sp>
        <p:nvSpPr>
          <p:cNvPr id="2" name="Text 0"/>
          <p:cNvSpPr/>
          <p:nvPr/>
        </p:nvSpPr>
        <p:spPr>
          <a:xfrm>
            <a:off x="952500" y="952500"/>
            <a:ext cx="18021300" cy="409575"/>
          </a:xfrm>
          <a:prstGeom prst="rect">
            <a:avLst/>
          </a:prstGeom>
          <a:noFill/>
          <a:ln/>
        </p:spPr>
        <p:txBody>
          <a:bodyPr wrap="square" lIns="25400" tIns="25400" rIns="25400" bIns="25400" rtlCol="0" anchor="t">
            <a:normAutofit/>
          </a:bodyPr>
          <a:lstStyle/>
          <a:p>
            <a:pPr algn="l" indent="0" marL="0">
              <a:lnSpc>
                <a:spcPct val="125806"/>
              </a:lnSpc>
              <a:buNone/>
            </a:pPr>
            <a:r>
              <a:rPr lang="en-US" sz="1950" b="1" spc="312" kern="0" dirty="0">
                <a:solidFill>
                  <a:srgbClr val="76B900"/>
                </a:solidFill>
                <a:latin typeface="Arial" pitchFamily="34" charset="0"/>
                <a:ea typeface="Arial" pitchFamily="34" charset="-122"/>
                <a:cs typeface="Arial" pitchFamily="34" charset="-120"/>
              </a:rPr>
              <a:t>06 · VERIFICATION</a:t>
            </a:r>
            <a:endParaRPr lang="en-US" sz="1950" dirty="0"/>
          </a:p>
        </p:txBody>
      </p:sp>
      <p:sp>
        <p:nvSpPr>
          <p:cNvPr id="3" name="Text 1"/>
          <p:cNvSpPr/>
          <p:nvPr/>
        </p:nvSpPr>
        <p:spPr>
          <a:xfrm>
            <a:off x="952500" y="1476375"/>
            <a:ext cx="18021300" cy="708571"/>
          </a:xfrm>
          <a:prstGeom prst="rect">
            <a:avLst/>
          </a:prstGeom>
          <a:noFill/>
          <a:ln/>
        </p:spPr>
        <p:txBody>
          <a:bodyPr wrap="square" lIns="25400" tIns="25400" rIns="25400" bIns="25400" rtlCol="0" anchor="t">
            <a:normAutofit/>
          </a:bodyPr>
          <a:lstStyle/>
          <a:p>
            <a:pPr algn="l" indent="0" marL="0">
              <a:lnSpc>
                <a:spcPct val="95135"/>
              </a:lnSpc>
              <a:buNone/>
            </a:pPr>
            <a:r>
              <a:rPr lang="en-US" sz="4800" b="1" dirty="0">
                <a:solidFill>
                  <a:srgbClr val="FFFFFF"/>
                </a:solidFill>
                <a:latin typeface="Arial" pitchFamily="34" charset="0"/>
                <a:ea typeface="Arial" pitchFamily="34" charset="-122"/>
                <a:cs typeface="Arial" pitchFamily="34" charset="-120"/>
              </a:rPr>
              <a:t>SVA cho phản hồi nhanh, mutation score cho sign-off</a:t>
            </a:r>
            <a:endParaRPr lang="en-US" sz="4800" dirty="0"/>
          </a:p>
        </p:txBody>
      </p:sp>
      <p:sp>
        <p:nvSpPr>
          <p:cNvPr id="4" name="Shape 2"/>
          <p:cNvSpPr/>
          <p:nvPr/>
        </p:nvSpPr>
        <p:spPr>
          <a:xfrm>
            <a:off x="952500" y="2604046"/>
            <a:ext cx="8039100" cy="5635079"/>
          </a:xfrm>
          <a:prstGeom prst="roundRect">
            <a:avLst>
              <a:gd name="adj" fmla="val 2028"/>
            </a:avLst>
          </a:prstGeom>
          <a:solidFill>
            <a:srgbClr val="1C1E21"/>
          </a:solidFill>
          <a:ln w="9525">
            <a:solidFill>
              <a:srgbClr val="2E3033"/>
            </a:solidFill>
            <a:prstDash val="solid"/>
          </a:ln>
        </p:spPr>
      </p:sp>
      <p:sp>
        <p:nvSpPr>
          <p:cNvPr id="5" name="Text 3"/>
          <p:cNvSpPr/>
          <p:nvPr/>
        </p:nvSpPr>
        <p:spPr>
          <a:xfrm>
            <a:off x="1419225" y="3070771"/>
            <a:ext cx="7816215" cy="581025"/>
          </a:xfrm>
          <a:prstGeom prst="rect">
            <a:avLst/>
          </a:prstGeom>
          <a:noFill/>
          <a:ln/>
        </p:spPr>
        <p:txBody>
          <a:bodyPr wrap="square" lIns="25400" tIns="25400" rIns="25400" bIns="25400" rtlCol="0" anchor="t">
            <a:normAutofit/>
          </a:bodyPr>
          <a:lstStyle/>
          <a:p>
            <a:pPr algn="l" indent="0" marL="0">
              <a:lnSpc>
                <a:spcPct val="132558"/>
              </a:lnSpc>
              <a:buNone/>
            </a:pPr>
            <a:r>
              <a:rPr lang="en-US" sz="2850" b="1" dirty="0">
                <a:solidFill>
                  <a:srgbClr val="FFFFFF"/>
                </a:solidFill>
                <a:latin typeface="Arial" pitchFamily="34" charset="0"/>
                <a:ea typeface="Arial" pitchFamily="34" charset="-122"/>
                <a:cs typeface="Arial" pitchFamily="34" charset="-120"/>
              </a:rPr>
              <a:t>SVA assertions</a:t>
            </a:r>
            <a:endParaRPr lang="en-US" sz="2850" dirty="0"/>
          </a:p>
        </p:txBody>
      </p:sp>
      <p:sp>
        <p:nvSpPr>
          <p:cNvPr id="6" name="Text 4"/>
          <p:cNvSpPr/>
          <p:nvPr/>
        </p:nvSpPr>
        <p:spPr>
          <a:xfrm>
            <a:off x="1419225" y="3842296"/>
            <a:ext cx="7318820" cy="1695450"/>
          </a:xfrm>
          <a:prstGeom prst="rect">
            <a:avLst/>
          </a:prstGeom>
          <a:noFill/>
          <a:ln/>
        </p:spPr>
        <p:txBody>
          <a:bodyPr wrap="square" lIns="25400" tIns="25400" rIns="25400" bIns="25400" rtlCol="0" anchor="t">
            <a:normAutofit/>
          </a:bodyPr>
          <a:lstStyle/>
          <a:p>
            <a:pPr algn="l" indent="0" marL="0">
              <a:lnSpc>
                <a:spcPct val="127941"/>
              </a:lnSpc>
              <a:buNone/>
            </a:pPr>
            <a:r>
              <a:rPr lang="en-US" sz="2250" dirty="0">
                <a:solidFill>
                  <a:srgbClr val="E4E5E7"/>
                </a:solidFill>
                <a:latin typeface="Arial" pitchFamily="34" charset="0"/>
                <a:ea typeface="Arial" pitchFamily="34" charset="-122"/>
                <a:cs typeface="Arial" pitchFamily="34" charset="-120"/>
              </a:rPr>
              <a:t>LLM sinh assertion song song với RTL, mỗi cái gắn một REQ-ID. Người dùng xác nhận từng assertion bằng mô tả ngôn ngữ tự nhiên trước khi nó được tính.</a:t>
            </a:r>
            <a:endParaRPr lang="en-US" sz="2250" dirty="0"/>
          </a:p>
        </p:txBody>
      </p:sp>
      <p:sp>
        <p:nvSpPr>
          <p:cNvPr id="7" name="Text 5"/>
          <p:cNvSpPr/>
          <p:nvPr/>
        </p:nvSpPr>
        <p:spPr>
          <a:xfrm>
            <a:off x="1419225" y="5728246"/>
            <a:ext cx="7816215" cy="438150"/>
          </a:xfrm>
          <a:prstGeom prst="rect">
            <a:avLst/>
          </a:prstGeom>
          <a:noFill/>
          <a:ln/>
        </p:spPr>
        <p:txBody>
          <a:bodyPr wrap="square" lIns="25400" tIns="25400" rIns="25400" bIns="25400" rtlCol="0" anchor="t">
            <a:normAutofit/>
          </a:bodyPr>
          <a:lstStyle/>
          <a:p>
            <a:pPr algn="l" indent="0" marL="0">
              <a:lnSpc>
                <a:spcPct val="131250"/>
              </a:lnSpc>
              <a:buNone/>
            </a:pPr>
            <a:r>
              <a:rPr lang="en-US" sz="2100" dirty="0">
                <a:solidFill>
                  <a:srgbClr val="8A8D93"/>
                </a:solidFill>
                <a:latin typeface="Arial" pitchFamily="34" charset="0"/>
                <a:ea typeface="Arial" pitchFamily="34" charset="-122"/>
                <a:cs typeface="Arial" pitchFamily="34" charset="-120"/>
              </a:rPr>
              <a:t>Tool: Verilator / Icarus</a:t>
            </a:r>
            <a:endParaRPr lang="en-US" sz="2100" dirty="0"/>
          </a:p>
        </p:txBody>
      </p:sp>
      <p:sp>
        <p:nvSpPr>
          <p:cNvPr id="8" name="Text 6"/>
          <p:cNvSpPr/>
          <p:nvPr/>
        </p:nvSpPr>
        <p:spPr>
          <a:xfrm>
            <a:off x="1419225" y="7372350"/>
            <a:ext cx="7816215" cy="438150"/>
          </a:xfrm>
          <a:prstGeom prst="rect">
            <a:avLst/>
          </a:prstGeom>
          <a:noFill/>
          <a:ln/>
        </p:spPr>
        <p:txBody>
          <a:bodyPr wrap="square" lIns="25400" tIns="25400" rIns="25400" bIns="25400" rtlCol="0" anchor="t">
            <a:normAutofit/>
          </a:bodyPr>
          <a:lstStyle/>
          <a:p>
            <a:pPr algn="l" indent="0" marL="0">
              <a:lnSpc>
                <a:spcPct val="131250"/>
              </a:lnSpc>
              <a:buNone/>
            </a:pPr>
            <a:r>
              <a:rPr lang="en-US" sz="2100" dirty="0">
                <a:solidFill>
                  <a:srgbClr val="A3E635"/>
                </a:solidFill>
                <a:latin typeface="Arial" pitchFamily="34" charset="0"/>
                <a:ea typeface="Arial" pitchFamily="34" charset="-122"/>
                <a:cs typeface="Arial" pitchFamily="34" charset="-120"/>
              </a:rPr>
              <a:t>Vai trò: cảnh báo sớm ngay trong sim</a:t>
            </a:r>
            <a:endParaRPr lang="en-US" sz="2100" dirty="0"/>
          </a:p>
        </p:txBody>
      </p:sp>
      <p:sp>
        <p:nvSpPr>
          <p:cNvPr id="9" name="Shape 7"/>
          <p:cNvSpPr/>
          <p:nvPr/>
        </p:nvSpPr>
        <p:spPr>
          <a:xfrm>
            <a:off x="9296400" y="2604046"/>
            <a:ext cx="8039100" cy="5635079"/>
          </a:xfrm>
          <a:prstGeom prst="roundRect">
            <a:avLst>
              <a:gd name="adj" fmla="val 2028"/>
            </a:avLst>
          </a:prstGeom>
          <a:solidFill>
            <a:srgbClr val="1C1E21"/>
          </a:solidFill>
          <a:ln w="9525">
            <a:solidFill>
              <a:srgbClr val="2E3033"/>
            </a:solidFill>
            <a:prstDash val="solid"/>
          </a:ln>
        </p:spPr>
      </p:sp>
      <p:sp>
        <p:nvSpPr>
          <p:cNvPr id="10" name="Text 8"/>
          <p:cNvSpPr/>
          <p:nvPr/>
        </p:nvSpPr>
        <p:spPr>
          <a:xfrm>
            <a:off x="9763125" y="3070771"/>
            <a:ext cx="7816215" cy="581025"/>
          </a:xfrm>
          <a:prstGeom prst="rect">
            <a:avLst/>
          </a:prstGeom>
          <a:noFill/>
          <a:ln/>
        </p:spPr>
        <p:txBody>
          <a:bodyPr wrap="square" lIns="25400" tIns="25400" rIns="25400" bIns="25400" rtlCol="0" anchor="t">
            <a:normAutofit/>
          </a:bodyPr>
          <a:lstStyle/>
          <a:p>
            <a:pPr algn="l" indent="0" marL="0">
              <a:lnSpc>
                <a:spcPct val="132558"/>
              </a:lnSpc>
              <a:buNone/>
            </a:pPr>
            <a:r>
              <a:rPr lang="en-US" sz="2850" b="1" dirty="0">
                <a:solidFill>
                  <a:srgbClr val="FFFFFF"/>
                </a:solidFill>
                <a:latin typeface="Arial" pitchFamily="34" charset="0"/>
                <a:ea typeface="Arial" pitchFamily="34" charset="-122"/>
                <a:cs typeface="Arial" pitchFamily="34" charset="-120"/>
              </a:rPr>
              <a:t>Mutation score</a:t>
            </a:r>
            <a:endParaRPr lang="en-US" sz="2850" dirty="0"/>
          </a:p>
        </p:txBody>
      </p:sp>
      <p:sp>
        <p:nvSpPr>
          <p:cNvPr id="11" name="Text 9"/>
          <p:cNvSpPr/>
          <p:nvPr/>
        </p:nvSpPr>
        <p:spPr>
          <a:xfrm>
            <a:off x="9763125" y="3842296"/>
            <a:ext cx="7318820" cy="1281113"/>
          </a:xfrm>
          <a:prstGeom prst="rect">
            <a:avLst/>
          </a:prstGeom>
          <a:noFill/>
          <a:ln/>
        </p:spPr>
        <p:txBody>
          <a:bodyPr wrap="square" lIns="25400" tIns="25400" rIns="25400" bIns="25400" rtlCol="0" anchor="t">
            <a:normAutofit/>
          </a:bodyPr>
          <a:lstStyle/>
          <a:p>
            <a:pPr algn="l" indent="0" marL="0">
              <a:lnSpc>
                <a:spcPct val="127941"/>
              </a:lnSpc>
              <a:buNone/>
            </a:pPr>
            <a:r>
              <a:rPr lang="en-US" sz="2250" dirty="0">
                <a:solidFill>
                  <a:srgbClr val="E4E5E7"/>
                </a:solidFill>
                <a:latin typeface="Arial" pitchFamily="34" charset="0"/>
                <a:ea typeface="Arial" pitchFamily="34" charset="-122"/>
                <a:cs typeface="Arial" pitchFamily="34" charset="-120"/>
              </a:rPr>
              <a:t>Yosys mutation passes chèn lỗi vào RTL. Testbench phải giết ≥ 85% mutation cho mỗi REQ-ID. Đây là con số đo được, không phụ thuộc chất lượng LLM.</a:t>
            </a:r>
            <a:endParaRPr lang="en-US" sz="2250" dirty="0"/>
          </a:p>
        </p:txBody>
      </p:sp>
      <p:sp>
        <p:nvSpPr>
          <p:cNvPr id="12" name="Text 10"/>
          <p:cNvSpPr/>
          <p:nvPr/>
        </p:nvSpPr>
        <p:spPr>
          <a:xfrm>
            <a:off x="9763125" y="5313908"/>
            <a:ext cx="7816215" cy="438150"/>
          </a:xfrm>
          <a:prstGeom prst="rect">
            <a:avLst/>
          </a:prstGeom>
          <a:noFill/>
          <a:ln/>
        </p:spPr>
        <p:txBody>
          <a:bodyPr wrap="square" lIns="25400" tIns="25400" rIns="25400" bIns="25400" rtlCol="0" anchor="t">
            <a:normAutofit/>
          </a:bodyPr>
          <a:lstStyle/>
          <a:p>
            <a:pPr algn="l" indent="0" marL="0">
              <a:lnSpc>
                <a:spcPct val="131250"/>
              </a:lnSpc>
              <a:buNone/>
            </a:pPr>
            <a:r>
              <a:rPr lang="en-US" sz="2100" dirty="0">
                <a:solidFill>
                  <a:srgbClr val="8A8D93"/>
                </a:solidFill>
                <a:latin typeface="Arial" pitchFamily="34" charset="0"/>
                <a:ea typeface="Arial" pitchFamily="34" charset="-122"/>
                <a:cs typeface="Arial" pitchFamily="34" charset="-120"/>
              </a:rPr>
              <a:t>Tool: Yosys mutation / Fault</a:t>
            </a:r>
            <a:endParaRPr lang="en-US" sz="2100" dirty="0"/>
          </a:p>
        </p:txBody>
      </p:sp>
      <p:sp>
        <p:nvSpPr>
          <p:cNvPr id="13" name="Text 11"/>
          <p:cNvSpPr/>
          <p:nvPr/>
        </p:nvSpPr>
        <p:spPr>
          <a:xfrm>
            <a:off x="9763125" y="7372350"/>
            <a:ext cx="7816215" cy="438150"/>
          </a:xfrm>
          <a:prstGeom prst="rect">
            <a:avLst/>
          </a:prstGeom>
          <a:noFill/>
          <a:ln/>
        </p:spPr>
        <p:txBody>
          <a:bodyPr wrap="square" lIns="25400" tIns="25400" rIns="25400" bIns="25400" rtlCol="0" anchor="t">
            <a:normAutofit/>
          </a:bodyPr>
          <a:lstStyle/>
          <a:p>
            <a:pPr algn="l" indent="0" marL="0">
              <a:lnSpc>
                <a:spcPct val="131250"/>
              </a:lnSpc>
              <a:buNone/>
            </a:pPr>
            <a:r>
              <a:rPr lang="en-US" sz="2100" dirty="0">
                <a:solidFill>
                  <a:srgbClr val="A3E635"/>
                </a:solidFill>
                <a:latin typeface="Arial" pitchFamily="34" charset="0"/>
                <a:ea typeface="Arial" pitchFamily="34" charset="-122"/>
                <a:cs typeface="Arial" pitchFamily="34" charset="-120"/>
              </a:rPr>
              <a:t>Vai trò: cổng chất lượng khách quan</a:t>
            </a:r>
            <a:endParaRPr lang="en-US" sz="2100" dirty="0"/>
          </a:p>
        </p:txBody>
      </p:sp>
      <p:sp>
        <p:nvSpPr>
          <p:cNvPr id="14" name="Shape 12"/>
          <p:cNvSpPr/>
          <p:nvPr/>
        </p:nvSpPr>
        <p:spPr>
          <a:xfrm>
            <a:off x="952500" y="8696325"/>
            <a:ext cx="28575" cy="828675"/>
          </a:xfrm>
          <a:prstGeom prst="rect">
            <a:avLst/>
          </a:prstGeom>
          <a:solidFill>
            <a:srgbClr val="3A3D42"/>
          </a:solidFill>
          <a:ln/>
        </p:spPr>
      </p:sp>
      <p:sp>
        <p:nvSpPr>
          <p:cNvPr id="15" name="Text 13"/>
          <p:cNvSpPr/>
          <p:nvPr/>
        </p:nvSpPr>
        <p:spPr>
          <a:xfrm>
            <a:off x="1247775" y="8696325"/>
            <a:ext cx="16579215" cy="866775"/>
          </a:xfrm>
          <a:prstGeom prst="rect">
            <a:avLst/>
          </a:prstGeom>
          <a:noFill/>
          <a:ln/>
        </p:spPr>
        <p:txBody>
          <a:bodyPr wrap="square" lIns="25400" tIns="25400" rIns="25400" bIns="25400" rtlCol="0" anchor="t">
            <a:normAutofit/>
          </a:bodyPr>
          <a:lstStyle/>
          <a:p>
            <a:pPr algn="l" indent="0" marL="0">
              <a:lnSpc>
                <a:spcPct val="127941"/>
              </a:lnSpc>
              <a:buNone/>
            </a:pPr>
            <a:r>
              <a:rPr lang="en-US" sz="2250" dirty="0">
                <a:solidFill>
                  <a:srgbClr val="8A8D93"/>
                </a:solidFill>
                <a:latin typeface="Arial" pitchFamily="34" charset="0"/>
                <a:ea typeface="Arial" pitchFamily="34" charset="-122"/>
                <a:cs typeface="Arial" pitchFamily="34" charset="-120"/>
              </a:rPr>
              <a:t>Formal proof với SymbiYosys tạm bỏ qua: overhead cao, rủi ro property hallucination, chưa đáng cho IP nhỏ ở giai đoạn này.</a:t>
            </a:r>
            <a:endParaRPr lang="en-US" sz="2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952500" y="952500"/>
            <a:ext cx="18021300" cy="409575"/>
          </a:xfrm>
          <a:prstGeom prst="rect">
            <a:avLst/>
          </a:prstGeom>
          <a:noFill/>
          <a:ln/>
        </p:spPr>
        <p:txBody>
          <a:bodyPr wrap="square" lIns="25400" tIns="25400" rIns="25400" bIns="25400" rtlCol="0" anchor="t">
            <a:normAutofit/>
          </a:bodyPr>
          <a:lstStyle/>
          <a:p>
            <a:pPr algn="l" indent="0" marL="0">
              <a:lnSpc>
                <a:spcPct val="125806"/>
              </a:lnSpc>
              <a:buNone/>
            </a:pPr>
            <a:r>
              <a:rPr lang="en-US" sz="1950" b="1" spc="312" kern="0" dirty="0">
                <a:solidFill>
                  <a:srgbClr val="76B900"/>
                </a:solidFill>
                <a:latin typeface="Arial" pitchFamily="34" charset="0"/>
                <a:ea typeface="Arial" pitchFamily="34" charset="-122"/>
                <a:cs typeface="Arial" pitchFamily="34" charset="-120"/>
              </a:rPr>
              <a:t>07 · RỦI RO LLM</a:t>
            </a:r>
            <a:endParaRPr lang="en-US" sz="1950" dirty="0"/>
          </a:p>
        </p:txBody>
      </p:sp>
      <p:sp>
        <p:nvSpPr>
          <p:cNvPr id="3" name="Text 1"/>
          <p:cNvSpPr/>
          <p:nvPr/>
        </p:nvSpPr>
        <p:spPr>
          <a:xfrm>
            <a:off x="952500" y="1476375"/>
            <a:ext cx="18021300" cy="708571"/>
          </a:xfrm>
          <a:prstGeom prst="rect">
            <a:avLst/>
          </a:prstGeom>
          <a:noFill/>
          <a:ln/>
        </p:spPr>
        <p:txBody>
          <a:bodyPr wrap="square" lIns="25400" tIns="25400" rIns="25400" bIns="25400" rtlCol="0" anchor="t">
            <a:normAutofit/>
          </a:bodyPr>
          <a:lstStyle/>
          <a:p>
            <a:pPr algn="l" indent="0" marL="0">
              <a:lnSpc>
                <a:spcPct val="95135"/>
              </a:lnSpc>
              <a:buNone/>
            </a:pPr>
            <a:r>
              <a:rPr lang="en-US" sz="4800" b="1" dirty="0">
                <a:solidFill>
                  <a:srgbClr val="FFFFFF"/>
                </a:solidFill>
                <a:latin typeface="Arial" pitchFamily="34" charset="0"/>
                <a:ea typeface="Arial" pitchFamily="34" charset="-122"/>
                <a:cs typeface="Arial" pitchFamily="34" charset="-120"/>
              </a:rPr>
              <a:t>Ba lớp chặn hallucination</a:t>
            </a:r>
            <a:endParaRPr lang="en-US" sz="4800" dirty="0"/>
          </a:p>
        </p:txBody>
      </p:sp>
      <p:sp>
        <p:nvSpPr>
          <p:cNvPr id="4" name="Shape 2"/>
          <p:cNvSpPr/>
          <p:nvPr/>
        </p:nvSpPr>
        <p:spPr>
          <a:xfrm>
            <a:off x="952500" y="2604046"/>
            <a:ext cx="16383000" cy="2209800"/>
          </a:xfrm>
          <a:prstGeom prst="roundRect">
            <a:avLst>
              <a:gd name="adj" fmla="val 5172"/>
            </a:avLst>
          </a:prstGeom>
          <a:solidFill>
            <a:srgbClr val="16171A"/>
          </a:solidFill>
          <a:ln w="9525">
            <a:solidFill>
              <a:srgbClr val="2E3033"/>
            </a:solidFill>
            <a:prstDash val="solid"/>
          </a:ln>
        </p:spPr>
      </p:sp>
      <p:sp>
        <p:nvSpPr>
          <p:cNvPr id="5" name="Text 3"/>
          <p:cNvSpPr/>
          <p:nvPr/>
        </p:nvSpPr>
        <p:spPr>
          <a:xfrm>
            <a:off x="1419225" y="3251746"/>
            <a:ext cx="838200" cy="952500"/>
          </a:xfrm>
          <a:prstGeom prst="rect">
            <a:avLst/>
          </a:prstGeom>
          <a:noFill/>
          <a:ln/>
        </p:spPr>
        <p:txBody>
          <a:bodyPr wrap="square" lIns="25400" tIns="25400" rIns="25400" bIns="25400" rtlCol="0" anchor="t">
            <a:normAutofit/>
          </a:bodyPr>
          <a:lstStyle/>
          <a:p>
            <a:pPr algn="l" indent="0" marL="0">
              <a:lnSpc>
                <a:spcPct val="129730"/>
              </a:lnSpc>
              <a:buNone/>
            </a:pPr>
            <a:r>
              <a:rPr lang="en-US" sz="4800" b="1" dirty="0">
                <a:solidFill>
                  <a:srgbClr val="76B900"/>
                </a:solidFill>
                <a:latin typeface="Arial" pitchFamily="34" charset="0"/>
                <a:ea typeface="Arial" pitchFamily="34" charset="-122"/>
                <a:cs typeface="Arial" pitchFamily="34" charset="-120"/>
              </a:rPr>
              <a:t>1</a:t>
            </a:r>
            <a:endParaRPr lang="en-US" sz="4800" dirty="0"/>
          </a:p>
        </p:txBody>
      </p:sp>
      <p:sp>
        <p:nvSpPr>
          <p:cNvPr id="6" name="Text 4"/>
          <p:cNvSpPr/>
          <p:nvPr/>
        </p:nvSpPr>
        <p:spPr>
          <a:xfrm>
            <a:off x="2562225" y="2994571"/>
            <a:ext cx="15737205" cy="552450"/>
          </a:xfrm>
          <a:prstGeom prst="rect">
            <a:avLst/>
          </a:prstGeom>
          <a:noFill/>
          <a:ln/>
        </p:spPr>
        <p:txBody>
          <a:bodyPr wrap="square" lIns="25400" tIns="25400" rIns="25400" bIns="25400" rtlCol="0" anchor="t">
            <a:normAutofit/>
          </a:bodyPr>
          <a:lstStyle/>
          <a:p>
            <a:pPr algn="l" indent="0" marL="0">
              <a:lnSpc>
                <a:spcPct val="128571"/>
              </a:lnSpc>
              <a:buNone/>
            </a:pPr>
            <a:r>
              <a:rPr lang="en-US" sz="2700" b="1" dirty="0">
                <a:solidFill>
                  <a:srgbClr val="FFFFFF"/>
                </a:solidFill>
                <a:latin typeface="Arial" pitchFamily="34" charset="0"/>
                <a:ea typeface="Arial" pitchFamily="34" charset="-122"/>
                <a:cs typeface="Arial" pitchFamily="34" charset="-120"/>
              </a:rPr>
              <a:t>Gate 1 — Spec Review</a:t>
            </a:r>
            <a:endParaRPr lang="en-US" sz="2700" dirty="0"/>
          </a:p>
        </p:txBody>
      </p:sp>
      <p:sp>
        <p:nvSpPr>
          <p:cNvPr id="7" name="Text 5"/>
          <p:cNvSpPr/>
          <p:nvPr/>
        </p:nvSpPr>
        <p:spPr>
          <a:xfrm>
            <a:off x="2562225" y="3623221"/>
            <a:ext cx="14735747" cy="838200"/>
          </a:xfrm>
          <a:prstGeom prst="rect">
            <a:avLst/>
          </a:prstGeom>
          <a:noFill/>
          <a:ln/>
        </p:spPr>
        <p:txBody>
          <a:bodyPr wrap="square" lIns="25400" tIns="25400" rIns="25400" bIns="25400" rtlCol="0" anchor="t">
            <a:normAutofit/>
          </a:bodyPr>
          <a:lstStyle/>
          <a:p>
            <a:pPr algn="l" indent="0" marL="0">
              <a:lnSpc>
                <a:spcPct val="123529"/>
              </a:lnSpc>
              <a:buNone/>
            </a:pPr>
            <a:r>
              <a:rPr lang="en-US" sz="2250" dirty="0">
                <a:solidFill>
                  <a:srgbClr val="B6B8BD"/>
                </a:solidFill>
                <a:latin typeface="Arial" pitchFamily="34" charset="0"/>
                <a:ea typeface="Arial" pitchFamily="34" charset="-122"/>
                <a:cs typeface="Arial" pitchFamily="34" charset="-120"/>
              </a:rPr>
              <a:t>Người dùng xác nhận từng requirement trước khi bất cứ thứ gì được sinh ra. Đầu vào rõ ràng thì hallucination phía sau giảm mạnh.</a:t>
            </a:r>
            <a:endParaRPr lang="en-US" sz="2250" dirty="0"/>
          </a:p>
        </p:txBody>
      </p:sp>
      <p:sp>
        <p:nvSpPr>
          <p:cNvPr id="8" name="Shape 6"/>
          <p:cNvSpPr/>
          <p:nvPr/>
        </p:nvSpPr>
        <p:spPr>
          <a:xfrm>
            <a:off x="952500" y="5042446"/>
            <a:ext cx="16383000" cy="2209800"/>
          </a:xfrm>
          <a:prstGeom prst="roundRect">
            <a:avLst>
              <a:gd name="adj" fmla="val 5172"/>
            </a:avLst>
          </a:prstGeom>
          <a:solidFill>
            <a:srgbClr val="16171A"/>
          </a:solidFill>
          <a:ln w="9525">
            <a:solidFill>
              <a:srgbClr val="2E3033"/>
            </a:solidFill>
            <a:prstDash val="solid"/>
          </a:ln>
        </p:spPr>
      </p:sp>
      <p:sp>
        <p:nvSpPr>
          <p:cNvPr id="9" name="Text 7"/>
          <p:cNvSpPr/>
          <p:nvPr/>
        </p:nvSpPr>
        <p:spPr>
          <a:xfrm>
            <a:off x="1419225" y="5690146"/>
            <a:ext cx="838200" cy="952500"/>
          </a:xfrm>
          <a:prstGeom prst="rect">
            <a:avLst/>
          </a:prstGeom>
          <a:noFill/>
          <a:ln/>
        </p:spPr>
        <p:txBody>
          <a:bodyPr wrap="square" lIns="25400" tIns="25400" rIns="25400" bIns="25400" rtlCol="0" anchor="t">
            <a:normAutofit/>
          </a:bodyPr>
          <a:lstStyle/>
          <a:p>
            <a:pPr algn="l" indent="0" marL="0">
              <a:lnSpc>
                <a:spcPct val="129730"/>
              </a:lnSpc>
              <a:buNone/>
            </a:pPr>
            <a:r>
              <a:rPr lang="en-US" sz="4800" b="1" dirty="0">
                <a:solidFill>
                  <a:srgbClr val="76B900"/>
                </a:solidFill>
                <a:latin typeface="Arial" pitchFamily="34" charset="0"/>
                <a:ea typeface="Arial" pitchFamily="34" charset="-122"/>
                <a:cs typeface="Arial" pitchFamily="34" charset="-120"/>
              </a:rPr>
              <a:t>2</a:t>
            </a:r>
            <a:endParaRPr lang="en-US" sz="4800" dirty="0"/>
          </a:p>
        </p:txBody>
      </p:sp>
      <p:sp>
        <p:nvSpPr>
          <p:cNvPr id="10" name="Text 8"/>
          <p:cNvSpPr/>
          <p:nvPr/>
        </p:nvSpPr>
        <p:spPr>
          <a:xfrm>
            <a:off x="2562225" y="5432971"/>
            <a:ext cx="15737205" cy="552450"/>
          </a:xfrm>
          <a:prstGeom prst="rect">
            <a:avLst/>
          </a:prstGeom>
          <a:noFill/>
          <a:ln/>
        </p:spPr>
        <p:txBody>
          <a:bodyPr wrap="square" lIns="25400" tIns="25400" rIns="25400" bIns="25400" rtlCol="0" anchor="t">
            <a:normAutofit/>
          </a:bodyPr>
          <a:lstStyle/>
          <a:p>
            <a:pPr algn="l" indent="0" marL="0">
              <a:lnSpc>
                <a:spcPct val="128571"/>
              </a:lnSpc>
              <a:buNone/>
            </a:pPr>
            <a:r>
              <a:rPr lang="en-US" sz="2700" b="1" dirty="0">
                <a:solidFill>
                  <a:srgbClr val="FFFFFF"/>
                </a:solidFill>
                <a:latin typeface="Arial" pitchFamily="34" charset="0"/>
                <a:ea typeface="Arial" pitchFamily="34" charset="-122"/>
                <a:cs typeface="Arial" pitchFamily="34" charset="-120"/>
              </a:rPr>
              <a:t>Gate 3 — Property Review</a:t>
            </a:r>
            <a:endParaRPr lang="en-US" sz="2700" dirty="0"/>
          </a:p>
        </p:txBody>
      </p:sp>
      <p:sp>
        <p:nvSpPr>
          <p:cNvPr id="11" name="Text 9"/>
          <p:cNvSpPr/>
          <p:nvPr/>
        </p:nvSpPr>
        <p:spPr>
          <a:xfrm>
            <a:off x="2562225" y="6061621"/>
            <a:ext cx="14735747" cy="838200"/>
          </a:xfrm>
          <a:prstGeom prst="rect">
            <a:avLst/>
          </a:prstGeom>
          <a:noFill/>
          <a:ln/>
        </p:spPr>
        <p:txBody>
          <a:bodyPr wrap="square" lIns="25400" tIns="25400" rIns="25400" bIns="25400" rtlCol="0" anchor="t">
            <a:normAutofit/>
          </a:bodyPr>
          <a:lstStyle/>
          <a:p>
            <a:pPr algn="l" indent="0" marL="0">
              <a:lnSpc>
                <a:spcPct val="123529"/>
              </a:lnSpc>
              <a:buNone/>
            </a:pPr>
            <a:r>
              <a:rPr lang="en-US" sz="2250" dirty="0">
                <a:solidFill>
                  <a:srgbClr val="B6B8BD"/>
                </a:solidFill>
                <a:latin typeface="Arial" pitchFamily="34" charset="0"/>
                <a:ea typeface="Arial" pitchFamily="34" charset="-122"/>
                <a:cs typeface="Arial" pitchFamily="34" charset="-120"/>
              </a:rPr>
              <a:t>Mọi SVA hiển thị dưới dạng ngôn ngữ tự nhiên, người dùng xác nhận từng cái. Assertion chưa ký không được tính vào sign-off.</a:t>
            </a:r>
            <a:endParaRPr lang="en-US" sz="2250" dirty="0"/>
          </a:p>
        </p:txBody>
      </p:sp>
      <p:sp>
        <p:nvSpPr>
          <p:cNvPr id="12" name="Shape 10"/>
          <p:cNvSpPr/>
          <p:nvPr/>
        </p:nvSpPr>
        <p:spPr>
          <a:xfrm>
            <a:off x="952500" y="7480846"/>
            <a:ext cx="16383000" cy="1809750"/>
          </a:xfrm>
          <a:prstGeom prst="roundRect">
            <a:avLst>
              <a:gd name="adj" fmla="val 6316"/>
            </a:avLst>
          </a:prstGeom>
          <a:solidFill>
            <a:srgbClr val="16171A">
              <a:alpha val="60000"/>
            </a:srgbClr>
          </a:solidFill>
          <a:ln w="9525">
            <a:solidFill>
              <a:srgbClr val="2E3033">
                <a:alpha val="60000"/>
              </a:srgbClr>
            </a:solidFill>
            <a:prstDash val="solid"/>
          </a:ln>
        </p:spPr>
      </p:sp>
      <p:sp>
        <p:nvSpPr>
          <p:cNvPr id="13" name="Text 11"/>
          <p:cNvSpPr/>
          <p:nvPr/>
        </p:nvSpPr>
        <p:spPr>
          <a:xfrm>
            <a:off x="1419225" y="7928521"/>
            <a:ext cx="838200" cy="952500"/>
          </a:xfrm>
          <a:prstGeom prst="rect">
            <a:avLst/>
          </a:prstGeom>
          <a:noFill/>
          <a:ln/>
        </p:spPr>
        <p:txBody>
          <a:bodyPr wrap="square" lIns="25400" tIns="25400" rIns="25400" bIns="25400" rtlCol="0" anchor="t">
            <a:normAutofit/>
          </a:bodyPr>
          <a:lstStyle/>
          <a:p>
            <a:pPr algn="l" indent="0" marL="0">
              <a:lnSpc>
                <a:spcPct val="129730"/>
              </a:lnSpc>
              <a:buNone/>
            </a:pPr>
            <a:r>
              <a:rPr lang="en-US" sz="4800" b="1" dirty="0">
                <a:solidFill>
                  <a:srgbClr val="8A8D93">
                    <a:alpha val="60000"/>
                  </a:srgbClr>
                </a:solidFill>
                <a:latin typeface="Arial" pitchFamily="34" charset="0"/>
                <a:ea typeface="Arial" pitchFamily="34" charset="-122"/>
                <a:cs typeface="Arial" pitchFamily="34" charset="-120"/>
              </a:rPr>
              <a:t>3</a:t>
            </a:r>
            <a:endParaRPr lang="en-US" sz="4800" dirty="0"/>
          </a:p>
        </p:txBody>
      </p:sp>
      <p:sp>
        <p:nvSpPr>
          <p:cNvPr id="14" name="Text 12"/>
          <p:cNvSpPr/>
          <p:nvPr/>
        </p:nvSpPr>
        <p:spPr>
          <a:xfrm>
            <a:off x="2562225" y="7871371"/>
            <a:ext cx="11544895" cy="552450"/>
          </a:xfrm>
          <a:prstGeom prst="rect">
            <a:avLst/>
          </a:prstGeom>
          <a:noFill/>
          <a:ln/>
        </p:spPr>
        <p:txBody>
          <a:bodyPr wrap="square" lIns="25400" tIns="25400" rIns="25400" bIns="25400" rtlCol="0" anchor="t">
            <a:normAutofit/>
          </a:bodyPr>
          <a:lstStyle/>
          <a:p>
            <a:pPr algn="l" indent="0" marL="0">
              <a:lnSpc>
                <a:spcPct val="128571"/>
              </a:lnSpc>
              <a:buNone/>
            </a:pPr>
            <a:r>
              <a:rPr lang="en-US" sz="2700" b="1" dirty="0">
                <a:solidFill>
                  <a:srgbClr val="FFFFFF">
                    <a:alpha val="60000"/>
                  </a:srgbClr>
                </a:solidFill>
                <a:latin typeface="Arial" pitchFamily="34" charset="0"/>
                <a:ea typeface="Arial" pitchFamily="34" charset="-122"/>
                <a:cs typeface="Arial" pitchFamily="34" charset="-120"/>
              </a:rPr>
              <a:t>Dual generation — hoãn sang sau 6 tuần</a:t>
            </a:r>
            <a:endParaRPr lang="en-US" sz="2700" dirty="0"/>
          </a:p>
        </p:txBody>
      </p:sp>
      <p:sp>
        <p:nvSpPr>
          <p:cNvPr id="15" name="Text 13"/>
          <p:cNvSpPr/>
          <p:nvPr/>
        </p:nvSpPr>
        <p:spPr>
          <a:xfrm>
            <a:off x="2562225" y="8500021"/>
            <a:ext cx="11544895" cy="438150"/>
          </a:xfrm>
          <a:prstGeom prst="rect">
            <a:avLst/>
          </a:prstGeom>
          <a:noFill/>
          <a:ln/>
        </p:spPr>
        <p:txBody>
          <a:bodyPr wrap="square" lIns="25400" tIns="25400" rIns="25400" bIns="25400" rtlCol="0" anchor="t">
            <a:normAutofit/>
          </a:bodyPr>
          <a:lstStyle/>
          <a:p>
            <a:pPr algn="l" indent="0" marL="0">
              <a:lnSpc>
                <a:spcPct val="123529"/>
              </a:lnSpc>
              <a:buNone/>
            </a:pPr>
            <a:r>
              <a:rPr lang="en-US" sz="2250" dirty="0">
                <a:solidFill>
                  <a:srgbClr val="B6B8BD">
                    <a:alpha val="60000"/>
                  </a:srgbClr>
                </a:solidFill>
                <a:latin typeface="Arial" pitchFamily="34" charset="0"/>
                <a:ea typeface="Arial" pitchFamily="34" charset="-122"/>
                <a:cs typeface="Arial" pitchFamily="34" charset="-120"/>
              </a:rPr>
              <a:t>Sinh RTL và SVA hai lần độc lập rồi diff. Chi phí gấp đôi, để lại cho giai đoạn sau.</a:t>
            </a:r>
            <a:endParaRPr lang="en-US" sz="2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952500" y="952500"/>
            <a:ext cx="18021300" cy="409575"/>
          </a:xfrm>
          <a:prstGeom prst="rect">
            <a:avLst/>
          </a:prstGeom>
          <a:noFill/>
          <a:ln/>
        </p:spPr>
        <p:txBody>
          <a:bodyPr wrap="square" lIns="25400" tIns="25400" rIns="25400" bIns="25400" rtlCol="0" anchor="t">
            <a:normAutofit/>
          </a:bodyPr>
          <a:lstStyle/>
          <a:p>
            <a:pPr algn="l" indent="0" marL="0">
              <a:lnSpc>
                <a:spcPct val="125806"/>
              </a:lnSpc>
              <a:buNone/>
            </a:pPr>
            <a:r>
              <a:rPr lang="en-US" sz="1950" b="1" spc="312" kern="0" dirty="0">
                <a:solidFill>
                  <a:srgbClr val="76B900"/>
                </a:solidFill>
                <a:latin typeface="Arial" pitchFamily="34" charset="0"/>
                <a:ea typeface="Arial" pitchFamily="34" charset="-122"/>
                <a:cs typeface="Arial" pitchFamily="34" charset="-120"/>
              </a:rPr>
              <a:t>08 · TRACEABILITY</a:t>
            </a:r>
            <a:endParaRPr lang="en-US" sz="1950" dirty="0"/>
          </a:p>
        </p:txBody>
      </p:sp>
      <p:sp>
        <p:nvSpPr>
          <p:cNvPr id="3" name="Text 1"/>
          <p:cNvSpPr/>
          <p:nvPr/>
        </p:nvSpPr>
        <p:spPr>
          <a:xfrm>
            <a:off x="952500" y="1476375"/>
            <a:ext cx="18021300" cy="708571"/>
          </a:xfrm>
          <a:prstGeom prst="rect">
            <a:avLst/>
          </a:prstGeom>
          <a:noFill/>
          <a:ln/>
        </p:spPr>
        <p:txBody>
          <a:bodyPr wrap="square" lIns="25400" tIns="25400" rIns="25400" bIns="25400" rtlCol="0" anchor="t">
            <a:normAutofit/>
          </a:bodyPr>
          <a:lstStyle/>
          <a:p>
            <a:pPr algn="l" indent="0" marL="0">
              <a:lnSpc>
                <a:spcPct val="95135"/>
              </a:lnSpc>
              <a:buNone/>
            </a:pPr>
            <a:r>
              <a:rPr lang="en-US" sz="4800" b="1" dirty="0">
                <a:solidFill>
                  <a:srgbClr val="FFFFFF"/>
                </a:solidFill>
                <a:latin typeface="Arial" pitchFamily="34" charset="0"/>
                <a:ea typeface="Arial" pitchFamily="34" charset="-122"/>
                <a:cs typeface="Arial" pitchFamily="34" charset="-120"/>
              </a:rPr>
              <a:t>RTM là tài liệu sống, không phải báo cáo cuối kỳ</a:t>
            </a:r>
            <a:endParaRPr lang="en-US" sz="4800" dirty="0"/>
          </a:p>
        </p:txBody>
      </p:sp>
      <p:sp>
        <p:nvSpPr>
          <p:cNvPr id="4" name="Text 2"/>
          <p:cNvSpPr/>
          <p:nvPr/>
        </p:nvSpPr>
        <p:spPr>
          <a:xfrm>
            <a:off x="952500" y="2604046"/>
            <a:ext cx="9370159" cy="495300"/>
          </a:xfrm>
          <a:prstGeom prst="rect">
            <a:avLst/>
          </a:prstGeom>
          <a:noFill/>
          <a:ln/>
        </p:spPr>
        <p:txBody>
          <a:bodyPr wrap="square" lIns="25400" tIns="25400" rIns="25400" bIns="25400" rtlCol="0" anchor="t">
            <a:normAutofit/>
          </a:bodyPr>
          <a:lstStyle/>
          <a:p>
            <a:pPr algn="l" indent="0" marL="0">
              <a:lnSpc>
                <a:spcPct val="129730"/>
              </a:lnSpc>
              <a:buNone/>
            </a:pPr>
            <a:r>
              <a:rPr lang="en-US" sz="2400" b="1" dirty="0">
                <a:solidFill>
                  <a:srgbClr val="8A8D93"/>
                </a:solidFill>
                <a:latin typeface="Arial" pitchFamily="34" charset="0"/>
                <a:ea typeface="Arial" pitchFamily="34" charset="-122"/>
                <a:cs typeface="Arial" pitchFamily="34" charset="-120"/>
              </a:rPr>
              <a:t>Trace xuôi — mỗi REQ-ID nối tới</a:t>
            </a:r>
            <a:endParaRPr lang="en-US" sz="2400" dirty="0"/>
          </a:p>
        </p:txBody>
      </p:sp>
      <p:sp>
        <p:nvSpPr>
          <p:cNvPr id="5" name="Shape 3"/>
          <p:cNvSpPr/>
          <p:nvPr/>
        </p:nvSpPr>
        <p:spPr>
          <a:xfrm>
            <a:off x="952500" y="3327946"/>
            <a:ext cx="8518327" cy="942975"/>
          </a:xfrm>
          <a:prstGeom prst="roundRect">
            <a:avLst>
              <a:gd name="adj" fmla="val 8081"/>
            </a:avLst>
          </a:prstGeom>
          <a:solidFill>
            <a:srgbClr val="16171A"/>
          </a:solidFill>
          <a:ln/>
        </p:spPr>
      </p:sp>
      <p:sp>
        <p:nvSpPr>
          <p:cNvPr id="6" name="Shape 4"/>
          <p:cNvSpPr/>
          <p:nvPr/>
        </p:nvSpPr>
        <p:spPr>
          <a:xfrm>
            <a:off x="952500" y="4261396"/>
            <a:ext cx="8518327" cy="9525"/>
          </a:xfrm>
          <a:prstGeom prst="rect">
            <a:avLst/>
          </a:prstGeom>
          <a:solidFill>
            <a:srgbClr val="2E3033"/>
          </a:solidFill>
          <a:ln/>
        </p:spPr>
      </p:sp>
      <p:sp>
        <p:nvSpPr>
          <p:cNvPr id="7" name="Shape 5"/>
          <p:cNvSpPr/>
          <p:nvPr/>
        </p:nvSpPr>
        <p:spPr>
          <a:xfrm>
            <a:off x="952500" y="3327946"/>
            <a:ext cx="8518327" cy="9525"/>
          </a:xfrm>
          <a:prstGeom prst="rect">
            <a:avLst/>
          </a:prstGeom>
          <a:solidFill>
            <a:srgbClr val="2E3033"/>
          </a:solidFill>
          <a:ln/>
        </p:spPr>
      </p:sp>
      <p:sp>
        <p:nvSpPr>
          <p:cNvPr id="8" name="Shape 6"/>
          <p:cNvSpPr/>
          <p:nvPr/>
        </p:nvSpPr>
        <p:spPr>
          <a:xfrm>
            <a:off x="952500" y="3327946"/>
            <a:ext cx="38100" cy="942975"/>
          </a:xfrm>
          <a:prstGeom prst="rect">
            <a:avLst/>
          </a:prstGeom>
          <a:solidFill>
            <a:srgbClr val="76B900"/>
          </a:solidFill>
          <a:ln/>
        </p:spPr>
      </p:sp>
      <p:sp>
        <p:nvSpPr>
          <p:cNvPr id="9" name="Shape 7"/>
          <p:cNvSpPr/>
          <p:nvPr/>
        </p:nvSpPr>
        <p:spPr>
          <a:xfrm>
            <a:off x="9461302" y="3327946"/>
            <a:ext cx="9525" cy="942975"/>
          </a:xfrm>
          <a:prstGeom prst="rect">
            <a:avLst/>
          </a:prstGeom>
          <a:solidFill>
            <a:srgbClr val="2E3033"/>
          </a:solidFill>
          <a:ln/>
        </p:spPr>
      </p:sp>
      <p:sp>
        <p:nvSpPr>
          <p:cNvPr id="10" name="Text 8"/>
          <p:cNvSpPr/>
          <p:nvPr/>
        </p:nvSpPr>
        <p:spPr>
          <a:xfrm>
            <a:off x="1295400" y="3585121"/>
            <a:ext cx="8116651" cy="466725"/>
          </a:xfrm>
          <a:prstGeom prst="rect">
            <a:avLst/>
          </a:prstGeom>
          <a:noFill/>
          <a:ln/>
        </p:spPr>
        <p:txBody>
          <a:bodyPr wrap="square" lIns="25400" tIns="25400" rIns="25400" bIns="25400" rtlCol="0" anchor="t">
            <a:normAutofit/>
          </a:bodyPr>
          <a:lstStyle/>
          <a:p>
            <a:pPr algn="l" indent="0" marL="0">
              <a:lnSpc>
                <a:spcPct val="132353"/>
              </a:lnSpc>
              <a:buNone/>
            </a:pPr>
            <a:r>
              <a:rPr lang="en-US" sz="2250" dirty="0">
                <a:solidFill>
                  <a:srgbClr val="FFFFFF"/>
                </a:solidFill>
                <a:latin typeface="Arial" pitchFamily="34" charset="0"/>
                <a:ea typeface="Arial" pitchFamily="34" charset="-122"/>
                <a:cs typeface="Arial" pitchFamily="34" charset="-120"/>
              </a:rPr>
              <a:t>Module RTL và các dòng code cụ thể</a:t>
            </a:r>
            <a:endParaRPr lang="en-US" sz="2250" dirty="0"/>
          </a:p>
        </p:txBody>
      </p:sp>
      <p:sp>
        <p:nvSpPr>
          <p:cNvPr id="11" name="Shape 9"/>
          <p:cNvSpPr/>
          <p:nvPr/>
        </p:nvSpPr>
        <p:spPr>
          <a:xfrm>
            <a:off x="952500" y="4442371"/>
            <a:ext cx="8518327" cy="942975"/>
          </a:xfrm>
          <a:prstGeom prst="roundRect">
            <a:avLst>
              <a:gd name="adj" fmla="val 8081"/>
            </a:avLst>
          </a:prstGeom>
          <a:solidFill>
            <a:srgbClr val="16171A"/>
          </a:solidFill>
          <a:ln/>
        </p:spPr>
      </p:sp>
      <p:sp>
        <p:nvSpPr>
          <p:cNvPr id="12" name="Shape 10"/>
          <p:cNvSpPr/>
          <p:nvPr/>
        </p:nvSpPr>
        <p:spPr>
          <a:xfrm>
            <a:off x="952500" y="5375821"/>
            <a:ext cx="8518327" cy="9525"/>
          </a:xfrm>
          <a:prstGeom prst="rect">
            <a:avLst/>
          </a:prstGeom>
          <a:solidFill>
            <a:srgbClr val="2E3033"/>
          </a:solidFill>
          <a:ln/>
        </p:spPr>
      </p:sp>
      <p:sp>
        <p:nvSpPr>
          <p:cNvPr id="13" name="Shape 11"/>
          <p:cNvSpPr/>
          <p:nvPr/>
        </p:nvSpPr>
        <p:spPr>
          <a:xfrm>
            <a:off x="952500" y="4442371"/>
            <a:ext cx="8518327" cy="9525"/>
          </a:xfrm>
          <a:prstGeom prst="rect">
            <a:avLst/>
          </a:prstGeom>
          <a:solidFill>
            <a:srgbClr val="2E3033"/>
          </a:solidFill>
          <a:ln/>
        </p:spPr>
      </p:sp>
      <p:sp>
        <p:nvSpPr>
          <p:cNvPr id="14" name="Shape 12"/>
          <p:cNvSpPr/>
          <p:nvPr/>
        </p:nvSpPr>
        <p:spPr>
          <a:xfrm>
            <a:off x="952500" y="4442371"/>
            <a:ext cx="38100" cy="942975"/>
          </a:xfrm>
          <a:prstGeom prst="rect">
            <a:avLst/>
          </a:prstGeom>
          <a:solidFill>
            <a:srgbClr val="76B900"/>
          </a:solidFill>
          <a:ln/>
        </p:spPr>
      </p:sp>
      <p:sp>
        <p:nvSpPr>
          <p:cNvPr id="15" name="Shape 13"/>
          <p:cNvSpPr/>
          <p:nvPr/>
        </p:nvSpPr>
        <p:spPr>
          <a:xfrm>
            <a:off x="9461302" y="4442371"/>
            <a:ext cx="9525" cy="942975"/>
          </a:xfrm>
          <a:prstGeom prst="rect">
            <a:avLst/>
          </a:prstGeom>
          <a:solidFill>
            <a:srgbClr val="2E3033"/>
          </a:solidFill>
          <a:ln/>
        </p:spPr>
      </p:sp>
      <p:sp>
        <p:nvSpPr>
          <p:cNvPr id="16" name="Text 14"/>
          <p:cNvSpPr/>
          <p:nvPr/>
        </p:nvSpPr>
        <p:spPr>
          <a:xfrm>
            <a:off x="1295400" y="4699546"/>
            <a:ext cx="8116651" cy="466725"/>
          </a:xfrm>
          <a:prstGeom prst="rect">
            <a:avLst/>
          </a:prstGeom>
          <a:noFill/>
          <a:ln/>
        </p:spPr>
        <p:txBody>
          <a:bodyPr wrap="square" lIns="25400" tIns="25400" rIns="25400" bIns="25400" rtlCol="0" anchor="t">
            <a:normAutofit/>
          </a:bodyPr>
          <a:lstStyle/>
          <a:p>
            <a:pPr algn="l" indent="0" marL="0">
              <a:lnSpc>
                <a:spcPct val="132353"/>
              </a:lnSpc>
              <a:buNone/>
            </a:pPr>
            <a:r>
              <a:rPr lang="en-US" sz="2250" dirty="0">
                <a:solidFill>
                  <a:srgbClr val="FFFFFF"/>
                </a:solidFill>
                <a:latin typeface="Arial" pitchFamily="34" charset="0"/>
                <a:ea typeface="Arial" pitchFamily="34" charset="-122"/>
                <a:cs typeface="Arial" pitchFamily="34" charset="-120"/>
              </a:rPr>
              <a:t>SVA assertion đã được người xác nhận</a:t>
            </a:r>
            <a:endParaRPr lang="en-US" sz="2250" dirty="0"/>
          </a:p>
        </p:txBody>
      </p:sp>
      <p:sp>
        <p:nvSpPr>
          <p:cNvPr id="17" name="Shape 15"/>
          <p:cNvSpPr/>
          <p:nvPr/>
        </p:nvSpPr>
        <p:spPr>
          <a:xfrm>
            <a:off x="952500" y="5556796"/>
            <a:ext cx="8518327" cy="942975"/>
          </a:xfrm>
          <a:prstGeom prst="roundRect">
            <a:avLst>
              <a:gd name="adj" fmla="val 8081"/>
            </a:avLst>
          </a:prstGeom>
          <a:solidFill>
            <a:srgbClr val="16171A"/>
          </a:solidFill>
          <a:ln/>
        </p:spPr>
      </p:sp>
      <p:sp>
        <p:nvSpPr>
          <p:cNvPr id="18" name="Shape 16"/>
          <p:cNvSpPr/>
          <p:nvPr/>
        </p:nvSpPr>
        <p:spPr>
          <a:xfrm>
            <a:off x="952500" y="6490246"/>
            <a:ext cx="8518327" cy="9525"/>
          </a:xfrm>
          <a:prstGeom prst="rect">
            <a:avLst/>
          </a:prstGeom>
          <a:solidFill>
            <a:srgbClr val="2E3033"/>
          </a:solidFill>
          <a:ln/>
        </p:spPr>
      </p:sp>
      <p:sp>
        <p:nvSpPr>
          <p:cNvPr id="19" name="Shape 17"/>
          <p:cNvSpPr/>
          <p:nvPr/>
        </p:nvSpPr>
        <p:spPr>
          <a:xfrm>
            <a:off x="952500" y="5556796"/>
            <a:ext cx="8518327" cy="9525"/>
          </a:xfrm>
          <a:prstGeom prst="rect">
            <a:avLst/>
          </a:prstGeom>
          <a:solidFill>
            <a:srgbClr val="2E3033"/>
          </a:solidFill>
          <a:ln/>
        </p:spPr>
      </p:sp>
      <p:sp>
        <p:nvSpPr>
          <p:cNvPr id="20" name="Shape 18"/>
          <p:cNvSpPr/>
          <p:nvPr/>
        </p:nvSpPr>
        <p:spPr>
          <a:xfrm>
            <a:off x="952500" y="5556796"/>
            <a:ext cx="38100" cy="942975"/>
          </a:xfrm>
          <a:prstGeom prst="rect">
            <a:avLst/>
          </a:prstGeom>
          <a:solidFill>
            <a:srgbClr val="76B900"/>
          </a:solidFill>
          <a:ln/>
        </p:spPr>
      </p:sp>
      <p:sp>
        <p:nvSpPr>
          <p:cNvPr id="21" name="Shape 19"/>
          <p:cNvSpPr/>
          <p:nvPr/>
        </p:nvSpPr>
        <p:spPr>
          <a:xfrm>
            <a:off x="9461302" y="5556796"/>
            <a:ext cx="9525" cy="942975"/>
          </a:xfrm>
          <a:prstGeom prst="rect">
            <a:avLst/>
          </a:prstGeom>
          <a:solidFill>
            <a:srgbClr val="2E3033"/>
          </a:solidFill>
          <a:ln/>
        </p:spPr>
      </p:sp>
      <p:sp>
        <p:nvSpPr>
          <p:cNvPr id="22" name="Text 20"/>
          <p:cNvSpPr/>
          <p:nvPr/>
        </p:nvSpPr>
        <p:spPr>
          <a:xfrm>
            <a:off x="1295400" y="5813971"/>
            <a:ext cx="8116651" cy="466725"/>
          </a:xfrm>
          <a:prstGeom prst="rect">
            <a:avLst/>
          </a:prstGeom>
          <a:noFill/>
          <a:ln/>
        </p:spPr>
        <p:txBody>
          <a:bodyPr wrap="square" lIns="25400" tIns="25400" rIns="25400" bIns="25400" rtlCol="0" anchor="t">
            <a:normAutofit/>
          </a:bodyPr>
          <a:lstStyle/>
          <a:p>
            <a:pPr algn="l" indent="0" marL="0">
              <a:lnSpc>
                <a:spcPct val="132353"/>
              </a:lnSpc>
              <a:buNone/>
            </a:pPr>
            <a:r>
              <a:rPr lang="en-US" sz="2250" dirty="0">
                <a:solidFill>
                  <a:srgbClr val="FFFFFF"/>
                </a:solidFill>
                <a:latin typeface="Arial" pitchFamily="34" charset="0"/>
                <a:ea typeface="Arial" pitchFamily="34" charset="-122"/>
                <a:cs typeface="Arial" pitchFamily="34" charset="-120"/>
              </a:rPr>
              <a:t>Danh sách test case TC-ID</a:t>
            </a:r>
            <a:endParaRPr lang="en-US" sz="2250" dirty="0"/>
          </a:p>
        </p:txBody>
      </p:sp>
      <p:sp>
        <p:nvSpPr>
          <p:cNvPr id="23" name="Text 21"/>
          <p:cNvSpPr/>
          <p:nvPr/>
        </p:nvSpPr>
        <p:spPr>
          <a:xfrm>
            <a:off x="952500" y="6766471"/>
            <a:ext cx="8773876" cy="866775"/>
          </a:xfrm>
          <a:prstGeom prst="rect">
            <a:avLst/>
          </a:prstGeom>
          <a:noFill/>
          <a:ln/>
        </p:spPr>
        <p:txBody>
          <a:bodyPr wrap="square" lIns="25400" tIns="25400" rIns="25400" bIns="25400" rtlCol="0" anchor="t">
            <a:normAutofit/>
          </a:bodyPr>
          <a:lstStyle/>
          <a:p>
            <a:pPr algn="l" indent="0" marL="0">
              <a:lnSpc>
                <a:spcPct val="127941"/>
              </a:lnSpc>
              <a:buNone/>
            </a:pPr>
            <a:r>
              <a:rPr lang="en-US" sz="2250" dirty="0">
                <a:solidFill>
                  <a:srgbClr val="B6B8BD"/>
                </a:solidFill>
                <a:latin typeface="Arial" pitchFamily="34" charset="0"/>
                <a:ea typeface="Arial" pitchFamily="34" charset="-122"/>
                <a:cs typeface="Arial" pitchFamily="34" charset="-120"/>
              </a:rPr>
              <a:t>Mọi trạng thái nằm trong </a:t>
            </a:r>
            <a:pPr algn="l" indent="0" marL="0">
              <a:lnSpc>
                <a:spcPct val="127941"/>
              </a:lnSpc>
              <a:buNone/>
            </a:pPr>
            <a:r>
              <a:rPr lang="en-US" sz="2250" dirty="0">
                <a:solidFill>
                  <a:srgbClr val="E4E5E7"/>
                </a:solidFill>
                <a:latin typeface="Courier New" pitchFamily="34" charset="0"/>
                <a:ea typeface="Courier New" pitchFamily="34" charset="-122"/>
                <a:cs typeface="Courier New" pitchFamily="34" charset="-120"/>
              </a:rPr>
              <a:t>schemas/rtm.json </a:t>
            </a:r>
            <a:pPr algn="l" indent="0" marL="0">
              <a:lnSpc>
                <a:spcPct val="127941"/>
              </a:lnSpc>
              <a:buNone/>
            </a:pPr>
            <a:r>
              <a:rPr lang="en-US" sz="2250" dirty="0">
                <a:solidFill>
                  <a:srgbClr val="B6B8BD"/>
                </a:solidFill>
                <a:latin typeface="Arial" pitchFamily="34" charset="0"/>
                <a:ea typeface="Arial" pitchFamily="34" charset="-122"/>
                <a:cs typeface="Arial" pitchFamily="34" charset="-120"/>
              </a:rPr>
              <a:t>. Khi RTM phát hiện lỗ hổng, flow tự quay lại sinh bổ sung đúng REQ-ID đó.</a:t>
            </a:r>
            <a:endParaRPr lang="en-US" sz="2250" dirty="0"/>
          </a:p>
        </p:txBody>
      </p:sp>
      <p:sp>
        <p:nvSpPr>
          <p:cNvPr id="24" name="Text 22"/>
          <p:cNvSpPr/>
          <p:nvPr/>
        </p:nvSpPr>
        <p:spPr>
          <a:xfrm>
            <a:off x="9928027" y="2604046"/>
            <a:ext cx="8148057" cy="495300"/>
          </a:xfrm>
          <a:prstGeom prst="rect">
            <a:avLst/>
          </a:prstGeom>
          <a:noFill/>
          <a:ln/>
        </p:spPr>
        <p:txBody>
          <a:bodyPr wrap="square" lIns="25400" tIns="25400" rIns="25400" bIns="25400" rtlCol="0" anchor="t">
            <a:normAutofit/>
          </a:bodyPr>
          <a:lstStyle/>
          <a:p>
            <a:pPr algn="l" indent="0" marL="0">
              <a:lnSpc>
                <a:spcPct val="129730"/>
              </a:lnSpc>
              <a:buNone/>
            </a:pPr>
            <a:r>
              <a:rPr lang="en-US" sz="2400" b="1" dirty="0">
                <a:solidFill>
                  <a:srgbClr val="8A8D93"/>
                </a:solidFill>
                <a:latin typeface="Arial" pitchFamily="34" charset="0"/>
                <a:ea typeface="Arial" pitchFamily="34" charset="-122"/>
                <a:cs typeface="Arial" pitchFamily="34" charset="-120"/>
              </a:rPr>
              <a:t>Trace ngược — hoãn sang sau 6 tuần</a:t>
            </a:r>
            <a:endParaRPr lang="en-US" sz="2400" dirty="0"/>
          </a:p>
        </p:txBody>
      </p:sp>
      <p:sp>
        <p:nvSpPr>
          <p:cNvPr id="25" name="Shape 23"/>
          <p:cNvSpPr/>
          <p:nvPr/>
        </p:nvSpPr>
        <p:spPr>
          <a:xfrm>
            <a:off x="9928027" y="3327946"/>
            <a:ext cx="7407325" cy="2628900"/>
          </a:xfrm>
          <a:prstGeom prst="roundRect">
            <a:avLst>
              <a:gd name="adj" fmla="val 4348"/>
            </a:avLst>
          </a:prstGeom>
          <a:solidFill>
            <a:srgbClr val="16171A">
              <a:alpha val="60000"/>
            </a:srgbClr>
          </a:solidFill>
          <a:ln w="9525">
            <a:solidFill>
              <a:srgbClr val="2E3033">
                <a:alpha val="60000"/>
              </a:srgbClr>
            </a:solidFill>
            <a:prstDash val="solid"/>
          </a:ln>
        </p:spPr>
      </p:sp>
      <p:sp>
        <p:nvSpPr>
          <p:cNvPr id="26" name="Text 24"/>
          <p:cNvSpPr/>
          <p:nvPr/>
        </p:nvSpPr>
        <p:spPr>
          <a:xfrm>
            <a:off x="10318552" y="3718471"/>
            <a:ext cx="6825063" cy="866775"/>
          </a:xfrm>
          <a:prstGeom prst="rect">
            <a:avLst/>
          </a:prstGeom>
          <a:noFill/>
          <a:ln/>
        </p:spPr>
        <p:txBody>
          <a:bodyPr wrap="square" lIns="25400" tIns="25400" rIns="25400" bIns="25400" rtlCol="0" anchor="t">
            <a:normAutofit/>
          </a:bodyPr>
          <a:lstStyle/>
          <a:p>
            <a:pPr algn="l" indent="0" marL="0">
              <a:lnSpc>
                <a:spcPct val="127941"/>
              </a:lnSpc>
              <a:buNone/>
            </a:pPr>
            <a:r>
              <a:rPr lang="en-US" sz="2250" dirty="0">
                <a:solidFill>
                  <a:srgbClr val="B6B8BD">
                    <a:alpha val="60000"/>
                  </a:srgbClr>
                </a:solidFill>
                <a:latin typeface="Arial" pitchFamily="34" charset="0"/>
                <a:ea typeface="Arial" pitchFamily="34" charset="-122"/>
                <a:cs typeface="Arial" pitchFamily="34" charset="-120"/>
              </a:rPr>
              <a:t>Đưa RTL đã sinh ngược lại cho LLM, bắt nó suy ra requirement, rồi so với spec gốc.</a:t>
            </a:r>
            <a:endParaRPr lang="en-US" sz="2250" dirty="0"/>
          </a:p>
        </p:txBody>
      </p:sp>
      <p:sp>
        <p:nvSpPr>
          <p:cNvPr id="27" name="Text 25"/>
          <p:cNvSpPr/>
          <p:nvPr/>
        </p:nvSpPr>
        <p:spPr>
          <a:xfrm>
            <a:off x="10318552" y="4737646"/>
            <a:ext cx="6825063" cy="866775"/>
          </a:xfrm>
          <a:prstGeom prst="rect">
            <a:avLst/>
          </a:prstGeom>
          <a:noFill/>
          <a:ln/>
        </p:spPr>
        <p:txBody>
          <a:bodyPr wrap="square" lIns="25400" tIns="25400" rIns="25400" bIns="25400" rtlCol="0" anchor="t">
            <a:normAutofit/>
          </a:bodyPr>
          <a:lstStyle/>
          <a:p>
            <a:pPr algn="l" indent="0" marL="0">
              <a:lnSpc>
                <a:spcPct val="127941"/>
              </a:lnSpc>
              <a:buNone/>
            </a:pPr>
            <a:r>
              <a:rPr lang="en-US" sz="2250" dirty="0">
                <a:solidFill>
                  <a:srgbClr val="B6B8BD">
                    <a:alpha val="60000"/>
                  </a:srgbClr>
                </a:solidFill>
                <a:latin typeface="Arial" pitchFamily="34" charset="0"/>
                <a:ea typeface="Arial" pitchFamily="34" charset="-122"/>
                <a:cs typeface="Arial" pitchFamily="34" charset="-120"/>
              </a:rPr>
              <a:t>Requirement suy ra mà không có trong spec gốc nghĩa là RTL đang làm việc ngoài phạm vi.</a:t>
            </a:r>
            <a:endParaRPr lang="en-US" sz="2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214"/>
        </a:solidFill>
      </p:bgPr>
    </p:bg>
    <p:spTree>
      <p:nvGrpSpPr>
        <p:cNvPr id="1" name=""/>
        <p:cNvGrpSpPr/>
        <p:nvPr/>
      </p:nvGrpSpPr>
      <p:grpSpPr>
        <a:xfrm>
          <a:off x="0" y="0"/>
          <a:ext cx="0" cy="0"/>
          <a:chOff x="0" y="0"/>
          <a:chExt cx="0" cy="0"/>
        </a:xfrm>
      </p:grpSpPr>
      <p:sp>
        <p:nvSpPr>
          <p:cNvPr id="2" name="Text 0"/>
          <p:cNvSpPr/>
          <p:nvPr/>
        </p:nvSpPr>
        <p:spPr>
          <a:xfrm>
            <a:off x="952500" y="952500"/>
            <a:ext cx="18021300" cy="409575"/>
          </a:xfrm>
          <a:prstGeom prst="rect">
            <a:avLst/>
          </a:prstGeom>
          <a:noFill/>
          <a:ln/>
        </p:spPr>
        <p:txBody>
          <a:bodyPr wrap="square" lIns="25400" tIns="25400" rIns="25400" bIns="25400" rtlCol="0" anchor="t">
            <a:normAutofit/>
          </a:bodyPr>
          <a:lstStyle/>
          <a:p>
            <a:pPr algn="l" indent="0" marL="0">
              <a:lnSpc>
                <a:spcPct val="125806"/>
              </a:lnSpc>
              <a:buNone/>
            </a:pPr>
            <a:r>
              <a:rPr lang="en-US" sz="1950" b="1" spc="312" kern="0" dirty="0">
                <a:solidFill>
                  <a:srgbClr val="76B900"/>
                </a:solidFill>
                <a:latin typeface="Arial" pitchFamily="34" charset="0"/>
                <a:ea typeface="Arial" pitchFamily="34" charset="-122"/>
                <a:cs typeface="Arial" pitchFamily="34" charset="-120"/>
              </a:rPr>
              <a:t>09 · SIGN-OFF</a:t>
            </a:r>
            <a:endParaRPr lang="en-US" sz="1950" dirty="0"/>
          </a:p>
        </p:txBody>
      </p:sp>
      <p:sp>
        <p:nvSpPr>
          <p:cNvPr id="3" name="Text 1"/>
          <p:cNvSpPr/>
          <p:nvPr/>
        </p:nvSpPr>
        <p:spPr>
          <a:xfrm>
            <a:off x="952500" y="1476375"/>
            <a:ext cx="18021300" cy="708571"/>
          </a:xfrm>
          <a:prstGeom prst="rect">
            <a:avLst/>
          </a:prstGeom>
          <a:noFill/>
          <a:ln/>
        </p:spPr>
        <p:txBody>
          <a:bodyPr wrap="square" lIns="25400" tIns="25400" rIns="25400" bIns="25400" rtlCol="0" anchor="t">
            <a:normAutofit/>
          </a:bodyPr>
          <a:lstStyle/>
          <a:p>
            <a:pPr algn="l" indent="0" marL="0">
              <a:lnSpc>
                <a:spcPct val="95135"/>
              </a:lnSpc>
              <a:buNone/>
            </a:pPr>
            <a:r>
              <a:rPr lang="en-US" sz="4800" b="1" dirty="0">
                <a:solidFill>
                  <a:srgbClr val="FFFFFF"/>
                </a:solidFill>
                <a:latin typeface="Arial" pitchFamily="34" charset="0"/>
                <a:ea typeface="Arial" pitchFamily="34" charset="-122"/>
                <a:cs typeface="Arial" pitchFamily="34" charset="-120"/>
              </a:rPr>
              <a:t>Sáu điều kiện cho mỗi REQ-ID</a:t>
            </a:r>
            <a:endParaRPr lang="en-US" sz="4800" dirty="0"/>
          </a:p>
        </p:txBody>
      </p:sp>
      <p:sp>
        <p:nvSpPr>
          <p:cNvPr id="4" name="Shape 2"/>
          <p:cNvSpPr/>
          <p:nvPr/>
        </p:nvSpPr>
        <p:spPr>
          <a:xfrm>
            <a:off x="952500" y="2565946"/>
            <a:ext cx="5308550" cy="2934742"/>
          </a:xfrm>
          <a:prstGeom prst="roundRect">
            <a:avLst>
              <a:gd name="adj" fmla="val 3246"/>
            </a:avLst>
          </a:prstGeom>
          <a:solidFill>
            <a:srgbClr val="1C1E21"/>
          </a:solidFill>
          <a:ln w="9525">
            <a:solidFill>
              <a:srgbClr val="2E3033"/>
            </a:solidFill>
            <a:prstDash val="solid"/>
          </a:ln>
        </p:spPr>
      </p:sp>
      <p:sp>
        <p:nvSpPr>
          <p:cNvPr id="5" name="Text 3"/>
          <p:cNvSpPr/>
          <p:nvPr/>
        </p:nvSpPr>
        <p:spPr>
          <a:xfrm>
            <a:off x="1304925" y="2918371"/>
            <a:ext cx="5064070" cy="409575"/>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76B900"/>
                </a:solidFill>
                <a:latin typeface="Courier New" pitchFamily="34" charset="0"/>
                <a:ea typeface="Courier New" pitchFamily="34" charset="-122"/>
                <a:cs typeface="Courier New" pitchFamily="34" charset="-120"/>
              </a:rPr>
              <a:t>rtl_traced</a:t>
            </a:r>
            <a:endParaRPr lang="en-US" sz="1950" dirty="0"/>
          </a:p>
        </p:txBody>
      </p:sp>
      <p:sp>
        <p:nvSpPr>
          <p:cNvPr id="6" name="Text 4"/>
          <p:cNvSpPr/>
          <p:nvPr/>
        </p:nvSpPr>
        <p:spPr>
          <a:xfrm>
            <a:off x="1304925" y="3423196"/>
            <a:ext cx="5064070" cy="449461"/>
          </a:xfrm>
          <a:prstGeom prst="rect">
            <a:avLst/>
          </a:prstGeom>
          <a:noFill/>
          <a:ln/>
        </p:spPr>
        <p:txBody>
          <a:bodyPr wrap="square" lIns="25400" tIns="25400" rIns="25400" bIns="25400" rtlCol="0" anchor="t">
            <a:normAutofit/>
          </a:bodyPr>
          <a:lstStyle/>
          <a:p>
            <a:pPr algn="l" indent="0" marL="0">
              <a:lnSpc>
                <a:spcPct val="116757"/>
              </a:lnSpc>
              <a:buNone/>
            </a:pPr>
            <a:r>
              <a:rPr lang="en-US" sz="2400" dirty="0">
                <a:solidFill>
                  <a:srgbClr val="FFFFFF"/>
                </a:solidFill>
                <a:latin typeface="Arial" pitchFamily="34" charset="0"/>
                <a:ea typeface="Arial" pitchFamily="34" charset="-122"/>
                <a:cs typeface="Arial" pitchFamily="34" charset="-120"/>
              </a:rPr>
              <a:t>Khối RTL đã tag REQ-ID này</a:t>
            </a:r>
            <a:endParaRPr lang="en-US" sz="2400" dirty="0"/>
          </a:p>
        </p:txBody>
      </p:sp>
      <p:sp>
        <p:nvSpPr>
          <p:cNvPr id="7" name="Shape 5"/>
          <p:cNvSpPr/>
          <p:nvPr/>
        </p:nvSpPr>
        <p:spPr>
          <a:xfrm>
            <a:off x="6489650" y="2565946"/>
            <a:ext cx="5308550" cy="2934742"/>
          </a:xfrm>
          <a:prstGeom prst="roundRect">
            <a:avLst>
              <a:gd name="adj" fmla="val 3246"/>
            </a:avLst>
          </a:prstGeom>
          <a:solidFill>
            <a:srgbClr val="1C1E21"/>
          </a:solidFill>
          <a:ln w="9525">
            <a:solidFill>
              <a:srgbClr val="2E3033"/>
            </a:solidFill>
            <a:prstDash val="solid"/>
          </a:ln>
        </p:spPr>
      </p:sp>
      <p:sp>
        <p:nvSpPr>
          <p:cNvPr id="8" name="Text 6"/>
          <p:cNvSpPr/>
          <p:nvPr/>
        </p:nvSpPr>
        <p:spPr>
          <a:xfrm>
            <a:off x="6842075" y="2918371"/>
            <a:ext cx="5064070" cy="409575"/>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76B900"/>
                </a:solidFill>
                <a:latin typeface="Courier New" pitchFamily="34" charset="0"/>
                <a:ea typeface="Courier New" pitchFamily="34" charset="-122"/>
                <a:cs typeface="Courier New" pitchFamily="34" charset="-120"/>
              </a:rPr>
              <a:t>sva_traced</a:t>
            </a:r>
            <a:endParaRPr lang="en-US" sz="1950" dirty="0"/>
          </a:p>
        </p:txBody>
      </p:sp>
      <p:sp>
        <p:nvSpPr>
          <p:cNvPr id="9" name="Text 7"/>
          <p:cNvSpPr/>
          <p:nvPr/>
        </p:nvSpPr>
        <p:spPr>
          <a:xfrm>
            <a:off x="6842075" y="3423196"/>
            <a:ext cx="4741811" cy="860822"/>
          </a:xfrm>
          <a:prstGeom prst="rect">
            <a:avLst/>
          </a:prstGeom>
          <a:noFill/>
          <a:ln/>
        </p:spPr>
        <p:txBody>
          <a:bodyPr wrap="square" lIns="25400" tIns="25400" rIns="25400" bIns="25400" rtlCol="0" anchor="t">
            <a:normAutofit/>
          </a:bodyPr>
          <a:lstStyle/>
          <a:p>
            <a:pPr algn="l" indent="0" marL="0">
              <a:lnSpc>
                <a:spcPct val="116757"/>
              </a:lnSpc>
              <a:buNone/>
            </a:pPr>
            <a:r>
              <a:rPr lang="en-US" sz="2400" dirty="0">
                <a:solidFill>
                  <a:srgbClr val="FFFFFF"/>
                </a:solidFill>
                <a:latin typeface="Arial" pitchFamily="34" charset="0"/>
                <a:ea typeface="Arial" pitchFamily="34" charset="-122"/>
                <a:cs typeface="Arial" pitchFamily="34" charset="-120"/>
              </a:rPr>
              <a:t>Ít nhất một assertion người dùng đã xác nhận</a:t>
            </a:r>
            <a:endParaRPr lang="en-US" sz="2400" dirty="0"/>
          </a:p>
        </p:txBody>
      </p:sp>
      <p:sp>
        <p:nvSpPr>
          <p:cNvPr id="10" name="Shape 8"/>
          <p:cNvSpPr/>
          <p:nvPr/>
        </p:nvSpPr>
        <p:spPr>
          <a:xfrm>
            <a:off x="12026801" y="2565946"/>
            <a:ext cx="5308550" cy="2934742"/>
          </a:xfrm>
          <a:prstGeom prst="roundRect">
            <a:avLst>
              <a:gd name="adj" fmla="val 3246"/>
            </a:avLst>
          </a:prstGeom>
          <a:solidFill>
            <a:srgbClr val="1C1E21"/>
          </a:solidFill>
          <a:ln w="9525">
            <a:solidFill>
              <a:srgbClr val="2E3033"/>
            </a:solidFill>
            <a:prstDash val="solid"/>
          </a:ln>
        </p:spPr>
      </p:sp>
      <p:sp>
        <p:nvSpPr>
          <p:cNvPr id="11" name="Text 9"/>
          <p:cNvSpPr/>
          <p:nvPr/>
        </p:nvSpPr>
        <p:spPr>
          <a:xfrm>
            <a:off x="12379226" y="2918371"/>
            <a:ext cx="5064070" cy="409575"/>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76B900"/>
                </a:solidFill>
                <a:latin typeface="Courier New" pitchFamily="34" charset="0"/>
                <a:ea typeface="Courier New" pitchFamily="34" charset="-122"/>
                <a:cs typeface="Courier New" pitchFamily="34" charset="-120"/>
              </a:rPr>
              <a:t>tc_traced</a:t>
            </a:r>
            <a:endParaRPr lang="en-US" sz="1950" dirty="0"/>
          </a:p>
        </p:txBody>
      </p:sp>
      <p:sp>
        <p:nvSpPr>
          <p:cNvPr id="12" name="Text 10"/>
          <p:cNvSpPr/>
          <p:nvPr/>
        </p:nvSpPr>
        <p:spPr>
          <a:xfrm>
            <a:off x="12379226" y="3423196"/>
            <a:ext cx="4741811" cy="860822"/>
          </a:xfrm>
          <a:prstGeom prst="rect">
            <a:avLst/>
          </a:prstGeom>
          <a:noFill/>
          <a:ln/>
        </p:spPr>
        <p:txBody>
          <a:bodyPr wrap="square" lIns="25400" tIns="25400" rIns="25400" bIns="25400" rtlCol="0" anchor="t">
            <a:normAutofit/>
          </a:bodyPr>
          <a:lstStyle/>
          <a:p>
            <a:pPr algn="l" indent="0" marL="0">
              <a:lnSpc>
                <a:spcPct val="116757"/>
              </a:lnSpc>
              <a:buNone/>
            </a:pPr>
            <a:r>
              <a:rPr lang="en-US" sz="2400" dirty="0">
                <a:solidFill>
                  <a:srgbClr val="FFFFFF"/>
                </a:solidFill>
                <a:latin typeface="Arial" pitchFamily="34" charset="0"/>
                <a:ea typeface="Arial" pitchFamily="34" charset="-122"/>
                <a:cs typeface="Arial" pitchFamily="34" charset="-120"/>
              </a:rPr>
              <a:t>Ít nhất một test case người dùng đã chọn</a:t>
            </a:r>
            <a:endParaRPr lang="en-US" sz="2400" dirty="0"/>
          </a:p>
        </p:txBody>
      </p:sp>
      <p:sp>
        <p:nvSpPr>
          <p:cNvPr id="13" name="Shape 11"/>
          <p:cNvSpPr/>
          <p:nvPr/>
        </p:nvSpPr>
        <p:spPr>
          <a:xfrm>
            <a:off x="952500" y="5729288"/>
            <a:ext cx="5308550" cy="2934742"/>
          </a:xfrm>
          <a:prstGeom prst="roundRect">
            <a:avLst>
              <a:gd name="adj" fmla="val 3246"/>
            </a:avLst>
          </a:prstGeom>
          <a:solidFill>
            <a:srgbClr val="1C1E21"/>
          </a:solidFill>
          <a:ln w="9525">
            <a:solidFill>
              <a:srgbClr val="2E3033"/>
            </a:solidFill>
            <a:prstDash val="solid"/>
          </a:ln>
        </p:spPr>
      </p:sp>
      <p:sp>
        <p:nvSpPr>
          <p:cNvPr id="14" name="Text 12"/>
          <p:cNvSpPr/>
          <p:nvPr/>
        </p:nvSpPr>
        <p:spPr>
          <a:xfrm>
            <a:off x="1304925" y="6081713"/>
            <a:ext cx="5064070" cy="409575"/>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76B900"/>
                </a:solidFill>
                <a:latin typeface="Courier New" pitchFamily="34" charset="0"/>
                <a:ea typeface="Courier New" pitchFamily="34" charset="-122"/>
                <a:cs typeface="Courier New" pitchFamily="34" charset="-120"/>
              </a:rPr>
              <a:t>sim_pass</a:t>
            </a:r>
            <a:endParaRPr lang="en-US" sz="1950" dirty="0"/>
          </a:p>
        </p:txBody>
      </p:sp>
      <p:sp>
        <p:nvSpPr>
          <p:cNvPr id="15" name="Text 13"/>
          <p:cNvSpPr/>
          <p:nvPr/>
        </p:nvSpPr>
        <p:spPr>
          <a:xfrm>
            <a:off x="1304925" y="6586538"/>
            <a:ext cx="4741811" cy="860822"/>
          </a:xfrm>
          <a:prstGeom prst="rect">
            <a:avLst/>
          </a:prstGeom>
          <a:noFill/>
          <a:ln/>
        </p:spPr>
        <p:txBody>
          <a:bodyPr wrap="square" lIns="25400" tIns="25400" rIns="25400" bIns="25400" rtlCol="0" anchor="t">
            <a:normAutofit/>
          </a:bodyPr>
          <a:lstStyle/>
          <a:p>
            <a:pPr algn="l" indent="0" marL="0">
              <a:lnSpc>
                <a:spcPct val="116757"/>
              </a:lnSpc>
              <a:buNone/>
            </a:pPr>
            <a:r>
              <a:rPr lang="en-US" sz="2400" dirty="0">
                <a:solidFill>
                  <a:srgbClr val="FFFFFF"/>
                </a:solidFill>
                <a:latin typeface="Arial" pitchFamily="34" charset="0"/>
                <a:ea typeface="Arial" pitchFamily="34" charset="-122"/>
                <a:cs typeface="Arial" pitchFamily="34" charset="-120"/>
              </a:rPr>
              <a:t>Sim chạy sạch, không SVA violation</a:t>
            </a:r>
            <a:endParaRPr lang="en-US" sz="2400" dirty="0"/>
          </a:p>
        </p:txBody>
      </p:sp>
      <p:sp>
        <p:nvSpPr>
          <p:cNvPr id="16" name="Shape 14"/>
          <p:cNvSpPr/>
          <p:nvPr/>
        </p:nvSpPr>
        <p:spPr>
          <a:xfrm>
            <a:off x="6489650" y="5729288"/>
            <a:ext cx="5308550" cy="2934742"/>
          </a:xfrm>
          <a:prstGeom prst="roundRect">
            <a:avLst>
              <a:gd name="adj" fmla="val 3246"/>
            </a:avLst>
          </a:prstGeom>
          <a:solidFill>
            <a:srgbClr val="1C1E21"/>
          </a:solidFill>
          <a:ln w="9525">
            <a:solidFill>
              <a:srgbClr val="2E3033"/>
            </a:solidFill>
            <a:prstDash val="solid"/>
          </a:ln>
        </p:spPr>
      </p:sp>
      <p:sp>
        <p:nvSpPr>
          <p:cNvPr id="17" name="Text 15"/>
          <p:cNvSpPr/>
          <p:nvPr/>
        </p:nvSpPr>
        <p:spPr>
          <a:xfrm>
            <a:off x="6842075" y="6081713"/>
            <a:ext cx="5064070" cy="409575"/>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76B900"/>
                </a:solidFill>
                <a:latin typeface="Courier New" pitchFamily="34" charset="0"/>
                <a:ea typeface="Courier New" pitchFamily="34" charset="-122"/>
                <a:cs typeface="Courier New" pitchFamily="34" charset="-120"/>
              </a:rPr>
              <a:t>mutation_score</a:t>
            </a:r>
            <a:endParaRPr lang="en-US" sz="1950" dirty="0"/>
          </a:p>
        </p:txBody>
      </p:sp>
      <p:sp>
        <p:nvSpPr>
          <p:cNvPr id="18" name="Text 16"/>
          <p:cNvSpPr/>
          <p:nvPr/>
        </p:nvSpPr>
        <p:spPr>
          <a:xfrm>
            <a:off x="6842075" y="6586538"/>
            <a:ext cx="5064070" cy="449461"/>
          </a:xfrm>
          <a:prstGeom prst="rect">
            <a:avLst/>
          </a:prstGeom>
          <a:noFill/>
          <a:ln/>
        </p:spPr>
        <p:txBody>
          <a:bodyPr wrap="square" lIns="25400" tIns="25400" rIns="25400" bIns="25400" rtlCol="0" anchor="t">
            <a:normAutofit/>
          </a:bodyPr>
          <a:lstStyle/>
          <a:p>
            <a:pPr algn="l" indent="0" marL="0">
              <a:lnSpc>
                <a:spcPct val="116757"/>
              </a:lnSpc>
              <a:buNone/>
            </a:pPr>
            <a:r>
              <a:rPr lang="en-US" sz="2400" dirty="0">
                <a:solidFill>
                  <a:srgbClr val="FFFFFF"/>
                </a:solidFill>
                <a:latin typeface="Arial" pitchFamily="34" charset="0"/>
                <a:ea typeface="Arial" pitchFamily="34" charset="-122"/>
                <a:cs typeface="Arial" pitchFamily="34" charset="-120"/>
              </a:rPr>
              <a:t>Từ 0.85 trở lên</a:t>
            </a:r>
            <a:endParaRPr lang="en-US" sz="2400" dirty="0"/>
          </a:p>
        </p:txBody>
      </p:sp>
      <p:sp>
        <p:nvSpPr>
          <p:cNvPr id="19" name="Shape 17"/>
          <p:cNvSpPr/>
          <p:nvPr/>
        </p:nvSpPr>
        <p:spPr>
          <a:xfrm>
            <a:off x="12026801" y="5729288"/>
            <a:ext cx="5308550" cy="2934742"/>
          </a:xfrm>
          <a:prstGeom prst="roundRect">
            <a:avLst>
              <a:gd name="adj" fmla="val 3246"/>
            </a:avLst>
          </a:prstGeom>
          <a:solidFill>
            <a:srgbClr val="76B900">
              <a:alpha val="10000"/>
            </a:srgbClr>
          </a:solidFill>
          <a:ln w="9525">
            <a:solidFill>
              <a:srgbClr val="76B900">
                <a:alpha val="45000"/>
              </a:srgbClr>
            </a:solidFill>
            <a:prstDash val="solid"/>
          </a:ln>
        </p:spPr>
      </p:sp>
      <p:sp>
        <p:nvSpPr>
          <p:cNvPr id="20" name="Text 18"/>
          <p:cNvSpPr/>
          <p:nvPr/>
        </p:nvSpPr>
        <p:spPr>
          <a:xfrm>
            <a:off x="12379226" y="6081713"/>
            <a:ext cx="5064070" cy="409575"/>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A3E635"/>
                </a:solidFill>
                <a:latin typeface="Courier New" pitchFamily="34" charset="0"/>
                <a:ea typeface="Courier New" pitchFamily="34" charset="-122"/>
                <a:cs typeface="Courier New" pitchFamily="34" charset="-120"/>
              </a:rPr>
              <a:t>signed_off</a:t>
            </a:r>
            <a:endParaRPr lang="en-US" sz="1950" dirty="0"/>
          </a:p>
        </p:txBody>
      </p:sp>
      <p:sp>
        <p:nvSpPr>
          <p:cNvPr id="21" name="Text 19"/>
          <p:cNvSpPr/>
          <p:nvPr/>
        </p:nvSpPr>
        <p:spPr>
          <a:xfrm>
            <a:off x="12379226" y="6586538"/>
            <a:ext cx="4741811" cy="860822"/>
          </a:xfrm>
          <a:prstGeom prst="rect">
            <a:avLst/>
          </a:prstGeom>
          <a:noFill/>
          <a:ln/>
        </p:spPr>
        <p:txBody>
          <a:bodyPr wrap="square" lIns="25400" tIns="25400" rIns="25400" bIns="25400" rtlCol="0" anchor="t">
            <a:normAutofit/>
          </a:bodyPr>
          <a:lstStyle/>
          <a:p>
            <a:pPr algn="l" indent="0" marL="0">
              <a:lnSpc>
                <a:spcPct val="116757"/>
              </a:lnSpc>
              <a:buNone/>
            </a:pPr>
            <a:r>
              <a:rPr lang="en-US" sz="2400" dirty="0">
                <a:solidFill>
                  <a:srgbClr val="FFFFFF"/>
                </a:solidFill>
                <a:latin typeface="Arial" pitchFamily="34" charset="0"/>
                <a:ea typeface="Arial" pitchFamily="34" charset="-122"/>
                <a:cs typeface="Arial" pitchFamily="34" charset="-120"/>
              </a:rPr>
              <a:t>Người dùng ký tay trong RTM Dashboard</a:t>
            </a:r>
            <a:endParaRPr lang="en-US" sz="2400" dirty="0"/>
          </a:p>
        </p:txBody>
      </p:sp>
      <p:sp>
        <p:nvSpPr>
          <p:cNvPr id="22" name="Shape 20"/>
          <p:cNvSpPr/>
          <p:nvPr/>
        </p:nvSpPr>
        <p:spPr>
          <a:xfrm>
            <a:off x="952500" y="9083129"/>
            <a:ext cx="28575" cy="441871"/>
          </a:xfrm>
          <a:prstGeom prst="rect">
            <a:avLst/>
          </a:prstGeom>
          <a:solidFill>
            <a:srgbClr val="76B900"/>
          </a:solidFill>
          <a:ln/>
        </p:spPr>
      </p:sp>
      <p:sp>
        <p:nvSpPr>
          <p:cNvPr id="23" name="Text 21"/>
          <p:cNvSpPr/>
          <p:nvPr/>
        </p:nvSpPr>
        <p:spPr>
          <a:xfrm>
            <a:off x="1247775" y="9083129"/>
            <a:ext cx="17726025" cy="479971"/>
          </a:xfrm>
          <a:prstGeom prst="rect">
            <a:avLst/>
          </a:prstGeom>
          <a:noFill/>
          <a:ln/>
        </p:spPr>
        <p:txBody>
          <a:bodyPr wrap="square" lIns="25400" tIns="25400" rIns="25400" bIns="25400" rtlCol="0" anchor="t">
            <a:normAutofit/>
          </a:bodyPr>
          <a:lstStyle/>
          <a:p>
            <a:pPr algn="l" indent="0" marL="0">
              <a:lnSpc>
                <a:spcPct val="125405"/>
              </a:lnSpc>
              <a:buNone/>
            </a:pPr>
            <a:r>
              <a:rPr lang="en-US" sz="2400" dirty="0">
                <a:solidFill>
                  <a:srgbClr val="D7D9DD"/>
                </a:solidFill>
                <a:latin typeface="Arial" pitchFamily="34" charset="0"/>
                <a:ea typeface="Arial" pitchFamily="34" charset="-122"/>
                <a:cs typeface="Arial" pitchFamily="34" charset="-120"/>
              </a:rPr>
              <a:t>Người ký, tool chạy. LLM không sign-off được bất cứ thứ gì.</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952500" y="952500"/>
            <a:ext cx="18021300" cy="409575"/>
          </a:xfrm>
          <a:prstGeom prst="rect">
            <a:avLst/>
          </a:prstGeom>
          <a:noFill/>
          <a:ln/>
        </p:spPr>
        <p:txBody>
          <a:bodyPr wrap="square" lIns="25400" tIns="25400" rIns="25400" bIns="25400" rtlCol="0" anchor="t">
            <a:normAutofit/>
          </a:bodyPr>
          <a:lstStyle/>
          <a:p>
            <a:pPr algn="l" indent="0" marL="0">
              <a:lnSpc>
                <a:spcPct val="125806"/>
              </a:lnSpc>
              <a:buNone/>
            </a:pPr>
            <a:r>
              <a:rPr lang="en-US" sz="1950" b="1" spc="312" kern="0" dirty="0">
                <a:solidFill>
                  <a:srgbClr val="76B900"/>
                </a:solidFill>
                <a:latin typeface="Arial" pitchFamily="34" charset="0"/>
                <a:ea typeface="Arial" pitchFamily="34" charset="-122"/>
                <a:cs typeface="Arial" pitchFamily="34" charset="-120"/>
              </a:rPr>
              <a:t>10 · TOOL STACK</a:t>
            </a:r>
            <a:endParaRPr lang="en-US" sz="1950" dirty="0"/>
          </a:p>
        </p:txBody>
      </p:sp>
      <p:sp>
        <p:nvSpPr>
          <p:cNvPr id="3" name="Text 1"/>
          <p:cNvSpPr/>
          <p:nvPr/>
        </p:nvSpPr>
        <p:spPr>
          <a:xfrm>
            <a:off x="952500" y="1476375"/>
            <a:ext cx="18021300" cy="708571"/>
          </a:xfrm>
          <a:prstGeom prst="rect">
            <a:avLst/>
          </a:prstGeom>
          <a:noFill/>
          <a:ln/>
        </p:spPr>
        <p:txBody>
          <a:bodyPr wrap="square" lIns="25400" tIns="25400" rIns="25400" bIns="25400" rtlCol="0" anchor="t">
            <a:normAutofit/>
          </a:bodyPr>
          <a:lstStyle/>
          <a:p>
            <a:pPr algn="l" indent="0" marL="0">
              <a:lnSpc>
                <a:spcPct val="95135"/>
              </a:lnSpc>
              <a:buNone/>
            </a:pPr>
            <a:r>
              <a:rPr lang="en-US" sz="4800" b="1" dirty="0">
                <a:solidFill>
                  <a:srgbClr val="FFFFFF"/>
                </a:solidFill>
                <a:latin typeface="Arial" pitchFamily="34" charset="0"/>
                <a:ea typeface="Arial" pitchFamily="34" charset="-122"/>
                <a:cs typeface="Arial" pitchFamily="34" charset="-120"/>
              </a:rPr>
              <a:t>Toàn bộ chuỗi công cụ là open-source</a:t>
            </a:r>
            <a:endParaRPr lang="en-US" sz="4800" dirty="0"/>
          </a:p>
        </p:txBody>
      </p:sp>
      <p:sp>
        <p:nvSpPr>
          <p:cNvPr id="4" name="Shape 2"/>
          <p:cNvSpPr/>
          <p:nvPr/>
        </p:nvSpPr>
        <p:spPr>
          <a:xfrm>
            <a:off x="952500" y="3632746"/>
            <a:ext cx="7734300" cy="9525"/>
          </a:xfrm>
          <a:prstGeom prst="rect">
            <a:avLst/>
          </a:prstGeom>
          <a:solidFill>
            <a:srgbClr val="2E3033"/>
          </a:solidFill>
          <a:ln/>
        </p:spPr>
      </p:sp>
      <p:sp>
        <p:nvSpPr>
          <p:cNvPr id="5" name="Text 3"/>
          <p:cNvSpPr/>
          <p:nvPr/>
        </p:nvSpPr>
        <p:spPr>
          <a:xfrm>
            <a:off x="952500" y="2889796"/>
            <a:ext cx="1669524" cy="495300"/>
          </a:xfrm>
          <a:prstGeom prst="rect">
            <a:avLst/>
          </a:prstGeom>
          <a:noFill/>
          <a:ln/>
        </p:spPr>
        <p:txBody>
          <a:bodyPr wrap="square" lIns="25400" tIns="25400" rIns="25400" bIns="25400" rtlCol="0" anchor="t">
            <a:normAutofit/>
          </a:bodyPr>
          <a:lstStyle/>
          <a:p>
            <a:pPr algn="l" indent="0" marL="0">
              <a:lnSpc>
                <a:spcPct val="129730"/>
              </a:lnSpc>
              <a:buNone/>
            </a:pPr>
            <a:r>
              <a:rPr lang="en-US" sz="2400" dirty="0">
                <a:solidFill>
                  <a:srgbClr val="8A8D93"/>
                </a:solidFill>
                <a:latin typeface="Arial" pitchFamily="34" charset="0"/>
                <a:ea typeface="Arial" pitchFamily="34" charset="-122"/>
                <a:cs typeface="Arial" pitchFamily="34" charset="-120"/>
              </a:rPr>
              <a:t>Simulation</a:t>
            </a:r>
            <a:endParaRPr lang="en-US" sz="2400" dirty="0"/>
          </a:p>
        </p:txBody>
      </p:sp>
      <p:sp>
        <p:nvSpPr>
          <p:cNvPr id="6" name="Text 4"/>
          <p:cNvSpPr/>
          <p:nvPr/>
        </p:nvSpPr>
        <p:spPr>
          <a:xfrm>
            <a:off x="6332488" y="2889796"/>
            <a:ext cx="2589743" cy="495300"/>
          </a:xfrm>
          <a:prstGeom prst="rect">
            <a:avLst/>
          </a:prstGeom>
          <a:noFill/>
          <a:ln/>
        </p:spPr>
        <p:txBody>
          <a:bodyPr wrap="square" lIns="25400" tIns="25400" rIns="25400" bIns="25400" rtlCol="0" anchor="t">
            <a:normAutofit/>
          </a:bodyPr>
          <a:lstStyle/>
          <a:p>
            <a:pPr algn="l" indent="0" marL="0">
              <a:lnSpc>
                <a:spcPct val="129730"/>
              </a:lnSpc>
              <a:buNone/>
            </a:pPr>
            <a:r>
              <a:rPr lang="en-US" sz="2400" b="1" dirty="0">
                <a:solidFill>
                  <a:srgbClr val="FFFFFF"/>
                </a:solidFill>
                <a:latin typeface="Arial" pitchFamily="34" charset="0"/>
                <a:ea typeface="Arial" pitchFamily="34" charset="-122"/>
                <a:cs typeface="Arial" pitchFamily="34" charset="-120"/>
              </a:rPr>
              <a:t>Verilator + Icarus</a:t>
            </a:r>
            <a:endParaRPr lang="en-US" sz="2400" dirty="0"/>
          </a:p>
        </p:txBody>
      </p:sp>
      <p:sp>
        <p:nvSpPr>
          <p:cNvPr id="7" name="Shape 5"/>
          <p:cNvSpPr/>
          <p:nvPr/>
        </p:nvSpPr>
        <p:spPr>
          <a:xfrm>
            <a:off x="9601200" y="3632746"/>
            <a:ext cx="7734300" cy="9525"/>
          </a:xfrm>
          <a:prstGeom prst="rect">
            <a:avLst/>
          </a:prstGeom>
          <a:solidFill>
            <a:srgbClr val="2E3033"/>
          </a:solidFill>
          <a:ln/>
        </p:spPr>
      </p:sp>
      <p:sp>
        <p:nvSpPr>
          <p:cNvPr id="8" name="Text 6"/>
          <p:cNvSpPr/>
          <p:nvPr/>
        </p:nvSpPr>
        <p:spPr>
          <a:xfrm>
            <a:off x="9601200" y="2889796"/>
            <a:ext cx="1530370" cy="495300"/>
          </a:xfrm>
          <a:prstGeom prst="rect">
            <a:avLst/>
          </a:prstGeom>
          <a:noFill/>
          <a:ln/>
        </p:spPr>
        <p:txBody>
          <a:bodyPr wrap="square" lIns="25400" tIns="25400" rIns="25400" bIns="25400" rtlCol="0" anchor="t">
            <a:normAutofit/>
          </a:bodyPr>
          <a:lstStyle/>
          <a:p>
            <a:pPr algn="l" indent="0" marL="0">
              <a:lnSpc>
                <a:spcPct val="129730"/>
              </a:lnSpc>
              <a:buNone/>
            </a:pPr>
            <a:r>
              <a:rPr lang="en-US" sz="2400" dirty="0">
                <a:solidFill>
                  <a:srgbClr val="8A8D93"/>
                </a:solidFill>
                <a:latin typeface="Arial" pitchFamily="34" charset="0"/>
                <a:ea typeface="Arial" pitchFamily="34" charset="-122"/>
                <a:cs typeface="Arial" pitchFamily="34" charset="-120"/>
              </a:rPr>
              <a:t>Synthesis</a:t>
            </a:r>
            <a:endParaRPr lang="en-US" sz="2400" dirty="0"/>
          </a:p>
        </p:txBody>
      </p:sp>
      <p:sp>
        <p:nvSpPr>
          <p:cNvPr id="9" name="Text 7"/>
          <p:cNvSpPr/>
          <p:nvPr/>
        </p:nvSpPr>
        <p:spPr>
          <a:xfrm>
            <a:off x="16559064" y="2889796"/>
            <a:ext cx="852636" cy="495300"/>
          </a:xfrm>
          <a:prstGeom prst="rect">
            <a:avLst/>
          </a:prstGeom>
          <a:noFill/>
          <a:ln/>
        </p:spPr>
        <p:txBody>
          <a:bodyPr wrap="square" lIns="25400" tIns="25400" rIns="25400" bIns="25400" rtlCol="0" anchor="t">
            <a:normAutofit/>
          </a:bodyPr>
          <a:lstStyle/>
          <a:p>
            <a:pPr algn="l" indent="0" marL="0">
              <a:lnSpc>
                <a:spcPct val="129730"/>
              </a:lnSpc>
              <a:buNone/>
            </a:pPr>
            <a:r>
              <a:rPr lang="en-US" sz="2400" b="1" dirty="0">
                <a:solidFill>
                  <a:srgbClr val="FFFFFF"/>
                </a:solidFill>
                <a:latin typeface="Arial" pitchFamily="34" charset="0"/>
                <a:ea typeface="Arial" pitchFamily="34" charset="-122"/>
                <a:cs typeface="Arial" pitchFamily="34" charset="-120"/>
              </a:rPr>
              <a:t>Yosys</a:t>
            </a:r>
            <a:endParaRPr lang="en-US" sz="2400" dirty="0"/>
          </a:p>
        </p:txBody>
      </p:sp>
      <p:sp>
        <p:nvSpPr>
          <p:cNvPr id="10" name="Shape 8"/>
          <p:cNvSpPr/>
          <p:nvPr/>
        </p:nvSpPr>
        <p:spPr>
          <a:xfrm>
            <a:off x="952500" y="4670971"/>
            <a:ext cx="7734300" cy="9525"/>
          </a:xfrm>
          <a:prstGeom prst="rect">
            <a:avLst/>
          </a:prstGeom>
          <a:solidFill>
            <a:srgbClr val="2E3033"/>
          </a:solidFill>
          <a:ln/>
        </p:spPr>
      </p:sp>
      <p:sp>
        <p:nvSpPr>
          <p:cNvPr id="11" name="Text 9"/>
          <p:cNvSpPr/>
          <p:nvPr/>
        </p:nvSpPr>
        <p:spPr>
          <a:xfrm>
            <a:off x="952500" y="3928021"/>
            <a:ext cx="694432" cy="495300"/>
          </a:xfrm>
          <a:prstGeom prst="rect">
            <a:avLst/>
          </a:prstGeom>
          <a:noFill/>
          <a:ln/>
        </p:spPr>
        <p:txBody>
          <a:bodyPr wrap="square" lIns="25400" tIns="25400" rIns="25400" bIns="25400" rtlCol="0" anchor="t">
            <a:normAutofit/>
          </a:bodyPr>
          <a:lstStyle/>
          <a:p>
            <a:pPr algn="l" indent="0" marL="0">
              <a:lnSpc>
                <a:spcPct val="129730"/>
              </a:lnSpc>
              <a:buNone/>
            </a:pPr>
            <a:r>
              <a:rPr lang="en-US" sz="2400" dirty="0">
                <a:solidFill>
                  <a:srgbClr val="8A8D93"/>
                </a:solidFill>
                <a:latin typeface="Arial" pitchFamily="34" charset="0"/>
                <a:ea typeface="Arial" pitchFamily="34" charset="-122"/>
                <a:cs typeface="Arial" pitchFamily="34" charset="-120"/>
              </a:rPr>
              <a:t>PDK</a:t>
            </a:r>
            <a:endParaRPr lang="en-US" sz="2400" dirty="0"/>
          </a:p>
        </p:txBody>
      </p:sp>
      <p:sp>
        <p:nvSpPr>
          <p:cNvPr id="12" name="Text 10"/>
          <p:cNvSpPr/>
          <p:nvPr/>
        </p:nvSpPr>
        <p:spPr>
          <a:xfrm>
            <a:off x="6339185" y="3928021"/>
            <a:ext cx="2582376" cy="495300"/>
          </a:xfrm>
          <a:prstGeom prst="rect">
            <a:avLst/>
          </a:prstGeom>
          <a:noFill/>
          <a:ln/>
        </p:spPr>
        <p:txBody>
          <a:bodyPr wrap="square" lIns="25400" tIns="25400" rIns="25400" bIns="25400" rtlCol="0" anchor="t">
            <a:normAutofit/>
          </a:bodyPr>
          <a:lstStyle/>
          <a:p>
            <a:pPr algn="l" indent="0" marL="0">
              <a:lnSpc>
                <a:spcPct val="129730"/>
              </a:lnSpc>
              <a:buNone/>
            </a:pPr>
            <a:r>
              <a:rPr lang="en-US" sz="2400" b="1" dirty="0">
                <a:solidFill>
                  <a:srgbClr val="FFFFFF"/>
                </a:solidFill>
                <a:latin typeface="Arial" pitchFamily="34" charset="0"/>
                <a:ea typeface="Arial" pitchFamily="34" charset="-122"/>
                <a:cs typeface="Arial" pitchFamily="34" charset="-120"/>
              </a:rPr>
              <a:t>SkyWater Sky130</a:t>
            </a:r>
            <a:endParaRPr lang="en-US" sz="2400" dirty="0"/>
          </a:p>
        </p:txBody>
      </p:sp>
      <p:sp>
        <p:nvSpPr>
          <p:cNvPr id="13" name="Shape 11"/>
          <p:cNvSpPr/>
          <p:nvPr/>
        </p:nvSpPr>
        <p:spPr>
          <a:xfrm>
            <a:off x="9601200" y="4670971"/>
            <a:ext cx="7734300" cy="9525"/>
          </a:xfrm>
          <a:prstGeom prst="rect">
            <a:avLst/>
          </a:prstGeom>
          <a:solidFill>
            <a:srgbClr val="2E3033"/>
          </a:solidFill>
          <a:ln/>
        </p:spPr>
      </p:sp>
      <p:sp>
        <p:nvSpPr>
          <p:cNvPr id="14" name="Text 12"/>
          <p:cNvSpPr/>
          <p:nvPr/>
        </p:nvSpPr>
        <p:spPr>
          <a:xfrm>
            <a:off x="9601200" y="3928021"/>
            <a:ext cx="1445076" cy="495300"/>
          </a:xfrm>
          <a:prstGeom prst="rect">
            <a:avLst/>
          </a:prstGeom>
          <a:noFill/>
          <a:ln/>
        </p:spPr>
        <p:txBody>
          <a:bodyPr wrap="square" lIns="25400" tIns="25400" rIns="25400" bIns="25400" rtlCol="0" anchor="t">
            <a:normAutofit/>
          </a:bodyPr>
          <a:lstStyle/>
          <a:p>
            <a:pPr algn="l" indent="0" marL="0">
              <a:lnSpc>
                <a:spcPct val="129730"/>
              </a:lnSpc>
              <a:buNone/>
            </a:pPr>
            <a:r>
              <a:rPr lang="en-US" sz="2400" dirty="0">
                <a:solidFill>
                  <a:srgbClr val="8A8D93"/>
                </a:solidFill>
                <a:latin typeface="Arial" pitchFamily="34" charset="0"/>
                <a:ea typeface="Arial" pitchFamily="34" charset="-122"/>
                <a:cs typeface="Arial" pitchFamily="34" charset="-120"/>
              </a:rPr>
              <a:t>Mutation</a:t>
            </a:r>
            <a:endParaRPr lang="en-US" sz="2400" dirty="0"/>
          </a:p>
        </p:txBody>
      </p:sp>
      <p:sp>
        <p:nvSpPr>
          <p:cNvPr id="15" name="Text 13"/>
          <p:cNvSpPr/>
          <p:nvPr/>
        </p:nvSpPr>
        <p:spPr>
          <a:xfrm>
            <a:off x="14230350" y="3928021"/>
            <a:ext cx="3415665" cy="495300"/>
          </a:xfrm>
          <a:prstGeom prst="rect">
            <a:avLst/>
          </a:prstGeom>
          <a:noFill/>
          <a:ln/>
        </p:spPr>
        <p:txBody>
          <a:bodyPr wrap="square" lIns="25400" tIns="25400" rIns="25400" bIns="25400" rtlCol="0" anchor="t">
            <a:normAutofit/>
          </a:bodyPr>
          <a:lstStyle/>
          <a:p>
            <a:pPr algn="l" indent="0" marL="0">
              <a:lnSpc>
                <a:spcPct val="129730"/>
              </a:lnSpc>
              <a:buNone/>
            </a:pPr>
            <a:r>
              <a:rPr lang="en-US" sz="2400" b="1" dirty="0">
                <a:solidFill>
                  <a:srgbClr val="FFFFFF"/>
                </a:solidFill>
                <a:latin typeface="Arial" pitchFamily="34" charset="0"/>
                <a:ea typeface="Arial" pitchFamily="34" charset="-122"/>
                <a:cs typeface="Arial" pitchFamily="34" charset="-120"/>
              </a:rPr>
              <a:t>Yosys mutation / Fault</a:t>
            </a:r>
            <a:endParaRPr lang="en-US" sz="2400" dirty="0"/>
          </a:p>
        </p:txBody>
      </p:sp>
      <p:sp>
        <p:nvSpPr>
          <p:cNvPr id="16" name="Shape 14"/>
          <p:cNvSpPr/>
          <p:nvPr/>
        </p:nvSpPr>
        <p:spPr>
          <a:xfrm>
            <a:off x="952500" y="5709196"/>
            <a:ext cx="7734300" cy="9525"/>
          </a:xfrm>
          <a:prstGeom prst="rect">
            <a:avLst/>
          </a:prstGeom>
          <a:solidFill>
            <a:srgbClr val="2E3033"/>
          </a:solidFill>
          <a:ln/>
        </p:spPr>
      </p:sp>
      <p:sp>
        <p:nvSpPr>
          <p:cNvPr id="17" name="Text 15"/>
          <p:cNvSpPr/>
          <p:nvPr/>
        </p:nvSpPr>
        <p:spPr>
          <a:xfrm>
            <a:off x="952500" y="4966246"/>
            <a:ext cx="2044913" cy="495300"/>
          </a:xfrm>
          <a:prstGeom prst="rect">
            <a:avLst/>
          </a:prstGeom>
          <a:noFill/>
          <a:ln/>
        </p:spPr>
        <p:txBody>
          <a:bodyPr wrap="square" lIns="25400" tIns="25400" rIns="25400" bIns="25400" rtlCol="0" anchor="t">
            <a:normAutofit/>
          </a:bodyPr>
          <a:lstStyle/>
          <a:p>
            <a:pPr algn="l" indent="0" marL="0">
              <a:lnSpc>
                <a:spcPct val="129730"/>
              </a:lnSpc>
              <a:buNone/>
            </a:pPr>
            <a:r>
              <a:rPr lang="en-US" sz="2400" dirty="0">
                <a:solidFill>
                  <a:srgbClr val="8A8D93"/>
                </a:solidFill>
                <a:latin typeface="Arial" pitchFamily="34" charset="0"/>
                <a:ea typeface="Arial" pitchFamily="34" charset="-122"/>
                <a:cs typeface="Arial" pitchFamily="34" charset="-120"/>
              </a:rPr>
              <a:t>Orchestrator</a:t>
            </a:r>
            <a:endParaRPr lang="en-US" sz="2400" dirty="0"/>
          </a:p>
        </p:txBody>
      </p:sp>
      <p:sp>
        <p:nvSpPr>
          <p:cNvPr id="18" name="Text 16"/>
          <p:cNvSpPr/>
          <p:nvPr/>
        </p:nvSpPr>
        <p:spPr>
          <a:xfrm>
            <a:off x="6963966" y="4966246"/>
            <a:ext cx="1895118" cy="495300"/>
          </a:xfrm>
          <a:prstGeom prst="rect">
            <a:avLst/>
          </a:prstGeom>
          <a:noFill/>
          <a:ln/>
        </p:spPr>
        <p:txBody>
          <a:bodyPr wrap="square" lIns="25400" tIns="25400" rIns="25400" bIns="25400" rtlCol="0" anchor="t">
            <a:normAutofit/>
          </a:bodyPr>
          <a:lstStyle/>
          <a:p>
            <a:pPr algn="l" indent="0" marL="0">
              <a:lnSpc>
                <a:spcPct val="129730"/>
              </a:lnSpc>
              <a:buNone/>
            </a:pPr>
            <a:r>
              <a:rPr lang="en-US" sz="2400" b="1" dirty="0">
                <a:solidFill>
                  <a:srgbClr val="FFFFFF"/>
                </a:solidFill>
                <a:latin typeface="Arial" pitchFamily="34" charset="0"/>
                <a:ea typeface="Arial" pitchFamily="34" charset="-122"/>
                <a:cs typeface="Arial" pitchFamily="34" charset="-120"/>
              </a:rPr>
              <a:t>Claude Code</a:t>
            </a:r>
            <a:endParaRPr lang="en-US" sz="2400" dirty="0"/>
          </a:p>
        </p:txBody>
      </p:sp>
      <p:sp>
        <p:nvSpPr>
          <p:cNvPr id="19" name="Shape 17"/>
          <p:cNvSpPr/>
          <p:nvPr/>
        </p:nvSpPr>
        <p:spPr>
          <a:xfrm>
            <a:off x="9601200" y="5709196"/>
            <a:ext cx="7734300" cy="9525"/>
          </a:xfrm>
          <a:prstGeom prst="rect">
            <a:avLst/>
          </a:prstGeom>
          <a:solidFill>
            <a:srgbClr val="2E3033"/>
          </a:solidFill>
          <a:ln/>
        </p:spPr>
      </p:sp>
      <p:sp>
        <p:nvSpPr>
          <p:cNvPr id="20" name="Text 18"/>
          <p:cNvSpPr/>
          <p:nvPr/>
        </p:nvSpPr>
        <p:spPr>
          <a:xfrm>
            <a:off x="9601200" y="4966246"/>
            <a:ext cx="691009" cy="495300"/>
          </a:xfrm>
          <a:prstGeom prst="rect">
            <a:avLst/>
          </a:prstGeom>
          <a:noFill/>
          <a:ln/>
        </p:spPr>
        <p:txBody>
          <a:bodyPr wrap="square" lIns="25400" tIns="25400" rIns="25400" bIns="25400" rtlCol="0" anchor="t">
            <a:normAutofit/>
          </a:bodyPr>
          <a:lstStyle/>
          <a:p>
            <a:pPr algn="l" indent="0" marL="0">
              <a:lnSpc>
                <a:spcPct val="129730"/>
              </a:lnSpc>
              <a:buNone/>
            </a:pPr>
            <a:r>
              <a:rPr lang="en-US" sz="2400" dirty="0">
                <a:solidFill>
                  <a:srgbClr val="8A8D93"/>
                </a:solidFill>
                <a:latin typeface="Arial" pitchFamily="34" charset="0"/>
                <a:ea typeface="Arial" pitchFamily="34" charset="-122"/>
                <a:cs typeface="Arial" pitchFamily="34" charset="-120"/>
              </a:rPr>
              <a:t>LLM</a:t>
            </a:r>
            <a:endParaRPr lang="en-US" sz="2400" dirty="0"/>
          </a:p>
        </p:txBody>
      </p:sp>
      <p:sp>
        <p:nvSpPr>
          <p:cNvPr id="21" name="Text 19"/>
          <p:cNvSpPr/>
          <p:nvPr/>
        </p:nvSpPr>
        <p:spPr>
          <a:xfrm>
            <a:off x="14752886" y="4966246"/>
            <a:ext cx="2840876" cy="495300"/>
          </a:xfrm>
          <a:prstGeom prst="rect">
            <a:avLst/>
          </a:prstGeom>
          <a:noFill/>
          <a:ln/>
        </p:spPr>
        <p:txBody>
          <a:bodyPr wrap="square" lIns="25400" tIns="25400" rIns="25400" bIns="25400" rtlCol="0" anchor="t">
            <a:normAutofit/>
          </a:bodyPr>
          <a:lstStyle/>
          <a:p>
            <a:pPr algn="l" indent="0" marL="0">
              <a:lnSpc>
                <a:spcPct val="129730"/>
              </a:lnSpc>
              <a:buNone/>
            </a:pPr>
            <a:r>
              <a:rPr lang="en-US" sz="2400" b="1" dirty="0">
                <a:solidFill>
                  <a:srgbClr val="FFFFFF"/>
                </a:solidFill>
                <a:latin typeface="Arial" pitchFamily="34" charset="0"/>
                <a:ea typeface="Arial" pitchFamily="34" charset="-122"/>
                <a:cs typeface="Arial" pitchFamily="34" charset="-120"/>
              </a:rPr>
              <a:t>claude-sonnet-4-6</a:t>
            </a:r>
            <a:endParaRPr lang="en-US" sz="2400" dirty="0"/>
          </a:p>
        </p:txBody>
      </p:sp>
      <p:sp>
        <p:nvSpPr>
          <p:cNvPr id="22" name="Shape 20"/>
          <p:cNvSpPr/>
          <p:nvPr/>
        </p:nvSpPr>
        <p:spPr>
          <a:xfrm>
            <a:off x="952500" y="6747421"/>
            <a:ext cx="7734300" cy="9525"/>
          </a:xfrm>
          <a:prstGeom prst="rect">
            <a:avLst/>
          </a:prstGeom>
          <a:solidFill>
            <a:srgbClr val="2E3033"/>
          </a:solidFill>
          <a:ln/>
        </p:spPr>
      </p:sp>
      <p:sp>
        <p:nvSpPr>
          <p:cNvPr id="23" name="Text 21"/>
          <p:cNvSpPr/>
          <p:nvPr/>
        </p:nvSpPr>
        <p:spPr>
          <a:xfrm>
            <a:off x="952500" y="6004471"/>
            <a:ext cx="1129605" cy="495300"/>
          </a:xfrm>
          <a:prstGeom prst="rect">
            <a:avLst/>
          </a:prstGeom>
          <a:noFill/>
          <a:ln/>
        </p:spPr>
        <p:txBody>
          <a:bodyPr wrap="square" lIns="25400" tIns="25400" rIns="25400" bIns="25400" rtlCol="0" anchor="t">
            <a:normAutofit/>
          </a:bodyPr>
          <a:lstStyle/>
          <a:p>
            <a:pPr algn="l" indent="0" marL="0">
              <a:lnSpc>
                <a:spcPct val="129730"/>
              </a:lnSpc>
              <a:buNone/>
            </a:pPr>
            <a:r>
              <a:rPr lang="en-US" sz="2400" dirty="0">
                <a:solidFill>
                  <a:srgbClr val="8A8D93"/>
                </a:solidFill>
                <a:latin typeface="Arial" pitchFamily="34" charset="0"/>
                <a:ea typeface="Arial" pitchFamily="34" charset="-122"/>
                <a:cs typeface="Arial" pitchFamily="34" charset="-120"/>
              </a:rPr>
              <a:t>Gate UI</a:t>
            </a:r>
            <a:endParaRPr lang="en-US" sz="2400" dirty="0"/>
          </a:p>
        </p:txBody>
      </p:sp>
      <p:sp>
        <p:nvSpPr>
          <p:cNvPr id="24" name="Text 22"/>
          <p:cNvSpPr/>
          <p:nvPr/>
        </p:nvSpPr>
        <p:spPr>
          <a:xfrm>
            <a:off x="5468689" y="6004471"/>
            <a:ext cx="3539922" cy="495300"/>
          </a:xfrm>
          <a:prstGeom prst="rect">
            <a:avLst/>
          </a:prstGeom>
          <a:noFill/>
          <a:ln/>
        </p:spPr>
        <p:txBody>
          <a:bodyPr wrap="square" lIns="25400" tIns="25400" rIns="25400" bIns="25400" rtlCol="0" anchor="t">
            <a:normAutofit/>
          </a:bodyPr>
          <a:lstStyle/>
          <a:p>
            <a:pPr algn="l" indent="0" marL="0">
              <a:lnSpc>
                <a:spcPct val="129730"/>
              </a:lnSpc>
              <a:buNone/>
            </a:pPr>
            <a:r>
              <a:rPr lang="en-US" sz="2400" b="1" dirty="0">
                <a:solidFill>
                  <a:srgbClr val="FFFFFF"/>
                </a:solidFill>
                <a:latin typeface="Arial" pitchFamily="34" charset="0"/>
                <a:ea typeface="Arial" pitchFamily="34" charset="-122"/>
                <a:cs typeface="Arial" pitchFamily="34" charset="-120"/>
              </a:rPr>
              <a:t>Web (React hoặc HTML)</a:t>
            </a:r>
            <a:endParaRPr lang="en-US" sz="2400" dirty="0"/>
          </a:p>
        </p:txBody>
      </p:sp>
      <p:sp>
        <p:nvSpPr>
          <p:cNvPr id="25" name="Shape 23"/>
          <p:cNvSpPr/>
          <p:nvPr/>
        </p:nvSpPr>
        <p:spPr>
          <a:xfrm>
            <a:off x="9601200" y="6747421"/>
            <a:ext cx="7734300" cy="9525"/>
          </a:xfrm>
          <a:prstGeom prst="rect">
            <a:avLst/>
          </a:prstGeom>
          <a:solidFill>
            <a:srgbClr val="2E3033">
              <a:alpha val="50000"/>
            </a:srgbClr>
          </a:solidFill>
          <a:ln/>
        </p:spPr>
      </p:sp>
      <p:sp>
        <p:nvSpPr>
          <p:cNvPr id="26" name="Text 24"/>
          <p:cNvSpPr/>
          <p:nvPr/>
        </p:nvSpPr>
        <p:spPr>
          <a:xfrm>
            <a:off x="9601200" y="6004471"/>
            <a:ext cx="649932" cy="495300"/>
          </a:xfrm>
          <a:prstGeom prst="rect">
            <a:avLst/>
          </a:prstGeom>
          <a:noFill/>
          <a:ln/>
        </p:spPr>
        <p:txBody>
          <a:bodyPr wrap="square" lIns="25400" tIns="25400" rIns="25400" bIns="25400" rtlCol="0" anchor="t">
            <a:normAutofit/>
          </a:bodyPr>
          <a:lstStyle/>
          <a:p>
            <a:pPr algn="l" indent="0" marL="0">
              <a:lnSpc>
                <a:spcPct val="129730"/>
              </a:lnSpc>
              <a:buNone/>
            </a:pPr>
            <a:r>
              <a:rPr lang="en-US" sz="2400" dirty="0">
                <a:solidFill>
                  <a:srgbClr val="8A8D93">
                    <a:alpha val="50000"/>
                  </a:srgbClr>
                </a:solidFill>
                <a:latin typeface="Arial" pitchFamily="34" charset="0"/>
                <a:ea typeface="Arial" pitchFamily="34" charset="-122"/>
                <a:cs typeface="Arial" pitchFamily="34" charset="-120"/>
              </a:rPr>
              <a:t>PnR</a:t>
            </a:r>
            <a:endParaRPr lang="en-US" sz="2400" dirty="0"/>
          </a:p>
        </p:txBody>
      </p:sp>
      <p:sp>
        <p:nvSpPr>
          <p:cNvPr id="27" name="Text 25"/>
          <p:cNvSpPr/>
          <p:nvPr/>
        </p:nvSpPr>
        <p:spPr>
          <a:xfrm>
            <a:off x="13457783" y="6004471"/>
            <a:ext cx="4265488" cy="495300"/>
          </a:xfrm>
          <a:prstGeom prst="rect">
            <a:avLst/>
          </a:prstGeom>
          <a:noFill/>
          <a:ln/>
        </p:spPr>
        <p:txBody>
          <a:bodyPr wrap="square" lIns="25400" tIns="25400" rIns="25400" bIns="25400" rtlCol="0" anchor="t">
            <a:normAutofit/>
          </a:bodyPr>
          <a:lstStyle/>
          <a:p>
            <a:pPr algn="l" indent="0" marL="0">
              <a:lnSpc>
                <a:spcPct val="129730"/>
              </a:lnSpc>
              <a:buNone/>
            </a:pPr>
            <a:r>
              <a:rPr lang="en-US" sz="2400" b="1" dirty="0">
                <a:solidFill>
                  <a:srgbClr val="FFFFFF">
                    <a:alpha val="50000"/>
                  </a:srgbClr>
                </a:solidFill>
                <a:latin typeface="Arial" pitchFamily="34" charset="0"/>
                <a:ea typeface="Arial" pitchFamily="34" charset="-122"/>
                <a:cs typeface="Arial" pitchFamily="34" charset="-120"/>
              </a:rPr>
              <a:t>OpenLane2 — ngoài phạm vi</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214"/>
        </a:solidFill>
      </p:bgPr>
    </p:bg>
    <p:spTree>
      <p:nvGrpSpPr>
        <p:cNvPr id="1" name=""/>
        <p:cNvGrpSpPr/>
        <p:nvPr/>
      </p:nvGrpSpPr>
      <p:grpSpPr>
        <a:xfrm>
          <a:off x="0" y="0"/>
          <a:ext cx="0" cy="0"/>
          <a:chOff x="0" y="0"/>
          <a:chExt cx="0" cy="0"/>
        </a:xfrm>
      </p:grpSpPr>
      <p:sp>
        <p:nvSpPr>
          <p:cNvPr id="2" name="Text 0"/>
          <p:cNvSpPr/>
          <p:nvPr/>
        </p:nvSpPr>
        <p:spPr>
          <a:xfrm>
            <a:off x="952500" y="952500"/>
            <a:ext cx="18021300" cy="409575"/>
          </a:xfrm>
          <a:prstGeom prst="rect">
            <a:avLst/>
          </a:prstGeom>
          <a:noFill/>
          <a:ln/>
        </p:spPr>
        <p:txBody>
          <a:bodyPr wrap="square" lIns="25400" tIns="25400" rIns="25400" bIns="25400" rtlCol="0" anchor="t">
            <a:normAutofit/>
          </a:bodyPr>
          <a:lstStyle/>
          <a:p>
            <a:pPr algn="l" indent="0" marL="0">
              <a:lnSpc>
                <a:spcPct val="125806"/>
              </a:lnSpc>
              <a:buNone/>
            </a:pPr>
            <a:r>
              <a:rPr lang="en-US" sz="1950" b="1" spc="312" kern="0" dirty="0">
                <a:solidFill>
                  <a:srgbClr val="76B900"/>
                </a:solidFill>
                <a:latin typeface="Arial" pitchFamily="34" charset="0"/>
                <a:ea typeface="Arial" pitchFamily="34" charset="-122"/>
                <a:cs typeface="Arial" pitchFamily="34" charset="-120"/>
              </a:rPr>
              <a:t>11 · ROADMAP</a:t>
            </a:r>
            <a:endParaRPr lang="en-US" sz="1950" dirty="0"/>
          </a:p>
        </p:txBody>
      </p:sp>
      <p:sp>
        <p:nvSpPr>
          <p:cNvPr id="3" name="Text 1"/>
          <p:cNvSpPr/>
          <p:nvPr/>
        </p:nvSpPr>
        <p:spPr>
          <a:xfrm>
            <a:off x="952500" y="1476375"/>
            <a:ext cx="18021300" cy="708571"/>
          </a:xfrm>
          <a:prstGeom prst="rect">
            <a:avLst/>
          </a:prstGeom>
          <a:noFill/>
          <a:ln/>
        </p:spPr>
        <p:txBody>
          <a:bodyPr wrap="square" lIns="25400" tIns="25400" rIns="25400" bIns="25400" rtlCol="0" anchor="t">
            <a:normAutofit/>
          </a:bodyPr>
          <a:lstStyle/>
          <a:p>
            <a:pPr algn="l" indent="0" marL="0">
              <a:lnSpc>
                <a:spcPct val="95135"/>
              </a:lnSpc>
              <a:buNone/>
            </a:pPr>
            <a:r>
              <a:rPr lang="en-US" sz="4800" b="1" dirty="0">
                <a:solidFill>
                  <a:srgbClr val="FFFFFF"/>
                </a:solidFill>
                <a:latin typeface="Arial" pitchFamily="34" charset="0"/>
                <a:ea typeface="Arial" pitchFamily="34" charset="-122"/>
                <a:cs typeface="Arial" pitchFamily="34" charset="-120"/>
              </a:rPr>
              <a:t>Sáu tuần, mỗi tuần một deliverable</a:t>
            </a:r>
            <a:endParaRPr lang="en-US" sz="4800" dirty="0"/>
          </a:p>
        </p:txBody>
      </p:sp>
      <p:sp>
        <p:nvSpPr>
          <p:cNvPr id="4" name="Shape 2"/>
          <p:cNvSpPr/>
          <p:nvPr/>
        </p:nvSpPr>
        <p:spPr>
          <a:xfrm>
            <a:off x="952500" y="3547021"/>
            <a:ext cx="16383000" cy="9525"/>
          </a:xfrm>
          <a:prstGeom prst="rect">
            <a:avLst/>
          </a:prstGeom>
          <a:solidFill>
            <a:srgbClr val="2E3033"/>
          </a:solidFill>
          <a:ln/>
        </p:spPr>
      </p:sp>
      <p:sp>
        <p:nvSpPr>
          <p:cNvPr id="5" name="Text 3"/>
          <p:cNvSpPr/>
          <p:nvPr/>
        </p:nvSpPr>
        <p:spPr>
          <a:xfrm>
            <a:off x="952500" y="2813596"/>
            <a:ext cx="1781175" cy="523875"/>
          </a:xfrm>
          <a:prstGeom prst="rect">
            <a:avLst/>
          </a:prstGeom>
          <a:noFill/>
          <a:ln/>
        </p:spPr>
        <p:txBody>
          <a:bodyPr wrap="square" lIns="25400" tIns="25400" rIns="25400" bIns="25400" rtlCol="0" anchor="t">
            <a:normAutofit/>
          </a:bodyPr>
          <a:lstStyle/>
          <a:p>
            <a:pPr algn="l" indent="0" marL="0">
              <a:lnSpc>
                <a:spcPct val="130769"/>
              </a:lnSpc>
              <a:buNone/>
            </a:pPr>
            <a:r>
              <a:rPr lang="en-US" sz="2550" b="1" dirty="0">
                <a:solidFill>
                  <a:srgbClr val="76B900"/>
                </a:solidFill>
                <a:latin typeface="Arial" pitchFamily="34" charset="0"/>
                <a:ea typeface="Arial" pitchFamily="34" charset="-122"/>
                <a:cs typeface="Arial" pitchFamily="34" charset="-120"/>
              </a:rPr>
              <a:t>Tuần 1</a:t>
            </a:r>
            <a:endParaRPr lang="en-US" sz="2550" dirty="0"/>
          </a:p>
        </p:txBody>
      </p:sp>
      <p:sp>
        <p:nvSpPr>
          <p:cNvPr id="6" name="Text 4"/>
          <p:cNvSpPr/>
          <p:nvPr/>
        </p:nvSpPr>
        <p:spPr>
          <a:xfrm>
            <a:off x="2952750" y="2880271"/>
            <a:ext cx="8067675" cy="423863"/>
          </a:xfrm>
          <a:prstGeom prst="rect">
            <a:avLst/>
          </a:prstGeom>
          <a:noFill/>
          <a:ln/>
        </p:spPr>
        <p:txBody>
          <a:bodyPr wrap="square" lIns="25400" tIns="25400" rIns="25400" bIns="25400" rtlCol="0" anchor="t">
            <a:normAutofit/>
          </a:bodyPr>
          <a:lstStyle/>
          <a:p>
            <a:pPr algn="l" indent="0" marL="0">
              <a:lnSpc>
                <a:spcPct val="119118"/>
              </a:lnSpc>
              <a:buNone/>
            </a:pPr>
            <a:r>
              <a:rPr lang="en-US" sz="2250" dirty="0">
                <a:solidFill>
                  <a:srgbClr val="FFFFFF"/>
                </a:solidFill>
                <a:latin typeface="Arial" pitchFamily="34" charset="0"/>
                <a:ea typeface="Arial" pitchFamily="34" charset="-122"/>
                <a:cs typeface="Arial" pitchFamily="34" charset="-120"/>
              </a:rPr>
              <a:t>Schemas + </a:t>
            </a:r>
            <a:pPr algn="l" indent="0" marL="0">
              <a:lnSpc>
                <a:spcPct val="119118"/>
              </a:lnSpc>
              <a:buNone/>
            </a:pPr>
            <a:r>
              <a:rPr lang="en-US" sz="2250" dirty="0">
                <a:solidFill>
                  <a:srgbClr val="FFFFFF"/>
                </a:solidFill>
                <a:latin typeface="Courier New" pitchFamily="34" charset="0"/>
                <a:ea typeface="Courier New" pitchFamily="34" charset="-122"/>
                <a:cs typeface="Courier New" pitchFamily="34" charset="-120"/>
              </a:rPr>
              <a:t>spec_parser.md</a:t>
            </a:r>
            <a:endParaRPr lang="en-US" sz="2250" dirty="0"/>
          </a:p>
        </p:txBody>
      </p:sp>
      <p:sp>
        <p:nvSpPr>
          <p:cNvPr id="7" name="Text 5"/>
          <p:cNvSpPr/>
          <p:nvPr/>
        </p:nvSpPr>
        <p:spPr>
          <a:xfrm>
            <a:off x="10668000" y="2899321"/>
            <a:ext cx="7334250" cy="398115"/>
          </a:xfrm>
          <a:prstGeom prst="rect">
            <a:avLst/>
          </a:prstGeom>
          <a:noFill/>
          <a:ln/>
        </p:spPr>
        <p:txBody>
          <a:bodyPr wrap="square" lIns="25400" tIns="25400" rIns="25400" bIns="25400" rtlCol="0" anchor="t">
            <a:normAutofit/>
          </a:bodyPr>
          <a:lstStyle/>
          <a:p>
            <a:pPr algn="l" indent="0" marL="0">
              <a:lnSpc>
                <a:spcPct val="118125"/>
              </a:lnSpc>
              <a:buNone/>
            </a:pPr>
            <a:r>
              <a:rPr lang="en-US" sz="2100" dirty="0">
                <a:solidFill>
                  <a:srgbClr val="B6B8BD"/>
                </a:solidFill>
                <a:latin typeface="Arial" pitchFamily="34" charset="0"/>
                <a:ea typeface="Arial" pitchFamily="34" charset="-122"/>
                <a:cs typeface="Arial" pitchFamily="34" charset="-120"/>
              </a:rPr>
              <a:t>structured_spec.json chạy được trên spec RV32IM</a:t>
            </a:r>
            <a:endParaRPr lang="en-US" sz="2100" dirty="0"/>
          </a:p>
        </p:txBody>
      </p:sp>
      <p:sp>
        <p:nvSpPr>
          <p:cNvPr id="8" name="Shape 6"/>
          <p:cNvSpPr/>
          <p:nvPr/>
        </p:nvSpPr>
        <p:spPr>
          <a:xfrm>
            <a:off x="952500" y="4537621"/>
            <a:ext cx="16383000" cy="9525"/>
          </a:xfrm>
          <a:prstGeom prst="rect">
            <a:avLst/>
          </a:prstGeom>
          <a:solidFill>
            <a:srgbClr val="2E3033"/>
          </a:solidFill>
          <a:ln/>
        </p:spPr>
      </p:sp>
      <p:sp>
        <p:nvSpPr>
          <p:cNvPr id="9" name="Text 7"/>
          <p:cNvSpPr/>
          <p:nvPr/>
        </p:nvSpPr>
        <p:spPr>
          <a:xfrm>
            <a:off x="952500" y="3804196"/>
            <a:ext cx="1781175" cy="523875"/>
          </a:xfrm>
          <a:prstGeom prst="rect">
            <a:avLst/>
          </a:prstGeom>
          <a:noFill/>
          <a:ln/>
        </p:spPr>
        <p:txBody>
          <a:bodyPr wrap="square" lIns="25400" tIns="25400" rIns="25400" bIns="25400" rtlCol="0" anchor="t">
            <a:normAutofit/>
          </a:bodyPr>
          <a:lstStyle/>
          <a:p>
            <a:pPr algn="l" indent="0" marL="0">
              <a:lnSpc>
                <a:spcPct val="130769"/>
              </a:lnSpc>
              <a:buNone/>
            </a:pPr>
            <a:r>
              <a:rPr lang="en-US" sz="2550" b="1" dirty="0">
                <a:solidFill>
                  <a:srgbClr val="76B900"/>
                </a:solidFill>
                <a:latin typeface="Arial" pitchFamily="34" charset="0"/>
                <a:ea typeface="Arial" pitchFamily="34" charset="-122"/>
                <a:cs typeface="Arial" pitchFamily="34" charset="-120"/>
              </a:rPr>
              <a:t>Tuần 2</a:t>
            </a:r>
            <a:endParaRPr lang="en-US" sz="2550" dirty="0"/>
          </a:p>
        </p:txBody>
      </p:sp>
      <p:sp>
        <p:nvSpPr>
          <p:cNvPr id="10" name="Text 8"/>
          <p:cNvSpPr/>
          <p:nvPr/>
        </p:nvSpPr>
        <p:spPr>
          <a:xfrm>
            <a:off x="2952750" y="3870871"/>
            <a:ext cx="8067675" cy="423863"/>
          </a:xfrm>
          <a:prstGeom prst="rect">
            <a:avLst/>
          </a:prstGeom>
          <a:noFill/>
          <a:ln/>
        </p:spPr>
        <p:txBody>
          <a:bodyPr wrap="square" lIns="25400" tIns="25400" rIns="25400" bIns="25400" rtlCol="0" anchor="t">
            <a:normAutofit/>
          </a:bodyPr>
          <a:lstStyle/>
          <a:p>
            <a:pPr algn="l" indent="0" marL="0">
              <a:lnSpc>
                <a:spcPct val="119118"/>
              </a:lnSpc>
              <a:buNone/>
            </a:pPr>
            <a:r>
              <a:rPr lang="en-US" sz="2250" dirty="0">
                <a:solidFill>
                  <a:srgbClr val="FFFFFF"/>
                </a:solidFill>
                <a:latin typeface="Arial" pitchFamily="34" charset="0"/>
                <a:ea typeface="Arial" pitchFamily="34" charset="-122"/>
                <a:cs typeface="Arial" pitchFamily="34" charset="-120"/>
              </a:rPr>
              <a:t>Gate 1 Spec Review + Gate 2 Config</a:t>
            </a:r>
            <a:endParaRPr lang="en-US" sz="2250" dirty="0"/>
          </a:p>
        </p:txBody>
      </p:sp>
      <p:sp>
        <p:nvSpPr>
          <p:cNvPr id="11" name="Text 9"/>
          <p:cNvSpPr/>
          <p:nvPr/>
        </p:nvSpPr>
        <p:spPr>
          <a:xfrm>
            <a:off x="10668000" y="3889921"/>
            <a:ext cx="7334250" cy="398115"/>
          </a:xfrm>
          <a:prstGeom prst="rect">
            <a:avLst/>
          </a:prstGeom>
          <a:noFill/>
          <a:ln/>
        </p:spPr>
        <p:txBody>
          <a:bodyPr wrap="square" lIns="25400" tIns="25400" rIns="25400" bIns="25400" rtlCol="0" anchor="t">
            <a:normAutofit/>
          </a:bodyPr>
          <a:lstStyle/>
          <a:p>
            <a:pPr algn="l" indent="0" marL="0">
              <a:lnSpc>
                <a:spcPct val="118125"/>
              </a:lnSpc>
              <a:buNone/>
            </a:pPr>
            <a:r>
              <a:rPr lang="en-US" sz="2100" dirty="0">
                <a:solidFill>
                  <a:srgbClr val="B6B8BD"/>
                </a:solidFill>
                <a:latin typeface="Arial" pitchFamily="34" charset="0"/>
                <a:ea typeface="Arial" pitchFamily="34" charset="-122"/>
                <a:cs typeface="Arial" pitchFamily="34" charset="-120"/>
              </a:rPr>
              <a:t>Spec đã xác nhận, final_config.json chốt</a:t>
            </a:r>
            <a:endParaRPr lang="en-US" sz="2100" dirty="0"/>
          </a:p>
        </p:txBody>
      </p:sp>
      <p:sp>
        <p:nvSpPr>
          <p:cNvPr id="12" name="Shape 10"/>
          <p:cNvSpPr/>
          <p:nvPr/>
        </p:nvSpPr>
        <p:spPr>
          <a:xfrm>
            <a:off x="952500" y="5528221"/>
            <a:ext cx="16383000" cy="9525"/>
          </a:xfrm>
          <a:prstGeom prst="rect">
            <a:avLst/>
          </a:prstGeom>
          <a:solidFill>
            <a:srgbClr val="2E3033"/>
          </a:solidFill>
          <a:ln/>
        </p:spPr>
      </p:sp>
      <p:sp>
        <p:nvSpPr>
          <p:cNvPr id="13" name="Text 11"/>
          <p:cNvSpPr/>
          <p:nvPr/>
        </p:nvSpPr>
        <p:spPr>
          <a:xfrm>
            <a:off x="952500" y="4794796"/>
            <a:ext cx="1781175" cy="523875"/>
          </a:xfrm>
          <a:prstGeom prst="rect">
            <a:avLst/>
          </a:prstGeom>
          <a:noFill/>
          <a:ln/>
        </p:spPr>
        <p:txBody>
          <a:bodyPr wrap="square" lIns="25400" tIns="25400" rIns="25400" bIns="25400" rtlCol="0" anchor="t">
            <a:normAutofit/>
          </a:bodyPr>
          <a:lstStyle/>
          <a:p>
            <a:pPr algn="l" indent="0" marL="0">
              <a:lnSpc>
                <a:spcPct val="130769"/>
              </a:lnSpc>
              <a:buNone/>
            </a:pPr>
            <a:r>
              <a:rPr lang="en-US" sz="2550" b="1" dirty="0">
                <a:solidFill>
                  <a:srgbClr val="76B900"/>
                </a:solidFill>
                <a:latin typeface="Arial" pitchFamily="34" charset="0"/>
                <a:ea typeface="Arial" pitchFamily="34" charset="-122"/>
                <a:cs typeface="Arial" pitchFamily="34" charset="-120"/>
              </a:rPr>
              <a:t>Tuần 3</a:t>
            </a:r>
            <a:endParaRPr lang="en-US" sz="2550" dirty="0"/>
          </a:p>
        </p:txBody>
      </p:sp>
      <p:sp>
        <p:nvSpPr>
          <p:cNvPr id="14" name="Text 12"/>
          <p:cNvSpPr/>
          <p:nvPr/>
        </p:nvSpPr>
        <p:spPr>
          <a:xfrm>
            <a:off x="2952750" y="4861471"/>
            <a:ext cx="8067675" cy="423863"/>
          </a:xfrm>
          <a:prstGeom prst="rect">
            <a:avLst/>
          </a:prstGeom>
          <a:noFill/>
          <a:ln/>
        </p:spPr>
        <p:txBody>
          <a:bodyPr wrap="square" lIns="25400" tIns="25400" rIns="25400" bIns="25400" rtlCol="0" anchor="t">
            <a:normAutofit/>
          </a:bodyPr>
          <a:lstStyle/>
          <a:p>
            <a:pPr algn="l" indent="0" marL="0">
              <a:lnSpc>
                <a:spcPct val="119118"/>
              </a:lnSpc>
              <a:buNone/>
            </a:pPr>
            <a:r>
              <a:rPr lang="en-US" sz="2250" dirty="0">
                <a:solidFill>
                  <a:srgbClr val="FFFFFF"/>
                </a:solidFill>
                <a:latin typeface="Arial" pitchFamily="34" charset="0"/>
                <a:ea typeface="Arial" pitchFamily="34" charset="-122"/>
                <a:cs typeface="Arial" pitchFamily="34" charset="-120"/>
              </a:rPr>
              <a:t>RTL + SVA generator</a:t>
            </a:r>
            <a:endParaRPr lang="en-US" sz="2250" dirty="0"/>
          </a:p>
        </p:txBody>
      </p:sp>
      <p:sp>
        <p:nvSpPr>
          <p:cNvPr id="15" name="Text 13"/>
          <p:cNvSpPr/>
          <p:nvPr/>
        </p:nvSpPr>
        <p:spPr>
          <a:xfrm>
            <a:off x="10668000" y="4880521"/>
            <a:ext cx="7334250" cy="398115"/>
          </a:xfrm>
          <a:prstGeom prst="rect">
            <a:avLst/>
          </a:prstGeom>
          <a:noFill/>
          <a:ln/>
        </p:spPr>
        <p:txBody>
          <a:bodyPr wrap="square" lIns="25400" tIns="25400" rIns="25400" bIns="25400" rtlCol="0" anchor="t">
            <a:normAutofit/>
          </a:bodyPr>
          <a:lstStyle/>
          <a:p>
            <a:pPr algn="l" indent="0" marL="0">
              <a:lnSpc>
                <a:spcPct val="118125"/>
              </a:lnSpc>
              <a:buNone/>
            </a:pPr>
            <a:r>
              <a:rPr lang="en-US" sz="2100" dirty="0">
                <a:solidFill>
                  <a:srgbClr val="B6B8BD"/>
                </a:solidFill>
                <a:latin typeface="Arial" pitchFamily="34" charset="0"/>
                <a:ea typeface="Arial" pitchFamily="34" charset="-122"/>
                <a:cs typeface="Arial" pitchFamily="34" charset="-120"/>
              </a:rPr>
              <a:t>RTL RV32IM tag REQ-ID, Yosys synth Sky130 pass</a:t>
            </a:r>
            <a:endParaRPr lang="en-US" sz="2100" dirty="0"/>
          </a:p>
        </p:txBody>
      </p:sp>
      <p:sp>
        <p:nvSpPr>
          <p:cNvPr id="16" name="Shape 14"/>
          <p:cNvSpPr/>
          <p:nvPr/>
        </p:nvSpPr>
        <p:spPr>
          <a:xfrm>
            <a:off x="952500" y="6518821"/>
            <a:ext cx="16383000" cy="9525"/>
          </a:xfrm>
          <a:prstGeom prst="rect">
            <a:avLst/>
          </a:prstGeom>
          <a:solidFill>
            <a:srgbClr val="2E3033"/>
          </a:solidFill>
          <a:ln/>
        </p:spPr>
      </p:sp>
      <p:sp>
        <p:nvSpPr>
          <p:cNvPr id="17" name="Text 15"/>
          <p:cNvSpPr/>
          <p:nvPr/>
        </p:nvSpPr>
        <p:spPr>
          <a:xfrm>
            <a:off x="952500" y="5785396"/>
            <a:ext cx="1781175" cy="523875"/>
          </a:xfrm>
          <a:prstGeom prst="rect">
            <a:avLst/>
          </a:prstGeom>
          <a:noFill/>
          <a:ln/>
        </p:spPr>
        <p:txBody>
          <a:bodyPr wrap="square" lIns="25400" tIns="25400" rIns="25400" bIns="25400" rtlCol="0" anchor="t">
            <a:normAutofit/>
          </a:bodyPr>
          <a:lstStyle/>
          <a:p>
            <a:pPr algn="l" indent="0" marL="0">
              <a:lnSpc>
                <a:spcPct val="130769"/>
              </a:lnSpc>
              <a:buNone/>
            </a:pPr>
            <a:r>
              <a:rPr lang="en-US" sz="2550" b="1" dirty="0">
                <a:solidFill>
                  <a:srgbClr val="76B900"/>
                </a:solidFill>
                <a:latin typeface="Arial" pitchFamily="34" charset="0"/>
                <a:ea typeface="Arial" pitchFamily="34" charset="-122"/>
                <a:cs typeface="Arial" pitchFamily="34" charset="-120"/>
              </a:rPr>
              <a:t>Tuần 4</a:t>
            </a:r>
            <a:endParaRPr lang="en-US" sz="2550" dirty="0"/>
          </a:p>
        </p:txBody>
      </p:sp>
      <p:sp>
        <p:nvSpPr>
          <p:cNvPr id="18" name="Text 16"/>
          <p:cNvSpPr/>
          <p:nvPr/>
        </p:nvSpPr>
        <p:spPr>
          <a:xfrm>
            <a:off x="2952750" y="5852071"/>
            <a:ext cx="8067675" cy="423863"/>
          </a:xfrm>
          <a:prstGeom prst="rect">
            <a:avLst/>
          </a:prstGeom>
          <a:noFill/>
          <a:ln/>
        </p:spPr>
        <p:txBody>
          <a:bodyPr wrap="square" lIns="25400" tIns="25400" rIns="25400" bIns="25400" rtlCol="0" anchor="t">
            <a:normAutofit/>
          </a:bodyPr>
          <a:lstStyle/>
          <a:p>
            <a:pPr algn="l" indent="0" marL="0">
              <a:lnSpc>
                <a:spcPct val="119118"/>
              </a:lnSpc>
              <a:buNone/>
            </a:pPr>
            <a:r>
              <a:rPr lang="en-US" sz="2250" dirty="0">
                <a:solidFill>
                  <a:srgbClr val="FFFFFF"/>
                </a:solidFill>
                <a:latin typeface="Arial" pitchFamily="34" charset="0"/>
                <a:ea typeface="Arial" pitchFamily="34" charset="-122"/>
                <a:cs typeface="Arial" pitchFamily="34" charset="-120"/>
              </a:rPr>
              <a:t>Gate 3 Property Review + TB generator + Gate 4</a:t>
            </a:r>
            <a:endParaRPr lang="en-US" sz="2250" dirty="0"/>
          </a:p>
        </p:txBody>
      </p:sp>
      <p:sp>
        <p:nvSpPr>
          <p:cNvPr id="19" name="Text 17"/>
          <p:cNvSpPr/>
          <p:nvPr/>
        </p:nvSpPr>
        <p:spPr>
          <a:xfrm>
            <a:off x="10668000" y="5871121"/>
            <a:ext cx="7334250" cy="398115"/>
          </a:xfrm>
          <a:prstGeom prst="rect">
            <a:avLst/>
          </a:prstGeom>
          <a:noFill/>
          <a:ln/>
        </p:spPr>
        <p:txBody>
          <a:bodyPr wrap="square" lIns="25400" tIns="25400" rIns="25400" bIns="25400" rtlCol="0" anchor="t">
            <a:normAutofit/>
          </a:bodyPr>
          <a:lstStyle/>
          <a:p>
            <a:pPr algn="l" indent="0" marL="0">
              <a:lnSpc>
                <a:spcPct val="118125"/>
              </a:lnSpc>
              <a:buNone/>
            </a:pPr>
            <a:r>
              <a:rPr lang="en-US" sz="2100" dirty="0">
                <a:solidFill>
                  <a:srgbClr val="B6B8BD"/>
                </a:solidFill>
                <a:latin typeface="Arial" pitchFamily="34" charset="0"/>
                <a:ea typeface="Arial" pitchFamily="34" charset="-122"/>
                <a:cs typeface="Arial" pitchFamily="34" charset="-120"/>
              </a:rPr>
              <a:t>Sim chạy sạch, không SVA violation</a:t>
            </a:r>
            <a:endParaRPr lang="en-US" sz="2100" dirty="0"/>
          </a:p>
        </p:txBody>
      </p:sp>
      <p:sp>
        <p:nvSpPr>
          <p:cNvPr id="20" name="Shape 18"/>
          <p:cNvSpPr/>
          <p:nvPr/>
        </p:nvSpPr>
        <p:spPr>
          <a:xfrm>
            <a:off x="952500" y="7509421"/>
            <a:ext cx="16383000" cy="9525"/>
          </a:xfrm>
          <a:prstGeom prst="rect">
            <a:avLst/>
          </a:prstGeom>
          <a:solidFill>
            <a:srgbClr val="2E3033"/>
          </a:solidFill>
          <a:ln/>
        </p:spPr>
      </p:sp>
      <p:sp>
        <p:nvSpPr>
          <p:cNvPr id="21" name="Text 19"/>
          <p:cNvSpPr/>
          <p:nvPr/>
        </p:nvSpPr>
        <p:spPr>
          <a:xfrm>
            <a:off x="952500" y="6775996"/>
            <a:ext cx="1781175" cy="523875"/>
          </a:xfrm>
          <a:prstGeom prst="rect">
            <a:avLst/>
          </a:prstGeom>
          <a:noFill/>
          <a:ln/>
        </p:spPr>
        <p:txBody>
          <a:bodyPr wrap="square" lIns="25400" tIns="25400" rIns="25400" bIns="25400" rtlCol="0" anchor="t">
            <a:normAutofit/>
          </a:bodyPr>
          <a:lstStyle/>
          <a:p>
            <a:pPr algn="l" indent="0" marL="0">
              <a:lnSpc>
                <a:spcPct val="130769"/>
              </a:lnSpc>
              <a:buNone/>
            </a:pPr>
            <a:r>
              <a:rPr lang="en-US" sz="2550" b="1" dirty="0">
                <a:solidFill>
                  <a:srgbClr val="76B900"/>
                </a:solidFill>
                <a:latin typeface="Arial" pitchFamily="34" charset="0"/>
                <a:ea typeface="Arial" pitchFamily="34" charset="-122"/>
                <a:cs typeface="Arial" pitchFamily="34" charset="-120"/>
              </a:rPr>
              <a:t>Tuần 5</a:t>
            </a:r>
            <a:endParaRPr lang="en-US" sz="2550" dirty="0"/>
          </a:p>
        </p:txBody>
      </p:sp>
      <p:sp>
        <p:nvSpPr>
          <p:cNvPr id="22" name="Text 20"/>
          <p:cNvSpPr/>
          <p:nvPr/>
        </p:nvSpPr>
        <p:spPr>
          <a:xfrm>
            <a:off x="2952750" y="6842671"/>
            <a:ext cx="8067675" cy="423863"/>
          </a:xfrm>
          <a:prstGeom prst="rect">
            <a:avLst/>
          </a:prstGeom>
          <a:noFill/>
          <a:ln/>
        </p:spPr>
        <p:txBody>
          <a:bodyPr wrap="square" lIns="25400" tIns="25400" rIns="25400" bIns="25400" rtlCol="0" anchor="t">
            <a:normAutofit/>
          </a:bodyPr>
          <a:lstStyle/>
          <a:p>
            <a:pPr algn="l" indent="0" marL="0">
              <a:lnSpc>
                <a:spcPct val="119118"/>
              </a:lnSpc>
              <a:buNone/>
            </a:pPr>
            <a:r>
              <a:rPr lang="en-US" sz="2250" dirty="0">
                <a:solidFill>
                  <a:srgbClr val="FFFFFF"/>
                </a:solidFill>
                <a:latin typeface="Arial" pitchFamily="34" charset="0"/>
                <a:ea typeface="Arial" pitchFamily="34" charset="-122"/>
                <a:cs typeface="Arial" pitchFamily="34" charset="-120"/>
              </a:rPr>
              <a:t>Mutation runner + Gate 5 RTM Dashboard</a:t>
            </a:r>
            <a:endParaRPr lang="en-US" sz="2250" dirty="0"/>
          </a:p>
        </p:txBody>
      </p:sp>
      <p:sp>
        <p:nvSpPr>
          <p:cNvPr id="23" name="Text 21"/>
          <p:cNvSpPr/>
          <p:nvPr/>
        </p:nvSpPr>
        <p:spPr>
          <a:xfrm>
            <a:off x="10668000" y="6861721"/>
            <a:ext cx="7334250" cy="398115"/>
          </a:xfrm>
          <a:prstGeom prst="rect">
            <a:avLst/>
          </a:prstGeom>
          <a:noFill/>
          <a:ln/>
        </p:spPr>
        <p:txBody>
          <a:bodyPr wrap="square" lIns="25400" tIns="25400" rIns="25400" bIns="25400" rtlCol="0" anchor="t">
            <a:normAutofit/>
          </a:bodyPr>
          <a:lstStyle/>
          <a:p>
            <a:pPr algn="l" indent="0" marL="0">
              <a:lnSpc>
                <a:spcPct val="118125"/>
              </a:lnSpc>
              <a:buNone/>
            </a:pPr>
            <a:r>
              <a:rPr lang="en-US" sz="2100" dirty="0">
                <a:solidFill>
                  <a:srgbClr val="B6B8BD"/>
                </a:solidFill>
                <a:latin typeface="Arial" pitchFamily="34" charset="0"/>
                <a:ea typeface="Arial" pitchFamily="34" charset="-122"/>
                <a:cs typeface="Arial" pitchFamily="34" charset="-120"/>
              </a:rPr>
              <a:t>Mutation score ≥ 85% trên RISC-V core</a:t>
            </a:r>
            <a:endParaRPr lang="en-US" sz="2100" dirty="0"/>
          </a:p>
        </p:txBody>
      </p:sp>
      <p:sp>
        <p:nvSpPr>
          <p:cNvPr id="24" name="Shape 22"/>
          <p:cNvSpPr/>
          <p:nvPr/>
        </p:nvSpPr>
        <p:spPr>
          <a:xfrm>
            <a:off x="952500" y="7518946"/>
            <a:ext cx="16383000" cy="990600"/>
          </a:xfrm>
          <a:prstGeom prst="rect">
            <a:avLst/>
          </a:prstGeom>
          <a:solidFill>
            <a:srgbClr val="76B900">
              <a:alpha val="7000"/>
            </a:srgbClr>
          </a:solidFill>
          <a:ln/>
        </p:spPr>
      </p:sp>
      <p:sp>
        <p:nvSpPr>
          <p:cNvPr id="25" name="Shape 23"/>
          <p:cNvSpPr/>
          <p:nvPr/>
        </p:nvSpPr>
        <p:spPr>
          <a:xfrm>
            <a:off x="952500" y="8500021"/>
            <a:ext cx="16383000" cy="9525"/>
          </a:xfrm>
          <a:prstGeom prst="rect">
            <a:avLst/>
          </a:prstGeom>
          <a:solidFill>
            <a:srgbClr val="76B900">
              <a:alpha val="45000"/>
            </a:srgbClr>
          </a:solidFill>
          <a:ln/>
        </p:spPr>
      </p:sp>
      <p:sp>
        <p:nvSpPr>
          <p:cNvPr id="26" name="Text 24"/>
          <p:cNvSpPr/>
          <p:nvPr/>
        </p:nvSpPr>
        <p:spPr>
          <a:xfrm>
            <a:off x="952500" y="7766596"/>
            <a:ext cx="1781175" cy="523875"/>
          </a:xfrm>
          <a:prstGeom prst="rect">
            <a:avLst/>
          </a:prstGeom>
          <a:noFill/>
          <a:ln/>
        </p:spPr>
        <p:txBody>
          <a:bodyPr wrap="square" lIns="25400" tIns="25400" rIns="25400" bIns="25400" rtlCol="0" anchor="t">
            <a:normAutofit/>
          </a:bodyPr>
          <a:lstStyle/>
          <a:p>
            <a:pPr algn="l" indent="0" marL="0">
              <a:lnSpc>
                <a:spcPct val="130769"/>
              </a:lnSpc>
              <a:buNone/>
            </a:pPr>
            <a:r>
              <a:rPr lang="en-US" sz="2550" b="1" dirty="0">
                <a:solidFill>
                  <a:srgbClr val="A3E635"/>
                </a:solidFill>
                <a:latin typeface="Arial" pitchFamily="34" charset="0"/>
                <a:ea typeface="Arial" pitchFamily="34" charset="-122"/>
                <a:cs typeface="Arial" pitchFamily="34" charset="-120"/>
              </a:rPr>
              <a:t>Tuần 6</a:t>
            </a:r>
            <a:endParaRPr lang="en-US" sz="2550" dirty="0"/>
          </a:p>
        </p:txBody>
      </p:sp>
      <p:sp>
        <p:nvSpPr>
          <p:cNvPr id="27" name="Text 25"/>
          <p:cNvSpPr/>
          <p:nvPr/>
        </p:nvSpPr>
        <p:spPr>
          <a:xfrm>
            <a:off x="2952750" y="7833271"/>
            <a:ext cx="8067675" cy="423863"/>
          </a:xfrm>
          <a:prstGeom prst="rect">
            <a:avLst/>
          </a:prstGeom>
          <a:noFill/>
          <a:ln/>
        </p:spPr>
        <p:txBody>
          <a:bodyPr wrap="square" lIns="25400" tIns="25400" rIns="25400" bIns="25400" rtlCol="0" anchor="t">
            <a:normAutofit/>
          </a:bodyPr>
          <a:lstStyle/>
          <a:p>
            <a:pPr algn="l" indent="0" marL="0">
              <a:lnSpc>
                <a:spcPct val="119118"/>
              </a:lnSpc>
              <a:buNone/>
            </a:pPr>
            <a:r>
              <a:rPr lang="en-US" sz="2250" dirty="0">
                <a:solidFill>
                  <a:srgbClr val="FFFFFF"/>
                </a:solidFill>
                <a:latin typeface="Arial" pitchFamily="34" charset="0"/>
                <a:ea typeface="Arial" pitchFamily="34" charset="-122"/>
                <a:cs typeface="Arial" pitchFamily="34" charset="-120"/>
              </a:rPr>
              <a:t>AXI upsizer + downsizer qua nguyên flow</a:t>
            </a:r>
            <a:endParaRPr lang="en-US" sz="2250" dirty="0"/>
          </a:p>
        </p:txBody>
      </p:sp>
      <p:sp>
        <p:nvSpPr>
          <p:cNvPr id="28" name="Text 26"/>
          <p:cNvSpPr/>
          <p:nvPr/>
        </p:nvSpPr>
        <p:spPr>
          <a:xfrm>
            <a:off x="10668000" y="7852321"/>
            <a:ext cx="7334250" cy="398115"/>
          </a:xfrm>
          <a:prstGeom prst="rect">
            <a:avLst/>
          </a:prstGeom>
          <a:noFill/>
          <a:ln/>
        </p:spPr>
        <p:txBody>
          <a:bodyPr wrap="square" lIns="25400" tIns="25400" rIns="25400" bIns="25400" rtlCol="0" anchor="t">
            <a:normAutofit/>
          </a:bodyPr>
          <a:lstStyle/>
          <a:p>
            <a:pPr algn="l" indent="0" marL="0">
              <a:lnSpc>
                <a:spcPct val="118125"/>
              </a:lnSpc>
              <a:buNone/>
            </a:pPr>
            <a:r>
              <a:rPr lang="en-US" sz="2100" dirty="0">
                <a:solidFill>
                  <a:srgbClr val="D7D9DD"/>
                </a:solidFill>
                <a:latin typeface="Arial" pitchFamily="34" charset="0"/>
                <a:ea typeface="Arial" pitchFamily="34" charset="-122"/>
                <a:cs typeface="Arial" pitchFamily="34" charset="-120"/>
              </a:rPr>
              <a:t>Ba IP sign-off đầy đủ trong RTM</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B0D"/>
        </a:solidFill>
      </p:bgPr>
    </p:bg>
    <p:spTree>
      <p:nvGrpSpPr>
        <p:cNvPr id="1" name=""/>
        <p:cNvGrpSpPr/>
        <p:nvPr/>
      </p:nvGrpSpPr>
      <p:grpSpPr>
        <a:xfrm>
          <a:off x="0" y="0"/>
          <a:ext cx="0" cy="0"/>
          <a:chOff x="0" y="0"/>
          <a:chExt cx="0" cy="0"/>
        </a:xfrm>
      </p:grpSpPr>
      <p:sp>
        <p:nvSpPr>
          <p:cNvPr id="2" name="Text 0"/>
          <p:cNvSpPr/>
          <p:nvPr/>
        </p:nvSpPr>
        <p:spPr>
          <a:xfrm>
            <a:off x="952500" y="952500"/>
            <a:ext cx="18021300" cy="409575"/>
          </a:xfrm>
          <a:prstGeom prst="rect">
            <a:avLst/>
          </a:prstGeom>
          <a:noFill/>
          <a:ln/>
        </p:spPr>
        <p:txBody>
          <a:bodyPr wrap="square" lIns="25400" tIns="25400" rIns="25400" bIns="25400" rtlCol="0" anchor="t">
            <a:normAutofit/>
          </a:bodyPr>
          <a:lstStyle/>
          <a:p>
            <a:pPr algn="l" indent="0" marL="0">
              <a:lnSpc>
                <a:spcPct val="125806"/>
              </a:lnSpc>
              <a:buNone/>
            </a:pPr>
            <a:r>
              <a:rPr lang="en-US" sz="1950" b="1" spc="312" kern="0" dirty="0">
                <a:solidFill>
                  <a:srgbClr val="76B900"/>
                </a:solidFill>
                <a:latin typeface="Arial" pitchFamily="34" charset="0"/>
                <a:ea typeface="Arial" pitchFamily="34" charset="-122"/>
                <a:cs typeface="Arial" pitchFamily="34" charset="-120"/>
              </a:rPr>
              <a:t>12 · PHẠM VI</a:t>
            </a:r>
            <a:endParaRPr lang="en-US" sz="1950" dirty="0"/>
          </a:p>
        </p:txBody>
      </p:sp>
      <p:sp>
        <p:nvSpPr>
          <p:cNvPr id="3" name="Text 1"/>
          <p:cNvSpPr/>
          <p:nvPr/>
        </p:nvSpPr>
        <p:spPr>
          <a:xfrm>
            <a:off x="952500" y="1476375"/>
            <a:ext cx="18021300" cy="708571"/>
          </a:xfrm>
          <a:prstGeom prst="rect">
            <a:avLst/>
          </a:prstGeom>
          <a:noFill/>
          <a:ln/>
        </p:spPr>
        <p:txBody>
          <a:bodyPr wrap="square" lIns="25400" tIns="25400" rIns="25400" bIns="25400" rtlCol="0" anchor="t">
            <a:normAutofit/>
          </a:bodyPr>
          <a:lstStyle/>
          <a:p>
            <a:pPr algn="l" indent="0" marL="0">
              <a:lnSpc>
                <a:spcPct val="95135"/>
              </a:lnSpc>
              <a:buNone/>
            </a:pPr>
            <a:r>
              <a:rPr lang="en-US" sz="4800" b="1" dirty="0">
                <a:solidFill>
                  <a:srgbClr val="FFFFFF"/>
                </a:solidFill>
                <a:latin typeface="Arial" pitchFamily="34" charset="0"/>
                <a:ea typeface="Arial" pitchFamily="34" charset="-122"/>
                <a:cs typeface="Arial" pitchFamily="34" charset="-120"/>
              </a:rPr>
              <a:t>Ba thứ chủ động để lại sau 6 tuần</a:t>
            </a:r>
            <a:endParaRPr lang="en-US" sz="4800" dirty="0"/>
          </a:p>
        </p:txBody>
      </p:sp>
      <p:sp>
        <p:nvSpPr>
          <p:cNvPr id="4" name="Shape 2"/>
          <p:cNvSpPr/>
          <p:nvPr/>
        </p:nvSpPr>
        <p:spPr>
          <a:xfrm>
            <a:off x="952500" y="2604046"/>
            <a:ext cx="5283101" cy="6049417"/>
          </a:xfrm>
          <a:prstGeom prst="roundRect">
            <a:avLst>
              <a:gd name="adj" fmla="val 2164"/>
            </a:avLst>
          </a:prstGeom>
          <a:solidFill>
            <a:srgbClr val="16171A"/>
          </a:solidFill>
          <a:ln w="9525">
            <a:solidFill>
              <a:srgbClr val="2E3033"/>
            </a:solidFill>
            <a:prstDash val="solid"/>
          </a:ln>
        </p:spPr>
      </p:sp>
      <p:sp>
        <p:nvSpPr>
          <p:cNvPr id="5" name="Text 3"/>
          <p:cNvSpPr/>
          <p:nvPr/>
        </p:nvSpPr>
        <p:spPr>
          <a:xfrm>
            <a:off x="1381125" y="3032671"/>
            <a:ext cx="4868436" cy="472380"/>
          </a:xfrm>
          <a:prstGeom prst="rect">
            <a:avLst/>
          </a:prstGeom>
          <a:noFill/>
          <a:ln/>
        </p:spPr>
        <p:txBody>
          <a:bodyPr wrap="square" lIns="25400" tIns="25400" rIns="25400" bIns="25400" rtlCol="0" anchor="t">
            <a:normAutofit/>
          </a:bodyPr>
          <a:lstStyle/>
          <a:p>
            <a:pPr algn="l" indent="0" marL="0">
              <a:lnSpc>
                <a:spcPct val="106047"/>
              </a:lnSpc>
              <a:buNone/>
            </a:pPr>
            <a:r>
              <a:rPr lang="en-US" sz="2850" b="1" dirty="0">
                <a:solidFill>
                  <a:srgbClr val="FFFFFF"/>
                </a:solidFill>
                <a:latin typeface="Arial" pitchFamily="34" charset="0"/>
                <a:ea typeface="Arial" pitchFamily="34" charset="-122"/>
                <a:cs typeface="Arial" pitchFamily="34" charset="-120"/>
              </a:rPr>
              <a:t>OpenLane2 PnR</a:t>
            </a:r>
            <a:endParaRPr lang="en-US" sz="2850" dirty="0"/>
          </a:p>
        </p:txBody>
      </p:sp>
      <p:sp>
        <p:nvSpPr>
          <p:cNvPr id="6" name="Text 4"/>
          <p:cNvSpPr/>
          <p:nvPr/>
        </p:nvSpPr>
        <p:spPr>
          <a:xfrm>
            <a:off x="1381125" y="3676501"/>
            <a:ext cx="4558626" cy="1695450"/>
          </a:xfrm>
          <a:prstGeom prst="rect">
            <a:avLst/>
          </a:prstGeom>
          <a:noFill/>
          <a:ln/>
        </p:spPr>
        <p:txBody>
          <a:bodyPr wrap="square" lIns="25400" tIns="25400" rIns="25400" bIns="25400" rtlCol="0" anchor="t">
            <a:normAutofit/>
          </a:bodyPr>
          <a:lstStyle/>
          <a:p>
            <a:pPr algn="l" indent="0" marL="0">
              <a:lnSpc>
                <a:spcPct val="127941"/>
              </a:lnSpc>
              <a:buNone/>
            </a:pPr>
            <a:r>
              <a:rPr lang="en-US" sz="2250" dirty="0">
                <a:solidFill>
                  <a:srgbClr val="B6B8BD"/>
                </a:solidFill>
                <a:latin typeface="Arial" pitchFamily="34" charset="0"/>
                <a:ea typeface="Arial" pitchFamily="34" charset="-122"/>
                <a:cs typeface="Arial" pitchFamily="34" charset="-120"/>
              </a:rPr>
              <a:t>Synthesis Yosys là đủ để chứng minh RTL synthesis-ready. PnR đầy đủ không thêm thông tin gì cho mục tiêu 6 tuần.</a:t>
            </a:r>
            <a:endParaRPr lang="en-US" sz="2250" dirty="0"/>
          </a:p>
        </p:txBody>
      </p:sp>
      <p:sp>
        <p:nvSpPr>
          <p:cNvPr id="7" name="Shape 5"/>
          <p:cNvSpPr/>
          <p:nvPr/>
        </p:nvSpPr>
        <p:spPr>
          <a:xfrm>
            <a:off x="6502301" y="2604046"/>
            <a:ext cx="5283250" cy="6049417"/>
          </a:xfrm>
          <a:prstGeom prst="roundRect">
            <a:avLst>
              <a:gd name="adj" fmla="val 2163"/>
            </a:avLst>
          </a:prstGeom>
          <a:solidFill>
            <a:srgbClr val="16171A"/>
          </a:solidFill>
          <a:ln w="9525">
            <a:solidFill>
              <a:srgbClr val="2E3033"/>
            </a:solidFill>
            <a:prstDash val="solid"/>
          </a:ln>
        </p:spPr>
      </p:sp>
      <p:sp>
        <p:nvSpPr>
          <p:cNvPr id="8" name="Text 6"/>
          <p:cNvSpPr/>
          <p:nvPr/>
        </p:nvSpPr>
        <p:spPr>
          <a:xfrm>
            <a:off x="6930926" y="3032671"/>
            <a:ext cx="4868600" cy="472380"/>
          </a:xfrm>
          <a:prstGeom prst="rect">
            <a:avLst/>
          </a:prstGeom>
          <a:noFill/>
          <a:ln/>
        </p:spPr>
        <p:txBody>
          <a:bodyPr wrap="square" lIns="25400" tIns="25400" rIns="25400" bIns="25400" rtlCol="0" anchor="t">
            <a:normAutofit/>
          </a:bodyPr>
          <a:lstStyle/>
          <a:p>
            <a:pPr algn="l" indent="0" marL="0">
              <a:lnSpc>
                <a:spcPct val="106047"/>
              </a:lnSpc>
              <a:buNone/>
            </a:pPr>
            <a:r>
              <a:rPr lang="en-US" sz="2850" b="1" dirty="0">
                <a:solidFill>
                  <a:srgbClr val="FFFFFF"/>
                </a:solidFill>
                <a:latin typeface="Arial" pitchFamily="34" charset="0"/>
                <a:ea typeface="Arial" pitchFamily="34" charset="-122"/>
                <a:cs typeface="Arial" pitchFamily="34" charset="-120"/>
              </a:rPr>
              <a:t>Reverse traceability</a:t>
            </a:r>
            <a:endParaRPr lang="en-US" sz="2850" dirty="0"/>
          </a:p>
        </p:txBody>
      </p:sp>
      <p:sp>
        <p:nvSpPr>
          <p:cNvPr id="9" name="Text 7"/>
          <p:cNvSpPr/>
          <p:nvPr/>
        </p:nvSpPr>
        <p:spPr>
          <a:xfrm>
            <a:off x="6930926" y="3676501"/>
            <a:ext cx="4558780" cy="1281113"/>
          </a:xfrm>
          <a:prstGeom prst="rect">
            <a:avLst/>
          </a:prstGeom>
          <a:noFill/>
          <a:ln/>
        </p:spPr>
        <p:txBody>
          <a:bodyPr wrap="square" lIns="25400" tIns="25400" rIns="25400" bIns="25400" rtlCol="0" anchor="t">
            <a:normAutofit/>
          </a:bodyPr>
          <a:lstStyle/>
          <a:p>
            <a:pPr algn="l" indent="0" marL="0">
              <a:lnSpc>
                <a:spcPct val="127941"/>
              </a:lnSpc>
              <a:buNone/>
            </a:pPr>
            <a:r>
              <a:rPr lang="en-US" sz="2250" dirty="0">
                <a:solidFill>
                  <a:srgbClr val="B6B8BD"/>
                </a:solidFill>
                <a:latin typeface="Arial" pitchFamily="34" charset="0"/>
                <a:ea typeface="Arial" pitchFamily="34" charset="-122"/>
                <a:cs typeface="Arial" pitchFamily="34" charset="-120"/>
              </a:rPr>
              <a:t>Có giá trị nhưng là lớp kiểm tra thứ hai. Chỉ hữu ích khi trace xuôi đã ổn định.</a:t>
            </a:r>
            <a:endParaRPr lang="en-US" sz="2250" dirty="0"/>
          </a:p>
        </p:txBody>
      </p:sp>
      <p:sp>
        <p:nvSpPr>
          <p:cNvPr id="10" name="Shape 8"/>
          <p:cNvSpPr/>
          <p:nvPr/>
        </p:nvSpPr>
        <p:spPr>
          <a:xfrm>
            <a:off x="12052250" y="2604046"/>
            <a:ext cx="5283250" cy="6049417"/>
          </a:xfrm>
          <a:prstGeom prst="roundRect">
            <a:avLst>
              <a:gd name="adj" fmla="val 2163"/>
            </a:avLst>
          </a:prstGeom>
          <a:solidFill>
            <a:srgbClr val="16171A"/>
          </a:solidFill>
          <a:ln w="9525">
            <a:solidFill>
              <a:srgbClr val="2E3033"/>
            </a:solidFill>
            <a:prstDash val="solid"/>
          </a:ln>
        </p:spPr>
      </p:sp>
      <p:sp>
        <p:nvSpPr>
          <p:cNvPr id="11" name="Text 9"/>
          <p:cNvSpPr/>
          <p:nvPr/>
        </p:nvSpPr>
        <p:spPr>
          <a:xfrm>
            <a:off x="12480875" y="3032671"/>
            <a:ext cx="4868600" cy="472380"/>
          </a:xfrm>
          <a:prstGeom prst="rect">
            <a:avLst/>
          </a:prstGeom>
          <a:noFill/>
          <a:ln/>
        </p:spPr>
        <p:txBody>
          <a:bodyPr wrap="square" lIns="25400" tIns="25400" rIns="25400" bIns="25400" rtlCol="0" anchor="t">
            <a:normAutofit/>
          </a:bodyPr>
          <a:lstStyle/>
          <a:p>
            <a:pPr algn="l" indent="0" marL="0">
              <a:lnSpc>
                <a:spcPct val="106047"/>
              </a:lnSpc>
              <a:buNone/>
            </a:pPr>
            <a:r>
              <a:rPr lang="en-US" sz="2850" b="1" dirty="0">
                <a:solidFill>
                  <a:srgbClr val="FFFFFF"/>
                </a:solidFill>
                <a:latin typeface="Arial" pitchFamily="34" charset="0"/>
                <a:ea typeface="Arial" pitchFamily="34" charset="-122"/>
                <a:cs typeface="Arial" pitchFamily="34" charset="-120"/>
              </a:rPr>
              <a:t>Dual generation</a:t>
            </a:r>
            <a:endParaRPr lang="en-US" sz="2850" dirty="0"/>
          </a:p>
        </p:txBody>
      </p:sp>
      <p:sp>
        <p:nvSpPr>
          <p:cNvPr id="12" name="Text 10"/>
          <p:cNvSpPr/>
          <p:nvPr/>
        </p:nvSpPr>
        <p:spPr>
          <a:xfrm>
            <a:off x="12480875" y="3676501"/>
            <a:ext cx="4558780" cy="1281113"/>
          </a:xfrm>
          <a:prstGeom prst="rect">
            <a:avLst/>
          </a:prstGeom>
          <a:noFill/>
          <a:ln/>
        </p:spPr>
        <p:txBody>
          <a:bodyPr wrap="square" lIns="25400" tIns="25400" rIns="25400" bIns="25400" rtlCol="0" anchor="t">
            <a:normAutofit/>
          </a:bodyPr>
          <a:lstStyle/>
          <a:p>
            <a:pPr algn="l" indent="0" marL="0">
              <a:lnSpc>
                <a:spcPct val="127941"/>
              </a:lnSpc>
              <a:buNone/>
            </a:pPr>
            <a:r>
              <a:rPr lang="en-US" sz="2250" dirty="0">
                <a:solidFill>
                  <a:srgbClr val="B6B8BD"/>
                </a:solidFill>
                <a:latin typeface="Arial" pitchFamily="34" charset="0"/>
                <a:ea typeface="Arial" pitchFamily="34" charset="-122"/>
                <a:cs typeface="Arial" pitchFamily="34" charset="-120"/>
              </a:rPr>
              <a:t>Gấp đôi chi phí sinh và thời gian review. Gate 1 và Gate 3 đã chặn phần lớn hallucination.</a:t>
            </a:r>
            <a:endParaRPr lang="en-US" sz="2250" dirty="0"/>
          </a:p>
        </p:txBody>
      </p:sp>
      <p:sp>
        <p:nvSpPr>
          <p:cNvPr id="13" name="Text 11"/>
          <p:cNvSpPr/>
          <p:nvPr/>
        </p:nvSpPr>
        <p:spPr>
          <a:xfrm>
            <a:off x="952500" y="9110663"/>
            <a:ext cx="18021300" cy="452438"/>
          </a:xfrm>
          <a:prstGeom prst="rect">
            <a:avLst/>
          </a:prstGeom>
          <a:noFill/>
          <a:ln/>
        </p:spPr>
        <p:txBody>
          <a:bodyPr wrap="square" lIns="25400" tIns="25400" rIns="25400" bIns="25400" rtlCol="0" anchor="t">
            <a:normAutofit/>
          </a:bodyPr>
          <a:lstStyle/>
          <a:p>
            <a:pPr algn="l" indent="0" marL="0">
              <a:lnSpc>
                <a:spcPct val="127941"/>
              </a:lnSpc>
              <a:buNone/>
            </a:pPr>
            <a:r>
              <a:rPr lang="en-US" sz="2250" dirty="0">
                <a:solidFill>
                  <a:srgbClr val="8A8D93"/>
                </a:solidFill>
                <a:latin typeface="Arial" pitchFamily="34" charset="0"/>
                <a:ea typeface="Arial" pitchFamily="34" charset="-122"/>
                <a:cs typeface="Arial" pitchFamily="34" charset="-120"/>
              </a:rPr>
              <a:t>Ba hạng mục này vẫn nằm trong kiến trúc, chỉ không nằm trong lịch 6 tuần.</a:t>
            </a:r>
            <a:endParaRPr lang="en-US" sz="2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214"/>
        </a:solidFill>
      </p:bgPr>
    </p:bg>
    <p:spTree>
      <p:nvGrpSpPr>
        <p:cNvPr id="1" name=""/>
        <p:cNvGrpSpPr/>
        <p:nvPr/>
      </p:nvGrpSpPr>
      <p:grpSpPr>
        <a:xfrm>
          <a:off x="0" y="0"/>
          <a:ext cx="0" cy="0"/>
          <a:chOff x="0" y="0"/>
          <a:chExt cx="0" cy="0"/>
        </a:xfrm>
      </p:grpSpPr>
      <p:sp>
        <p:nvSpPr>
          <p:cNvPr id="2" name="Text 0"/>
          <p:cNvSpPr/>
          <p:nvPr/>
        </p:nvSpPr>
        <p:spPr>
          <a:xfrm>
            <a:off x="952500" y="952500"/>
            <a:ext cx="18021300" cy="409575"/>
          </a:xfrm>
          <a:prstGeom prst="rect">
            <a:avLst/>
          </a:prstGeom>
          <a:noFill/>
          <a:ln/>
        </p:spPr>
        <p:txBody>
          <a:bodyPr wrap="square" lIns="25400" tIns="25400" rIns="25400" bIns="25400" rtlCol="0" anchor="t">
            <a:normAutofit/>
          </a:bodyPr>
          <a:lstStyle/>
          <a:p>
            <a:pPr algn="l" indent="0" marL="0">
              <a:lnSpc>
                <a:spcPct val="125806"/>
              </a:lnSpc>
              <a:buNone/>
            </a:pPr>
            <a:r>
              <a:rPr lang="en-US" sz="1950" b="1" spc="312" kern="0" dirty="0">
                <a:solidFill>
                  <a:srgbClr val="76B900"/>
                </a:solidFill>
                <a:latin typeface="Arial" pitchFamily="34" charset="0"/>
                <a:ea typeface="Arial" pitchFamily="34" charset="-122"/>
                <a:cs typeface="Arial" pitchFamily="34" charset="-120"/>
              </a:rPr>
              <a:t>13 · RỦI RO</a:t>
            </a:r>
            <a:endParaRPr lang="en-US" sz="1950" dirty="0"/>
          </a:p>
        </p:txBody>
      </p:sp>
      <p:sp>
        <p:nvSpPr>
          <p:cNvPr id="3" name="Text 1"/>
          <p:cNvSpPr/>
          <p:nvPr/>
        </p:nvSpPr>
        <p:spPr>
          <a:xfrm>
            <a:off x="952500" y="1476375"/>
            <a:ext cx="18021300" cy="708571"/>
          </a:xfrm>
          <a:prstGeom prst="rect">
            <a:avLst/>
          </a:prstGeom>
          <a:noFill/>
          <a:ln/>
        </p:spPr>
        <p:txBody>
          <a:bodyPr wrap="square" lIns="25400" tIns="25400" rIns="25400" bIns="25400" rtlCol="0" anchor="t">
            <a:normAutofit/>
          </a:bodyPr>
          <a:lstStyle/>
          <a:p>
            <a:pPr algn="l" indent="0" marL="0">
              <a:lnSpc>
                <a:spcPct val="95135"/>
              </a:lnSpc>
              <a:buNone/>
            </a:pPr>
            <a:r>
              <a:rPr lang="en-US" sz="4800" b="1" dirty="0">
                <a:solidFill>
                  <a:srgbClr val="FFFFFF"/>
                </a:solidFill>
                <a:latin typeface="Arial" pitchFamily="34" charset="0"/>
                <a:ea typeface="Arial" pitchFamily="34" charset="-122"/>
                <a:cs typeface="Arial" pitchFamily="34" charset="-120"/>
              </a:rPr>
              <a:t>Spec ngôn ngữ tự nhiên quá mơ hồ cho protocol AXI</a:t>
            </a:r>
            <a:endParaRPr lang="en-US" sz="4800" dirty="0"/>
          </a:p>
        </p:txBody>
      </p:sp>
      <p:sp>
        <p:nvSpPr>
          <p:cNvPr id="4" name="Text 2"/>
          <p:cNvSpPr/>
          <p:nvPr/>
        </p:nvSpPr>
        <p:spPr>
          <a:xfrm>
            <a:off x="952500" y="2604046"/>
            <a:ext cx="14716125" cy="977205"/>
          </a:xfrm>
          <a:prstGeom prst="rect">
            <a:avLst/>
          </a:prstGeom>
          <a:noFill/>
          <a:ln/>
        </p:spPr>
        <p:txBody>
          <a:bodyPr wrap="square" lIns="25400" tIns="25400" rIns="25400" bIns="25400" rtlCol="0" anchor="t">
            <a:normAutofit/>
          </a:bodyPr>
          <a:lstStyle/>
          <a:p>
            <a:pPr algn="l" indent="0" marL="0">
              <a:lnSpc>
                <a:spcPct val="126410"/>
              </a:lnSpc>
              <a:buNone/>
            </a:pPr>
            <a:r>
              <a:rPr lang="en-US" sz="2550" dirty="0">
                <a:solidFill>
                  <a:srgbClr val="E4E5E7"/>
                </a:solidFill>
                <a:latin typeface="Arial" pitchFamily="34" charset="0"/>
                <a:ea typeface="Arial" pitchFamily="34" charset="-122"/>
                <a:cs typeface="Arial" pitchFamily="34" charset="-120"/>
              </a:rPr>
              <a:t>AXI có hàng trăm ràng buộc handshake, ordering và burst mà không ai viết hết ra trong một đoạn văn. LLM sẽ tự lấp chỗ trống — và đó chính là chỗ hallucination sinh ra.</a:t>
            </a:r>
            <a:endParaRPr lang="en-US" sz="2550" dirty="0"/>
          </a:p>
        </p:txBody>
      </p:sp>
      <p:sp>
        <p:nvSpPr>
          <p:cNvPr id="5" name="Shape 3"/>
          <p:cNvSpPr/>
          <p:nvPr/>
        </p:nvSpPr>
        <p:spPr>
          <a:xfrm>
            <a:off x="952500" y="3847951"/>
            <a:ext cx="8039100" cy="5677049"/>
          </a:xfrm>
          <a:prstGeom prst="roundRect">
            <a:avLst>
              <a:gd name="adj" fmla="val 2013"/>
            </a:avLst>
          </a:prstGeom>
          <a:solidFill>
            <a:srgbClr val="1C1E21"/>
          </a:solidFill>
          <a:ln/>
        </p:spPr>
      </p:sp>
      <p:sp>
        <p:nvSpPr>
          <p:cNvPr id="6" name="Shape 4"/>
          <p:cNvSpPr/>
          <p:nvPr/>
        </p:nvSpPr>
        <p:spPr>
          <a:xfrm>
            <a:off x="952500" y="9515475"/>
            <a:ext cx="8039100" cy="9525"/>
          </a:xfrm>
          <a:prstGeom prst="rect">
            <a:avLst/>
          </a:prstGeom>
          <a:solidFill>
            <a:srgbClr val="2E3033"/>
          </a:solidFill>
          <a:ln/>
        </p:spPr>
      </p:sp>
      <p:sp>
        <p:nvSpPr>
          <p:cNvPr id="7" name="Shape 5"/>
          <p:cNvSpPr/>
          <p:nvPr/>
        </p:nvSpPr>
        <p:spPr>
          <a:xfrm>
            <a:off x="952500" y="3847951"/>
            <a:ext cx="8039100" cy="38100"/>
          </a:xfrm>
          <a:prstGeom prst="rect">
            <a:avLst/>
          </a:prstGeom>
          <a:solidFill>
            <a:srgbClr val="76B900"/>
          </a:solidFill>
          <a:ln/>
        </p:spPr>
      </p:sp>
      <p:sp>
        <p:nvSpPr>
          <p:cNvPr id="8" name="Shape 6"/>
          <p:cNvSpPr/>
          <p:nvPr/>
        </p:nvSpPr>
        <p:spPr>
          <a:xfrm>
            <a:off x="952500" y="3847951"/>
            <a:ext cx="9525" cy="5677049"/>
          </a:xfrm>
          <a:prstGeom prst="rect">
            <a:avLst/>
          </a:prstGeom>
          <a:solidFill>
            <a:srgbClr val="2E3033"/>
          </a:solidFill>
          <a:ln/>
        </p:spPr>
      </p:sp>
      <p:sp>
        <p:nvSpPr>
          <p:cNvPr id="9" name="Shape 7"/>
          <p:cNvSpPr/>
          <p:nvPr/>
        </p:nvSpPr>
        <p:spPr>
          <a:xfrm>
            <a:off x="8982075" y="3847951"/>
            <a:ext cx="9525" cy="5677049"/>
          </a:xfrm>
          <a:prstGeom prst="rect">
            <a:avLst/>
          </a:prstGeom>
          <a:solidFill>
            <a:srgbClr val="2E3033"/>
          </a:solidFill>
          <a:ln/>
        </p:spPr>
      </p:sp>
      <p:sp>
        <p:nvSpPr>
          <p:cNvPr id="10" name="Text 8"/>
          <p:cNvSpPr/>
          <p:nvPr/>
        </p:nvSpPr>
        <p:spPr>
          <a:xfrm>
            <a:off x="1381125" y="4305151"/>
            <a:ext cx="7900035" cy="409575"/>
          </a:xfrm>
          <a:prstGeom prst="rect">
            <a:avLst/>
          </a:prstGeom>
          <a:noFill/>
          <a:ln/>
        </p:spPr>
        <p:txBody>
          <a:bodyPr wrap="square" lIns="25400" tIns="25400" rIns="25400" bIns="25400" rtlCol="0" anchor="t">
            <a:normAutofit/>
          </a:bodyPr>
          <a:lstStyle/>
          <a:p>
            <a:pPr algn="l" indent="0" marL="0">
              <a:lnSpc>
                <a:spcPct val="125806"/>
              </a:lnSpc>
              <a:buNone/>
            </a:pPr>
            <a:r>
              <a:rPr lang="en-US" sz="1950" b="1" spc="195" kern="0" dirty="0">
                <a:solidFill>
                  <a:srgbClr val="8A8D93"/>
                </a:solidFill>
                <a:latin typeface="Arial" pitchFamily="34" charset="0"/>
                <a:ea typeface="Arial" pitchFamily="34" charset="-122"/>
                <a:cs typeface="Arial" pitchFamily="34" charset="-120"/>
              </a:rPr>
              <a:t>BIỆN PHÁP 1</a:t>
            </a:r>
            <a:endParaRPr lang="en-US" sz="1950" dirty="0"/>
          </a:p>
        </p:txBody>
      </p:sp>
      <p:sp>
        <p:nvSpPr>
          <p:cNvPr id="11" name="Text 9"/>
          <p:cNvSpPr/>
          <p:nvPr/>
        </p:nvSpPr>
        <p:spPr>
          <a:xfrm>
            <a:off x="1381125" y="4867126"/>
            <a:ext cx="7900035" cy="472380"/>
          </a:xfrm>
          <a:prstGeom prst="rect">
            <a:avLst/>
          </a:prstGeom>
          <a:noFill/>
          <a:ln/>
        </p:spPr>
        <p:txBody>
          <a:bodyPr wrap="square" lIns="25400" tIns="25400" rIns="25400" bIns="25400" rtlCol="0" anchor="t">
            <a:normAutofit/>
          </a:bodyPr>
          <a:lstStyle/>
          <a:p>
            <a:pPr algn="l" indent="0" marL="0">
              <a:lnSpc>
                <a:spcPct val="106047"/>
              </a:lnSpc>
              <a:buNone/>
            </a:pPr>
            <a:r>
              <a:rPr lang="en-US" sz="2850" b="1" dirty="0">
                <a:solidFill>
                  <a:srgbClr val="FFFFFF"/>
                </a:solidFill>
                <a:latin typeface="Arial" pitchFamily="34" charset="0"/>
                <a:ea typeface="Arial" pitchFamily="34" charset="-122"/>
                <a:cs typeface="Arial" pitchFamily="34" charset="-120"/>
              </a:rPr>
              <a:t>Ambiguity cao thì hỏi lại</a:t>
            </a:r>
            <a:endParaRPr lang="en-US" sz="2850" dirty="0"/>
          </a:p>
        </p:txBody>
      </p:sp>
      <p:sp>
        <p:nvSpPr>
          <p:cNvPr id="12" name="Text 10"/>
          <p:cNvSpPr/>
          <p:nvPr/>
        </p:nvSpPr>
        <p:spPr>
          <a:xfrm>
            <a:off x="1381125" y="5491907"/>
            <a:ext cx="7397306" cy="1281113"/>
          </a:xfrm>
          <a:prstGeom prst="rect">
            <a:avLst/>
          </a:prstGeom>
          <a:noFill/>
          <a:ln/>
        </p:spPr>
        <p:txBody>
          <a:bodyPr wrap="square" lIns="25400" tIns="25400" rIns="25400" bIns="25400" rtlCol="0" anchor="t">
            <a:normAutofit/>
          </a:bodyPr>
          <a:lstStyle/>
          <a:p>
            <a:pPr algn="l" indent="0" marL="0">
              <a:lnSpc>
                <a:spcPct val="127941"/>
              </a:lnSpc>
              <a:buNone/>
            </a:pPr>
            <a:r>
              <a:rPr lang="en-US" sz="2250" dirty="0">
                <a:solidFill>
                  <a:srgbClr val="B6B8BD"/>
                </a:solidFill>
                <a:latin typeface="Arial" pitchFamily="34" charset="0"/>
                <a:ea typeface="Arial" pitchFamily="34" charset="-122"/>
                <a:cs typeface="Arial" pitchFamily="34" charset="-120"/>
              </a:rPr>
              <a:t>Requirement có điểm mơ hồ vượt ngưỡng thì LLM đặt câu hỏi cho người dùng thay vì tự đoán. Không có câu trả lời thì không sinh RTL cho requirement đó.</a:t>
            </a:r>
            <a:endParaRPr lang="en-US" sz="2250" dirty="0"/>
          </a:p>
        </p:txBody>
      </p:sp>
      <p:sp>
        <p:nvSpPr>
          <p:cNvPr id="13" name="Shape 11"/>
          <p:cNvSpPr/>
          <p:nvPr/>
        </p:nvSpPr>
        <p:spPr>
          <a:xfrm>
            <a:off x="9296400" y="3847951"/>
            <a:ext cx="8039100" cy="5677049"/>
          </a:xfrm>
          <a:prstGeom prst="roundRect">
            <a:avLst>
              <a:gd name="adj" fmla="val 2013"/>
            </a:avLst>
          </a:prstGeom>
          <a:solidFill>
            <a:srgbClr val="1C1E21"/>
          </a:solidFill>
          <a:ln/>
        </p:spPr>
      </p:sp>
      <p:sp>
        <p:nvSpPr>
          <p:cNvPr id="14" name="Shape 12"/>
          <p:cNvSpPr/>
          <p:nvPr/>
        </p:nvSpPr>
        <p:spPr>
          <a:xfrm>
            <a:off x="9296400" y="9515475"/>
            <a:ext cx="8039100" cy="9525"/>
          </a:xfrm>
          <a:prstGeom prst="rect">
            <a:avLst/>
          </a:prstGeom>
          <a:solidFill>
            <a:srgbClr val="2E3033"/>
          </a:solidFill>
          <a:ln/>
        </p:spPr>
      </p:sp>
      <p:sp>
        <p:nvSpPr>
          <p:cNvPr id="15" name="Shape 13"/>
          <p:cNvSpPr/>
          <p:nvPr/>
        </p:nvSpPr>
        <p:spPr>
          <a:xfrm>
            <a:off x="9296400" y="3847951"/>
            <a:ext cx="8039100" cy="38100"/>
          </a:xfrm>
          <a:prstGeom prst="rect">
            <a:avLst/>
          </a:prstGeom>
          <a:solidFill>
            <a:srgbClr val="76B900"/>
          </a:solidFill>
          <a:ln/>
        </p:spPr>
      </p:sp>
      <p:sp>
        <p:nvSpPr>
          <p:cNvPr id="16" name="Shape 14"/>
          <p:cNvSpPr/>
          <p:nvPr/>
        </p:nvSpPr>
        <p:spPr>
          <a:xfrm>
            <a:off x="9296400" y="3847951"/>
            <a:ext cx="9525" cy="5677049"/>
          </a:xfrm>
          <a:prstGeom prst="rect">
            <a:avLst/>
          </a:prstGeom>
          <a:solidFill>
            <a:srgbClr val="2E3033"/>
          </a:solidFill>
          <a:ln/>
        </p:spPr>
      </p:sp>
      <p:sp>
        <p:nvSpPr>
          <p:cNvPr id="17" name="Shape 15"/>
          <p:cNvSpPr/>
          <p:nvPr/>
        </p:nvSpPr>
        <p:spPr>
          <a:xfrm>
            <a:off x="17325975" y="3847951"/>
            <a:ext cx="9525" cy="5677049"/>
          </a:xfrm>
          <a:prstGeom prst="rect">
            <a:avLst/>
          </a:prstGeom>
          <a:solidFill>
            <a:srgbClr val="2E3033"/>
          </a:solidFill>
          <a:ln/>
        </p:spPr>
      </p:sp>
      <p:sp>
        <p:nvSpPr>
          <p:cNvPr id="18" name="Text 16"/>
          <p:cNvSpPr/>
          <p:nvPr/>
        </p:nvSpPr>
        <p:spPr>
          <a:xfrm>
            <a:off x="9725025" y="4305151"/>
            <a:ext cx="7900035" cy="409575"/>
          </a:xfrm>
          <a:prstGeom prst="rect">
            <a:avLst/>
          </a:prstGeom>
          <a:noFill/>
          <a:ln/>
        </p:spPr>
        <p:txBody>
          <a:bodyPr wrap="square" lIns="25400" tIns="25400" rIns="25400" bIns="25400" rtlCol="0" anchor="t">
            <a:normAutofit/>
          </a:bodyPr>
          <a:lstStyle/>
          <a:p>
            <a:pPr algn="l" indent="0" marL="0">
              <a:lnSpc>
                <a:spcPct val="125806"/>
              </a:lnSpc>
              <a:buNone/>
            </a:pPr>
            <a:r>
              <a:rPr lang="en-US" sz="1950" b="1" spc="195" kern="0" dirty="0">
                <a:solidFill>
                  <a:srgbClr val="8A8D93"/>
                </a:solidFill>
                <a:latin typeface="Arial" pitchFamily="34" charset="0"/>
                <a:ea typeface="Arial" pitchFamily="34" charset="-122"/>
                <a:cs typeface="Arial" pitchFamily="34" charset="-120"/>
              </a:rPr>
              <a:t>BIỆN PHÁP 2</a:t>
            </a:r>
            <a:endParaRPr lang="en-US" sz="1950" dirty="0"/>
          </a:p>
        </p:txBody>
      </p:sp>
      <p:sp>
        <p:nvSpPr>
          <p:cNvPr id="19" name="Text 17"/>
          <p:cNvSpPr/>
          <p:nvPr/>
        </p:nvSpPr>
        <p:spPr>
          <a:xfrm>
            <a:off x="9725025" y="4867126"/>
            <a:ext cx="7900035" cy="472380"/>
          </a:xfrm>
          <a:prstGeom prst="rect">
            <a:avLst/>
          </a:prstGeom>
          <a:noFill/>
          <a:ln/>
        </p:spPr>
        <p:txBody>
          <a:bodyPr wrap="square" lIns="25400" tIns="25400" rIns="25400" bIns="25400" rtlCol="0" anchor="t">
            <a:normAutofit/>
          </a:bodyPr>
          <a:lstStyle/>
          <a:p>
            <a:pPr algn="l" indent="0" marL="0">
              <a:lnSpc>
                <a:spcPct val="106047"/>
              </a:lnSpc>
              <a:buNone/>
            </a:pPr>
            <a:r>
              <a:rPr lang="en-US" sz="2850" b="1" dirty="0">
                <a:solidFill>
                  <a:srgbClr val="FFFFFF"/>
                </a:solidFill>
                <a:latin typeface="Arial" pitchFamily="34" charset="0"/>
                <a:ea typeface="Arial" pitchFamily="34" charset="-122"/>
                <a:cs typeface="Arial" pitchFamily="34" charset="-120"/>
              </a:rPr>
              <a:t>Đính kèm spec AMBA gốc</a:t>
            </a:r>
            <a:endParaRPr lang="en-US" sz="2850" dirty="0"/>
          </a:p>
        </p:txBody>
      </p:sp>
      <p:sp>
        <p:nvSpPr>
          <p:cNvPr id="20" name="Text 18"/>
          <p:cNvSpPr/>
          <p:nvPr/>
        </p:nvSpPr>
        <p:spPr>
          <a:xfrm>
            <a:off x="9725025" y="5491907"/>
            <a:ext cx="7397306" cy="1281113"/>
          </a:xfrm>
          <a:prstGeom prst="rect">
            <a:avLst/>
          </a:prstGeom>
          <a:noFill/>
          <a:ln/>
        </p:spPr>
        <p:txBody>
          <a:bodyPr wrap="square" lIns="25400" tIns="25400" rIns="25400" bIns="25400" rtlCol="0" anchor="t">
            <a:normAutofit/>
          </a:bodyPr>
          <a:lstStyle/>
          <a:p>
            <a:pPr algn="l" indent="0" marL="0">
              <a:lnSpc>
                <a:spcPct val="127941"/>
              </a:lnSpc>
              <a:buNone/>
            </a:pPr>
            <a:r>
              <a:rPr lang="en-US" sz="2250" dirty="0">
                <a:solidFill>
                  <a:srgbClr val="B6B8BD"/>
                </a:solidFill>
                <a:latin typeface="Arial" pitchFamily="34" charset="0"/>
                <a:ea typeface="Arial" pitchFamily="34" charset="-122"/>
                <a:cs typeface="Arial" pitchFamily="34" charset="-120"/>
              </a:rPr>
              <a:t>Cho phép gắn trích đoạn spec AMBA làm ground truth. Requirement nào tham chiếu tới trích đoạn thì lấy đó làm chuẩn, không lấy trí nhớ của LLM.</a:t>
            </a:r>
            <a:endParaRPr lang="en-US" sz="2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2026-08-08T15:51:56Z</dcterms:created>
  <dcterms:modified xsi:type="dcterms:W3CDTF">2026-08-08T15:51:56Z</dcterms:modified>
</cp:coreProperties>
</file>